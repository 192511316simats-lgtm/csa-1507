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5267" y="700531"/>
            <a:ext cx="1724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SIMATS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ENGINEERING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9817" y="1115314"/>
            <a:ext cx="4027170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ASSESSMENT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TOOL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3: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Questions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96875" marR="5080" indent="-220345">
              <a:lnSpc>
                <a:spcPts val="1300"/>
              </a:lnSpc>
              <a:tabLst>
                <a:tab pos="2026285" algn="l"/>
                <a:tab pos="342201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CODE: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CSA1507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Analytics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6284" y="1516126"/>
            <a:ext cx="1209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NAME: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188" y="2216251"/>
            <a:ext cx="6383020" cy="37001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30"/>
              </a:spcBef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OUTCOME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COVERED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 marR="788035">
              <a:lnSpc>
                <a:spcPts val="1850"/>
              </a:lnSpc>
              <a:spcBef>
                <a:spcPts val="50"/>
              </a:spcBef>
            </a:pPr>
            <a:r>
              <a:rPr sz="1400" dirty="0">
                <a:latin typeface="Times New Roman" panose="02020503050405090304"/>
                <a:cs typeface="Times New Roman" panose="02020503050405090304"/>
              </a:rPr>
              <a:t>CO2: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Analyze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4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architectures</a:t>
            </a:r>
            <a:r>
              <a:rPr sz="1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identify</a:t>
            </a:r>
            <a:r>
              <a:rPr sz="14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security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issues</a:t>
            </a:r>
            <a:r>
              <a:rPr sz="14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environments.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(BL3)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8415" marR="5080">
              <a:lnSpc>
                <a:spcPts val="1520"/>
              </a:lnSpc>
              <a:tabLst>
                <a:tab pos="5249545" algn="l"/>
              </a:tabLst>
            </a:pP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Dave's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Taxonomy:</a:t>
            </a:r>
            <a:r>
              <a:rPr sz="1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Manipulation</a:t>
            </a:r>
            <a:r>
              <a:rPr sz="1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(Level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2)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Total</a:t>
            </a:r>
            <a:r>
              <a:rPr sz="14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Marks: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25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Question</a:t>
            </a:r>
            <a:r>
              <a:rPr sz="14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Count:</a:t>
            </a:r>
            <a:r>
              <a:rPr sz="140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50" dirty="0">
                <a:latin typeface="Times New Roman" panose="02020503050405090304"/>
                <a:cs typeface="Times New Roman" panose="02020503050405090304"/>
              </a:rPr>
              <a:t>5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Conduct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 marR="914400">
              <a:lnSpc>
                <a:spcPts val="1610"/>
              </a:lnSpc>
              <a:spcBef>
                <a:spcPts val="240"/>
              </a:spcBef>
            </a:pPr>
            <a:r>
              <a:rPr sz="14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altLang="en-US" sz="1400" spc="-35" dirty="0">
                <a:latin typeface="Times New Roman" panose="02020503050405090304"/>
                <a:cs typeface="Times New Roman" panose="02020503050405090304"/>
              </a:rPr>
              <a:t>K.DIVYA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(1925</a:t>
            </a:r>
            <a:r>
              <a:rPr lang="en-US" altLang="en-US" sz="1400" dirty="0">
                <a:latin typeface="Times New Roman" panose="02020503050405090304"/>
                <a:cs typeface="Times New Roman" panose="02020503050405090304"/>
              </a:rPr>
              <a:t>11316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)</a:t>
            </a:r>
            <a:r>
              <a:rPr sz="14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(Name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4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Reg</a:t>
            </a:r>
            <a:r>
              <a:rPr sz="14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No)</a:t>
            </a:r>
            <a:r>
              <a:rPr sz="14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certify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4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submission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is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my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original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work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4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have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adhered</a:t>
            </a:r>
            <a:r>
              <a:rPr sz="14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4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guidelines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specified</a:t>
            </a:r>
            <a:r>
              <a:rPr sz="14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this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assessment.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3970" marR="446405">
              <a:lnSpc>
                <a:spcPts val="1800"/>
              </a:lnSpc>
              <a:spcBef>
                <a:spcPts val="50"/>
              </a:spcBef>
            </a:pPr>
            <a:r>
              <a:rPr sz="14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understand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violation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academic</a:t>
            </a:r>
            <a:r>
              <a:rPr sz="14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integrity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rules</a:t>
            </a:r>
            <a:r>
              <a:rPr sz="14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will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result</a:t>
            </a:r>
            <a:r>
              <a:rPr sz="14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spc="-10" dirty="0">
                <a:latin typeface="Times New Roman" panose="02020503050405090304"/>
                <a:cs typeface="Times New Roman" panose="02020503050405090304"/>
              </a:rPr>
              <a:t>disciplinary action.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3970">
              <a:lnSpc>
                <a:spcPct val="100000"/>
              </a:lnSpc>
            </a:pPr>
            <a:r>
              <a:rPr sz="1400" dirty="0">
                <a:latin typeface="Times New Roman" panose="02020503050405090304"/>
                <a:cs typeface="Times New Roman" panose="02020503050405090304"/>
              </a:rPr>
              <a:t>Signature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4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dirty="0">
                <a:latin typeface="Times New Roman" panose="02020503050405090304"/>
                <a:cs typeface="Times New Roman" panose="02020503050405090304"/>
              </a:rPr>
              <a:t>student:</a:t>
            </a:r>
            <a:r>
              <a:rPr sz="14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altLang="" sz="1400" spc="-20" dirty="0">
                <a:latin typeface="Times New Roman" panose="02020503050405090304"/>
                <a:cs typeface="Times New Roman" panose="02020503050405090304"/>
              </a:rPr>
              <a:t>K.DIVYA</a:t>
            </a:r>
            <a:endParaRPr lang="en-US" altLang="" sz="1400" spc="-20" dirty="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000" y="209867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5000" y="3922014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60908"/>
            <a:ext cx="6428105" cy="831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Questions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 marR="66675">
              <a:lnSpc>
                <a:spcPts val="1610"/>
              </a:lnSpc>
              <a:spcBef>
                <a:spcPts val="5"/>
              </a:spcBef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1.A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company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experiences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unpredictable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spikes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seasonal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sales.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Explain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auto-scaling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handle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demand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efficiently.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How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does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approach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reduce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downtime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improve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experience?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What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role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do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4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play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setup?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Relate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your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answer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real-world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e-commerce scenario.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Introduction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0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commerce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companies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face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unpredictable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often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extreme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surges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seasonal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sales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events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Black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Friday,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Diwali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sales,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Amazon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Prime Day.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 jump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 baseline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few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thousand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concurrent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several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million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minutes.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Traditional,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statically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provisioned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cannot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economically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technically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variability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either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over-provisioned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(wasting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normal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periods)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under-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provisioned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(causing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crashes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peak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demand).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 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solves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problem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making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capacity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elastic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demand-responsive.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b="1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Works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0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Auto-scaling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feature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adjusts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number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compute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resources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(virtual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machines,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containers,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instances)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allocated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time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demand.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47320" indent="-228600">
              <a:lnSpc>
                <a:spcPct val="110000"/>
              </a:lnSpc>
              <a:spcBef>
                <a:spcPts val="8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Metric-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triggers: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groups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metrics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utilization,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memory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usage,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throughput,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queue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length.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threshold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&gt;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70%)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crossed,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 launched.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11760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policies: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Companies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target-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tracking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(maintain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metric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target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value),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step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(add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increments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increases),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scheduled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(pre-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emptively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capacity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known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launch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time).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111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Predictive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Machine-learning-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forecasting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Predictive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analyzes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historical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patterns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previous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provision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capacity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advance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anticipated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spike,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rather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reacting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after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spike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already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begun.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8478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Scale-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low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demand: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subsides,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terminates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excess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instances,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company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actually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uses.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Role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Balancing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6985" algn="just">
              <a:lnSpc>
                <a:spcPct val="111000"/>
              </a:lnSpc>
              <a:spcBef>
                <a:spcPts val="38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sits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front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pool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scaled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distributes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incoming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client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requests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them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algorithms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round-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robin,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least-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connections,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weighted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response-time.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11455" indent="-228600">
              <a:lnSpc>
                <a:spcPct val="110000"/>
              </a:lnSpc>
              <a:spcBef>
                <a:spcPts val="8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distribution: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becomes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bottleneck,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prevents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localized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overload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overall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heavy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load.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43889"/>
            <a:ext cx="6430010" cy="849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1595" indent="-228600">
              <a:lnSpc>
                <a:spcPct val="110000"/>
              </a:lnSpc>
              <a:spcBef>
                <a:spcPts val="1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Health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checks: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backend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instances;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unhealthy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unresponsive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removed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rotation,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never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20980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Seamless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integration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removes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load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table,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invisible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user.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28270" indent="-228600">
              <a:lnSpc>
                <a:spcPct val="110000"/>
              </a:lnSpc>
              <a:spcBef>
                <a:spcPts val="4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SSL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termination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shaping: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also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encryption/decryption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prioritize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checkout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requests)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less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(e.g., browsing).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Downtime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Improves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Experience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21945" indent="-228600">
              <a:lnSpc>
                <a:spcPct val="110000"/>
              </a:lnSpc>
              <a:spcBef>
                <a:spcPts val="39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Prevents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crashes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'503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Unavailable'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flash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expanding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capacity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ahead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response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demand.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8735" indent="-228600">
              <a:lnSpc>
                <a:spcPct val="110000"/>
              </a:lnSpc>
              <a:spcBef>
                <a:spcPts val="51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Maintains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page-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checkout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response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affects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conversion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—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second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delay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measurably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sales.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48590" indent="-228600">
              <a:lnSpc>
                <a:spcPct val="111000"/>
              </a:lnSpc>
              <a:spcBef>
                <a:spcPts val="49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Provides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fault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tolerance: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rerouted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04800" indent="-228600">
              <a:lnSpc>
                <a:spcPct val="111000"/>
              </a:lnSpc>
              <a:spcBef>
                <a:spcPts val="48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Improves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trust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reputation,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experience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smooth,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reliable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shopping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journey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high-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events.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Role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Tools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8890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'nervous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system'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makes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intelligent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responsive.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72390" indent="-228600">
              <a:lnSpc>
                <a:spcPct val="110000"/>
              </a:lnSpc>
              <a:spcBef>
                <a:spcPts val="8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metrics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collection: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like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CloudWatch,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Google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 Operations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Suite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memory,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counts.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2763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Triggering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automation: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metrics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without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basis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scale.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98450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Alerting: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receive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alerts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anomalies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sudden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drop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might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indicate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outage,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unexpected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spike),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rapid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human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intervention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when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needed.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841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Dashboards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post-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event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analysis: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After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engineering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analyze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data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identify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bottlenecks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tune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thresholds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future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events.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World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Commerce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Example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Flipkart's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'Big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Billion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Days'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Amazon's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'Great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Indian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Festival'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sale,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product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checkout pages can increase by 10–20 times the normal load within minutes of the sale opening.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groups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hundreds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additional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advance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(using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scheduled/predictive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years'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data),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millions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of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concurrent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200" spc="3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sessions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these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3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multiple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3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centers/availability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zones. CloudWatch-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style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tracks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checkout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time;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payment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rising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additional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specific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microservice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automatically.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This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43889"/>
            <a:ext cx="6428105" cy="775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" algn="just">
              <a:lnSpc>
                <a:spcPct val="110000"/>
              </a:lnSpc>
              <a:spcBef>
                <a:spcPts val="10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architecture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what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 such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platforms to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millions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 orders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 hour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major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outages,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translating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completed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satisfaction.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0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together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elastic,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self-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healing,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cost-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efficient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infrastructure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matches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capacity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demand.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visibility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triggers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that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make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automation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possible.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e-commerce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companies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facing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seasonal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spikes,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combination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essential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avoid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downtime,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revenue,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deliver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consistently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fast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reliable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customer experience.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60960" indent="-3175" algn="just">
              <a:lnSpc>
                <a:spcPts val="1610"/>
              </a:lnSpc>
              <a:buSzPct val="93000"/>
              <a:buAutoNum type="arabicPeriod" startAt="2"/>
              <a:tabLst>
                <a:tab pos="146050" algn="l"/>
              </a:tabLst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organization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wants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store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large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volumes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securely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cloud.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Discuss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solutions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durability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redundancy.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 marR="206375" algn="just">
              <a:lnSpc>
                <a:spcPts val="1610"/>
              </a:lnSpc>
              <a:spcBef>
                <a:spcPts val="10"/>
              </a:spcBef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400" b="1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protect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data?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advantages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compared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traditional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systems.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Provide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example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case.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Introduction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6350" algn="just">
              <a:lnSpc>
                <a:spcPct val="110000"/>
              </a:lnSpc>
              <a:spcBef>
                <a:spcPts val="390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Organizations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generate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ever-growing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volumes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backed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reliably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securely.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combination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durability,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redundancy,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cost-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efficiency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difficult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traditional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Durability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Redundancy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03530" lvl="1" indent="-228600">
              <a:lnSpc>
                <a:spcPct val="110000"/>
              </a:lnSpc>
              <a:spcBef>
                <a:spcPts val="3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devices: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multiple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copies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of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every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physical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devices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against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individual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failure.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8415" lvl="1" indent="-228600">
              <a:lnSpc>
                <a:spcPct val="110000"/>
              </a:lnSpc>
              <a:spcBef>
                <a:spcPts val="4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zone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replication: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geographically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separate availability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zones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entire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fire,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flood,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power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location</a:t>
            </a:r>
            <a:r>
              <a:rPr sz="1200" spc="5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result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loss.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86055" lvl="1" indent="-228600" algn="just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Erasure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coding: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erasure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coding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(splitting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fragments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parity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information)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instead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full-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achieving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durability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(often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quoted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as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99.999999999%,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'11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nines')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lower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overhead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61950" lvl="1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Versioning: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historical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copies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accidental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deletion,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corruption,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ransomware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overwriting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latest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version.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6035" lvl="1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integrity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checks: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checksums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repair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processes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detect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correct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silent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('bit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rot')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administrator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intervention.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93597"/>
            <a:ext cx="6361430" cy="44246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Control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97155" indent="-228600">
              <a:lnSpc>
                <a:spcPct val="110000"/>
              </a:lnSpc>
              <a:spcBef>
                <a:spcPts val="4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rest: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strong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algorithms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AES-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256)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while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physical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media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stolen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improperly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decommissioned,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data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remains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unreadable.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7785" indent="-228600">
              <a:lnSpc>
                <a:spcPct val="111000"/>
              </a:lnSpc>
              <a:spcBef>
                <a:spcPts val="49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transit: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moving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organization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data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centers)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TLS,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preventing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interception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upload/download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0731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Key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management: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like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Vault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organizations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rotate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their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own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extra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(customer-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keys)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beyond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provider-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encryption.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(IAM):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grained,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role-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only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authorized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write,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following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principle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of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privilege.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09855" indent="-228600">
              <a:lnSpc>
                <a:spcPct val="110000"/>
              </a:lnSpc>
              <a:spcBef>
                <a:spcPts val="4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factor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authentication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logging: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MFA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risk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compromised credentials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trail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compliance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forensic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investigation.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24790" indent="-228600" algn="just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Immutable/WORM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storage: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Write-once-read-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 S3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Lock)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altered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retention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period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protection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ransomware.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Advantages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Traditional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Storage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5800" y="5084699"/>
          <a:ext cx="6021070" cy="2139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8660"/>
                <a:gridCol w="1979930"/>
                <a:gridCol w="1979929"/>
              </a:tblGrid>
              <a:tr h="358140">
                <a:tc>
                  <a:txBody>
                    <a:bodyPr/>
                    <a:lstStyle/>
                    <a:p>
                      <a:pPr marL="5715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Factor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342900">
                        <a:lnSpc>
                          <a:spcPts val="138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Traditional</a:t>
                      </a:r>
                      <a:r>
                        <a:rPr sz="1200" b="1" spc="-65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On-Premises Storage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39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Cloud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Storage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Upfront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cost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24193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High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capital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expenditure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for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hardware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36195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Pay-as-you-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go,</a:t>
                      </a:r>
                      <a:r>
                        <a:rPr sz="1200" spc="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no</a:t>
                      </a:r>
                      <a:r>
                        <a:rPr sz="1200" spc="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upfront investment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Maintenance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27305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Requires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dedicated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IT</a:t>
                      </a:r>
                      <a:r>
                        <a:rPr sz="1200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staff,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cooling,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physical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security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Fully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managed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by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the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provider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Scalability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5748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Limited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by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physical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capacity; over-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provisioning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common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6319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Virtually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unlimited,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scales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on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demand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Storage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tiers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8572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Single-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tier,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one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cost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regardless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of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access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frequency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23177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Hot/cool/archive</a:t>
                      </a:r>
                      <a:r>
                        <a:rPr sz="1200" spc="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tiers</a:t>
                      </a:r>
                      <a:r>
                        <a:rPr sz="1200" spc="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match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cost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to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access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pattern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Disaster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resilience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6159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Single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location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unless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a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second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site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is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separately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built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69215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Built-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in</a:t>
                      </a:r>
                      <a:r>
                        <a:rPr sz="1200" spc="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multi-region redundancy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7593330"/>
            <a:ext cx="6428740" cy="16408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removes</a:t>
            </a:r>
            <a:r>
              <a:rPr sz="1200" spc="25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refresh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cycles</a:t>
            </a:r>
            <a:r>
              <a:rPr sz="12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(typically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needed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every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3–5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years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on-premises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systems),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staffing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organizations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volume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they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actually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archiving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rarely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accessed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low-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cold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instead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paying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premium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Case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7620" algn="just">
              <a:lnSpc>
                <a:spcPct val="111000"/>
              </a:lnSpc>
              <a:spcBef>
                <a:spcPts val="38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nightly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geographically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distant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regions.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with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43889"/>
            <a:ext cx="6428105" cy="855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customer-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protected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object-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immutability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guard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ransomware.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When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bank's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disabled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flood,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initiate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most recent backup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secondary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region.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Because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 already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replicated 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durable,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restores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core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operations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few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hours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rather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days,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minimizing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regulatory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exposure,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reputational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damage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outcome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would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costlier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slower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achieve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6985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provides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durability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erasure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coding,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sensitive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layered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control,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offers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substantial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savings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through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elastic,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tiered,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pay-as-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you-go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pricing. These combined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benefits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make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 a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superior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choice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for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large-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compared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traditional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8255" algn="just">
              <a:lnSpc>
                <a:spcPts val="1610"/>
              </a:lnSpc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3.A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mobile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app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company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plans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400" b="1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4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globally.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content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delivery</a:t>
            </a:r>
            <a:r>
              <a:rPr sz="1400" b="1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networks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(CDNs)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improve</a:t>
            </a:r>
            <a:r>
              <a:rPr sz="1400" b="1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reduce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latency.</a:t>
            </a:r>
            <a:r>
              <a:rPr sz="1400" b="1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do</a:t>
            </a:r>
            <a:r>
              <a:rPr sz="1400" b="1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edge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enhance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experience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regions?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Discuss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support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availability.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Relate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4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gaming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application.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Introduction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6350" algn="just">
              <a:lnSpc>
                <a:spcPct val="110000"/>
              </a:lnSpc>
              <a:spcBef>
                <a:spcPts val="40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mobile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globally,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continents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will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experience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vastly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different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travel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centrally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server.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Delivery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(CDNs)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solve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bringing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 computation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physically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closer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essential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latency-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gaming.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CDNs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Improve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Reduce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Latency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78130" indent="-228600" algn="just">
              <a:lnSpc>
                <a:spcPct val="110000"/>
              </a:lnSpc>
              <a:spcBef>
                <a:spcPts val="41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caching: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(cache)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copies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assets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images,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updates,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responses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called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Points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Presence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(PoPs),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globe.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17805" indent="-228600" algn="just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Reduced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round-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trip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time: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Instead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traveling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(which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thousands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kilometers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away),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PoP,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dramatically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cutting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latency.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67665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Reduced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Because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drops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significantly,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improving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reliability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costs.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38760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surge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absorption: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absorb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sudden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spikes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one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region)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overwhelming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infrastructure.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08280" indent="-228600">
              <a:lnSpc>
                <a:spcPct val="111000"/>
              </a:lnSpc>
              <a:spcBef>
                <a:spcPts val="49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DDoS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mitigation: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nature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provides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against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denial-of-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attacks,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malicious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spread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nodes.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3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Role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Servers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14325" indent="-228600">
              <a:lnSpc>
                <a:spcPct val="110000"/>
              </a:lnSpc>
              <a:spcBef>
                <a:spcPts val="4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Physical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proximity: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end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minimizing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physical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distance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travel.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43889"/>
            <a:ext cx="6426200" cy="823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7620" indent="-228600">
              <a:lnSpc>
                <a:spcPct val="110000"/>
              </a:lnSpc>
              <a:spcBef>
                <a:spcPts val="1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computing: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Beyond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caching,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modern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execute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lightweight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—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authentication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personalization,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resizing,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A/B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testing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trip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origin.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75895" indent="-228600">
              <a:lnSpc>
                <a:spcPct val="111000"/>
              </a:lnSpc>
              <a:spcBef>
                <a:spcPts val="49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SSL/TLS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termination: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encryption/decryption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secure connections.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29870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failover: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experiences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issues,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redirected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next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nearest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maintaining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uptime.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Support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Availability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7150" indent="-228600">
              <a:lnSpc>
                <a:spcPct val="110000"/>
              </a:lnSpc>
              <a:spcBef>
                <a:spcPts val="39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Major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CloudFront,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Microsoft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Door,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Google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hundreds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PoPs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continents.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95250" indent="-228600">
              <a:lnSpc>
                <a:spcPct val="110000"/>
              </a:lnSpc>
              <a:spcBef>
                <a:spcPts val="51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They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backend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(databases,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servers),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redirected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another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functioning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41630" indent="-228600">
              <a:lnSpc>
                <a:spcPct val="111000"/>
              </a:lnSpc>
              <a:spcBef>
                <a:spcPts val="49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geo-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routing)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nearest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deployment.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72745" indent="-228600">
              <a:lnSpc>
                <a:spcPct val="111000"/>
              </a:lnSpc>
              <a:spcBef>
                <a:spcPts val="48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Integrated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visibility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performance,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companies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resolve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slowdowns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quickly.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Gaming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amounts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(measured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milliseconds)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noticeable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unlike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webpage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small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delay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critical.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7940" indent="-228600">
              <a:lnSpc>
                <a:spcPct val="110000"/>
              </a:lnSpc>
              <a:spcBef>
                <a:spcPts val="8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Live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Twitch,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Hotstar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cricket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match):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segments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delivered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nearest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millions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concurrent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viewers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worldwide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watch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buffering,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dynamically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adjust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bitrate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delivery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user's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conditions.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1747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multiplayer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gaming: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Game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synchronization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players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extremely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latency;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game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players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matched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connected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fair,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synchronized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gameplay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48895" indent="-228600">
              <a:lnSpc>
                <a:spcPct val="111000"/>
              </a:lnSpc>
              <a:spcBef>
                <a:spcPts val="49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app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updates: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CDN-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binaries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patches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worldwide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download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quickly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nearby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instead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distant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40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CDNs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essential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architectural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components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application.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By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caching content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close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 and enabling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computation at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edge, they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drastically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 latency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improve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reliability,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providers'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ensures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consistent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across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capabilities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especially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latency-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like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live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gaming.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60908"/>
            <a:ext cx="6430010" cy="826706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6000"/>
              </a:lnSpc>
              <a:spcBef>
                <a:spcPts val="170"/>
              </a:spcBef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4.A</a:t>
            </a:r>
            <a:r>
              <a:rPr sz="14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4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institution</a:t>
            </a:r>
            <a:r>
              <a:rPr sz="14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requires</a:t>
            </a:r>
            <a:r>
              <a:rPr sz="14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400" b="1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compliance and</a:t>
            </a:r>
            <a:r>
              <a:rPr sz="14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400" b="1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400" b="1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b="1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b="1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usage.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support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4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auditing.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What</a:t>
            </a:r>
            <a:r>
              <a:rPr sz="14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latin typeface="Times New Roman" panose="02020503050405090304"/>
                <a:cs typeface="Times New Roman" panose="02020503050405090304"/>
              </a:rPr>
              <a:t>role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do</a:t>
            </a:r>
            <a:r>
              <a:rPr sz="1400" b="1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logging,</a:t>
            </a:r>
            <a:r>
              <a:rPr sz="1400" b="1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monitoring,</a:t>
            </a:r>
            <a:r>
              <a:rPr sz="1400" b="1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400" b="1" spc="3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400" b="1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play</a:t>
            </a:r>
            <a:r>
              <a:rPr sz="1400" b="1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b="1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security?</a:t>
            </a:r>
            <a:r>
              <a:rPr sz="1400" b="1" spc="2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2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400" b="1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400" b="1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company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400" b="1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400" b="1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sovereignty</a:t>
            </a:r>
            <a:r>
              <a:rPr sz="1400" b="1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requirements</a:t>
            </a:r>
            <a:r>
              <a:rPr sz="1400" b="1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400" b="1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met?</a:t>
            </a:r>
            <a:r>
              <a:rPr sz="1400" b="1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Give</a:t>
            </a:r>
            <a:r>
              <a:rPr sz="1400" b="1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400" b="1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example</a:t>
            </a:r>
            <a:r>
              <a:rPr sz="1400" b="1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involving</a:t>
            </a:r>
            <a:r>
              <a:rPr sz="1400" b="1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sensitive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4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transactions.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Introduction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8255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institutions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highly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account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details,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histories,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personal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identification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information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subject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frameworks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(such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RBI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guidelines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India,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PCI-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DSS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card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payments,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GDPR</a:t>
            </a:r>
            <a:r>
              <a:rPr sz="1200" spc="1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Europe,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SOX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United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States).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Adopting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robust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mechanisms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sovereignty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obligations.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Support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Auditing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75920" indent="-228600">
              <a:lnSpc>
                <a:spcPct val="110000"/>
              </a:lnSpc>
              <a:spcBef>
                <a:spcPts val="3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certifications: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Major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maintain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certifications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widely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recognized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standards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(ISO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27001,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SOC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1/2/3,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PCI-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DSS,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GDPR-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readiness),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financial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institutions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part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their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own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compliance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posture.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409575" indent="-228600">
              <a:lnSpc>
                <a:spcPct val="110000"/>
              </a:lnSpc>
              <a:spcBef>
                <a:spcPts val="4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documentation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tools: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Artifact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Compliance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organizations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reports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certification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documents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inspections.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873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Shared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responsibility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model: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underlying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infrastructure,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financial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institution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responsible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configurations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clear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division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supports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structured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management.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38430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auditing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tools: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like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Policy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whether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resources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defined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rules,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flagging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remediating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violations.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Role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Logging,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Monitoring,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Security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83540" indent="-228600">
              <a:lnSpc>
                <a:spcPct val="110000"/>
              </a:lnSpc>
              <a:spcBef>
                <a:spcPts val="41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Logging: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Every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call,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attempt,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administrative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logged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AWS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CloudTrail),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tamper-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evident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trail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review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verify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who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when.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78740" indent="-228600">
              <a:lnSpc>
                <a:spcPct val="111000"/>
              </a:lnSpc>
              <a:spcBef>
                <a:spcPts val="4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Monitoring: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detect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anomalies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unusual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locations,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repeated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authentication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attempts,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abnormal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transfer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volumes,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alerts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account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lockdowns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breach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escalate.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80010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transit: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strong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algorithms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transmitted,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intercepted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stolen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remains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unreadable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proper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decryption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keys.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44145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Tokenization: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fields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card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numbers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replaced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non-sensitive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tokens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processing,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exposure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systems.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43889"/>
            <a:ext cx="6426835" cy="6668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07645" indent="-228600">
              <a:lnSpc>
                <a:spcPct val="110000"/>
              </a:lnSpc>
              <a:spcBef>
                <a:spcPts val="1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Continuous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vulnerability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scanning: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scanning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identify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misconfigurations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unpatched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vulnerabilities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resources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exploited.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Sovereignty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30810" indent="-228600">
              <a:lnSpc>
                <a:spcPct val="110000"/>
              </a:lnSpc>
              <a:spcBef>
                <a:spcPts val="39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selection: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institutions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explicitly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choose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geographic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processed,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national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localization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laws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India's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requirement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certain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payment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country).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38430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residency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guarantees: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contractual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technical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guarantees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will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moved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outside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specified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jurisdiction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authorization.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8224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Sovereign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offerings: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Some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dedicated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'sovereign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cloud'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operated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legal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operational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specifically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sovereignty requirements.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78740" indent="-228600">
              <a:lnSpc>
                <a:spcPct val="111000"/>
              </a:lnSpc>
              <a:spcBef>
                <a:spcPts val="49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restriction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geography: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IAM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restrict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personnel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approved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jurisdictions.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Example:</a:t>
            </a:r>
            <a:r>
              <a:rPr sz="12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Transactions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Consider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processing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UPI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card-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transactions.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bank's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home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country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satisfy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localization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regulations.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encrypted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bank-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keys,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TLS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encrypts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transit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payment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gateway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backend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systems.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CloudTrail-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style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logging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records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every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transaction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records,</a:t>
            </a:r>
            <a:r>
              <a:rPr sz="1200" spc="2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supporting</a:t>
            </a:r>
            <a:r>
              <a:rPr sz="12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audits.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analyzes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patterns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detect potential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fraud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unusually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large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transfers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logins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unexpected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locations),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flagging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blocking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suspicious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activity.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audit,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uses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provider's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compliance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documentation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own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logs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demonstrate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controls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RBI/PCI-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DSS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guidelines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properly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implemented.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6350" algn="just">
              <a:lnSpc>
                <a:spcPct val="110000"/>
              </a:lnSpc>
              <a:spcBef>
                <a:spcPts val="39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strong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foundation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certifications,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documentation,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auditing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tools,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logging,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monitoring,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form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technical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backbone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security.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Careful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selection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controls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financial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institutions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sovereignty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requirements,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enabling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them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adopt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without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compromising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obligations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trust.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60908"/>
            <a:ext cx="6429375" cy="259397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just">
              <a:lnSpc>
                <a:spcPct val="96000"/>
              </a:lnSpc>
              <a:spcBef>
                <a:spcPts val="175"/>
              </a:spcBef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5.A</a:t>
            </a:r>
            <a:r>
              <a:rPr sz="1400" b="1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development</a:t>
            </a:r>
            <a:r>
              <a:rPr sz="1400" b="1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team</a:t>
            </a:r>
            <a:r>
              <a:rPr sz="1400" b="1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wants</a:t>
            </a:r>
            <a:r>
              <a:rPr sz="1400" b="1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400" b="1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adopt</a:t>
            </a:r>
            <a:r>
              <a:rPr sz="1400" b="1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containerization</a:t>
            </a:r>
            <a:r>
              <a:rPr sz="1400" b="1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400" b="1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400" b="1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deployment.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400" b="1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differ</a:t>
            </a:r>
            <a:r>
              <a:rPr sz="1400" b="1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400" b="1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400" b="1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machines</a:t>
            </a:r>
            <a:r>
              <a:rPr sz="1400" b="1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400" b="1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terms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b="1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400" b="1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resource</a:t>
            </a:r>
            <a:r>
              <a:rPr sz="1400" b="1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usage.</a:t>
            </a:r>
            <a:r>
              <a:rPr sz="1400" b="1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400" b="1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does</a:t>
            </a:r>
            <a:r>
              <a:rPr sz="1400" b="1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400" b="1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(like</a:t>
            </a:r>
            <a:r>
              <a:rPr sz="1400" b="1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Kubernetes)</a:t>
            </a:r>
            <a:r>
              <a:rPr sz="1400" b="1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simplify</a:t>
            </a:r>
            <a:r>
              <a:rPr sz="1400" b="1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400" b="1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scaling?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Discuss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portability</a:t>
            </a:r>
            <a:r>
              <a:rPr sz="14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benefits</a:t>
            </a:r>
            <a:r>
              <a:rPr sz="14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4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environments.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ts val="1620"/>
              </a:lnSpc>
            </a:pPr>
            <a:r>
              <a:rPr sz="1400" b="1" dirty="0">
                <a:latin typeface="Times New Roman" panose="02020503050405090304"/>
                <a:cs typeface="Times New Roman" panose="02020503050405090304"/>
              </a:rPr>
              <a:t>Provide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example</a:t>
            </a:r>
            <a:r>
              <a:rPr sz="14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4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microservices-</a:t>
            </a:r>
            <a:r>
              <a:rPr sz="14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4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10" dirty="0">
                <a:latin typeface="Times New Roman" panose="02020503050405090304"/>
                <a:cs typeface="Times New Roman" panose="02020503050405090304"/>
              </a:rPr>
              <a:t>application.</a:t>
            </a:r>
            <a:endParaRPr sz="14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Introduction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8255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development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move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toward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microservices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architectures,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they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approach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that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lightweight,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portable,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easy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scale.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Containerization,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combined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platforms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like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Kubernetes,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has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become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standard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solution,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offering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significant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advantages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traditional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virtual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(VM)-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deployment.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vs.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Machines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5800" y="3322954"/>
          <a:ext cx="6021070" cy="2495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8660"/>
                <a:gridCol w="1979930"/>
                <a:gridCol w="1979929"/>
              </a:tblGrid>
              <a:tr h="180975">
                <a:tc>
                  <a:txBody>
                    <a:bodyPr/>
                    <a:lstStyle/>
                    <a:p>
                      <a:pPr marL="5715">
                        <a:lnSpc>
                          <a:spcPts val="133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Aspect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33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Virtual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Machines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33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Containers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Virtualization</a:t>
                      </a:r>
                      <a:r>
                        <a:rPr sz="1200" spc="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841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Hardware-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(each</a:t>
                      </a:r>
                      <a:r>
                        <a:rPr sz="12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VM</a:t>
                      </a:r>
                      <a:r>
                        <a:rPr sz="12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has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a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full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guest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OS)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2636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OS-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(containers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share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the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host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kernel)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Resource</a:t>
                      </a:r>
                      <a:r>
                        <a:rPr sz="1200" spc="-6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usage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1938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High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(each</a:t>
                      </a:r>
                      <a:r>
                        <a:rPr sz="12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VM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duplicates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OS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overhead)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9748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Low</a:t>
                      </a:r>
                      <a:r>
                        <a:rPr sz="1200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(shared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kernel,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minimal overhead)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5715">
                        <a:lnSpc>
                          <a:spcPts val="133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Startup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time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Minutes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33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Seconds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or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less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Density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per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host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6573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Lower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(fewer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VMs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fit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on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one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server)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0096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Higher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(many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more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containers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fit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on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one</a:t>
                      </a:r>
                      <a:r>
                        <a:rPr sz="12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server)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571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Isolation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81915">
                        <a:lnSpc>
                          <a:spcPts val="138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Strong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(separate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kernel/OS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per VM)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4318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Process-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isolation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(slightly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less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strict,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but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generally sufficient)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marL="571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Portability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454660">
                        <a:lnSpc>
                          <a:spcPts val="138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Less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portable;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tied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to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hypervisor/image</a:t>
                      </a:r>
                      <a:r>
                        <a:rPr sz="1200" spc="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format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28194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Highly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portable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across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any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environment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supporting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the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container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runtime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6189345"/>
            <a:ext cx="6428105" cy="2773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Because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package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dependencies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(not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system),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they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consume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less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CPU, memory,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 storage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VMs, 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 be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started,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stopped, or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replicated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almost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instantly.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makes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microservices,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where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small,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independent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frequently.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Simplifies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Scaling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6350" indent="-228600">
              <a:lnSpc>
                <a:spcPct val="110000"/>
              </a:lnSpc>
              <a:spcBef>
                <a:spcPts val="3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scheduling: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decides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physical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should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available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resources,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manual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intervention.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6192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scaling: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Horizontal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Autoscaler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increases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decreases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number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running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(pods)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memory,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metrics.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50190" indent="-228600">
              <a:lnSpc>
                <a:spcPct val="110000"/>
              </a:lnSpc>
              <a:spcBef>
                <a:spcPts val="5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Self-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healing: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crashes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fails,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Kubernetes automatically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restarts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reschedules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affected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minimizing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downtime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human intervention.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43889"/>
            <a:ext cx="6428105" cy="840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69570" indent="-228600">
              <a:lnSpc>
                <a:spcPct val="110000"/>
              </a:lnSpc>
              <a:spcBef>
                <a:spcPts val="100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discovery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internal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balancing: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Kubernetes automatically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assigns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stable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identities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load-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given microservice.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8735" indent="-228600">
              <a:lnSpc>
                <a:spcPct val="110000"/>
              </a:lnSpc>
              <a:spcBef>
                <a:spcPts val="49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Rolling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updates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rollbacks: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microservice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gradually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with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zero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downtime,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roll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previous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are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detected.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73355" indent="-228600">
              <a:lnSpc>
                <a:spcPct val="110000"/>
              </a:lnSpc>
              <a:spcBef>
                <a:spcPts val="505"/>
              </a:spcBef>
              <a:buFont typeface="Times New Roman" panose="02020503050405090304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Declarative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configuration: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define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desired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their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(number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of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resource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limits,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rules)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continuously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maintain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Portability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Benefits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Environments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69850" indent="-228600">
              <a:lnSpc>
                <a:spcPct val="110000"/>
              </a:lnSpc>
              <a:spcBef>
                <a:spcPts val="39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package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code,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runtime,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libraries,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together,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ensuring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identical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behavior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whether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developer's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laptop,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public cloud.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782320" indent="-228600">
              <a:lnSpc>
                <a:spcPct val="110000"/>
              </a:lnSpc>
              <a:spcBef>
                <a:spcPts val="50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eliminates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classic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'it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machine'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problem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caused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environment inconsistencies.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22580" indent="-228600">
              <a:lnSpc>
                <a:spcPct val="110000"/>
              </a:lnSpc>
              <a:spcBef>
                <a:spcPts val="50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Because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supported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major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(Amazon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EKS,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Google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GKE,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AKS)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well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setups,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moved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between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changes,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avoiding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vendor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lock-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6515" indent="-228600">
              <a:lnSpc>
                <a:spcPct val="111000"/>
              </a:lnSpc>
              <a:spcBef>
                <a:spcPts val="49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adopt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hybrid-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strategy,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running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workloads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wherever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most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cost-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effective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compliant,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same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everywhere.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Example: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Microservices-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Application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715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Consider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commerce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decomposed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independent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microservices: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authentication,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product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catalog,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shopping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cart,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payment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processing,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management,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product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recommendations. Each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microservice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packaged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own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image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dependencies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needs.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Kubernetes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orchestrates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these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containers: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sale,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Horizontal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Pod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Autoscaler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increases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number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of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payment-service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cart-service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independently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less-loaded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recommendation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based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demand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each.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several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fails,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reschedules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those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onto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nodes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manual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intervention.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Development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can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update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recommendation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engine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rolling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affecting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redeploying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any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other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microservice,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entire</a:t>
            </a:r>
            <a:r>
              <a:rPr sz="1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migrated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another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minimal reconfiguration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because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built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portable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images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standard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manifests.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110000"/>
              </a:lnSpc>
              <a:spcBef>
                <a:spcPts val="39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major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resource-efficiency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advantages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machines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sharing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kernel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eliminating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redundant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overhead.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scheduling,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scaling,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healing,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updates,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drastically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simplifying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4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operational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burden</a:t>
            </a:r>
            <a:r>
              <a:rPr sz="1200" spc="4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4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running</a:t>
            </a:r>
            <a:r>
              <a:rPr sz="12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many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microservices.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Combined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strong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portability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environments,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containerization</a:t>
            </a:r>
            <a:r>
              <a:rPr sz="1200" spc="3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form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ideal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foundation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modern,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scalable,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native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microservices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architectures.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712" y="965961"/>
            <a:ext cx="2385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Questions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Rubric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0252" y="1179830"/>
          <a:ext cx="6631305" cy="409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835"/>
                <a:gridCol w="1079500"/>
                <a:gridCol w="1092835"/>
                <a:gridCol w="1078864"/>
                <a:gridCol w="1092835"/>
                <a:gridCol w="1104900"/>
              </a:tblGrid>
              <a:tr h="3683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spc="-10" dirty="0">
                          <a:latin typeface="Times New Roman" panose="02020503050405090304"/>
                          <a:cs typeface="Times New Roman" panose="02020503050405090304"/>
                        </a:rPr>
                        <a:t>Criteria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spc="-10" dirty="0">
                          <a:latin typeface="Times New Roman" panose="02020503050405090304"/>
                          <a:cs typeface="Times New Roman" panose="02020503050405090304"/>
                        </a:rPr>
                        <a:t>Weightage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0355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4</a:t>
                      </a:r>
                      <a:r>
                        <a:rPr sz="12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200" b="1" spc="-25" dirty="0">
                          <a:latin typeface="Times New Roman" panose="02020503050405090304"/>
                          <a:cs typeface="Times New Roman" panose="02020503050405090304"/>
                        </a:rPr>
                        <a:t>Exemplary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369570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3</a:t>
                      </a:r>
                      <a:r>
                        <a:rPr sz="12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200" b="1" spc="-25" dirty="0">
                          <a:latin typeface="Times New Roman" panose="02020503050405090304"/>
                          <a:cs typeface="Times New Roman" panose="02020503050405090304"/>
                        </a:rPr>
                        <a:t>Proficient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292735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2</a:t>
                      </a:r>
                      <a:r>
                        <a:rPr sz="12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200" b="1" spc="-20" dirty="0">
                          <a:latin typeface="Times New Roman" panose="02020503050405090304"/>
                          <a:cs typeface="Times New Roman" panose="02020503050405090304"/>
                        </a:rPr>
                        <a:t>Developing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376555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2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dirty="0">
                          <a:latin typeface="Times New Roman" panose="02020503050405090304"/>
                          <a:cs typeface="Times New Roman" panose="02020503050405090304"/>
                        </a:rPr>
                        <a:t>1</a:t>
                      </a:r>
                      <a:r>
                        <a:rPr sz="12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200" b="1" spc="-20" dirty="0">
                          <a:latin typeface="Times New Roman" panose="02020503050405090304"/>
                          <a:cs typeface="Times New Roman" panose="02020503050405090304"/>
                        </a:rPr>
                        <a:t>Beginning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</a:tr>
              <a:tr h="1052830">
                <a:tc>
                  <a:txBody>
                    <a:bodyPr/>
                    <a:lstStyle/>
                    <a:p>
                      <a:pPr marL="76200" marR="228600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Relevance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to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25%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48590">
                        <a:lnSpc>
                          <a:spcPct val="94000"/>
                        </a:lnSpc>
                        <a:spcBef>
                          <a:spcPts val="5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Response directly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addresses</a:t>
                      </a:r>
                      <a:r>
                        <a:rPr sz="1200" spc="-6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the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given</a:t>
                      </a:r>
                      <a:r>
                        <a:rPr sz="1200" spc="-6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use</a:t>
                      </a:r>
                      <a:r>
                        <a:rPr sz="1200" spc="-6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case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with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strong relevance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77520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Mostly relevant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response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505460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Partially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relevant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53390">
                        <a:lnSpc>
                          <a:spcPts val="1390"/>
                        </a:lnSpc>
                        <a:spcBef>
                          <a:spcPts val="25"/>
                        </a:spcBef>
                      </a:pP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Weak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relevance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9455">
                <a:tc>
                  <a:txBody>
                    <a:bodyPr/>
                    <a:lstStyle/>
                    <a:p>
                      <a:pPr marL="76200" marR="215265">
                        <a:lnSpc>
                          <a:spcPts val="138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Use</a:t>
                      </a:r>
                      <a:r>
                        <a:rPr sz="1200" spc="-7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of</a:t>
                      </a:r>
                      <a:r>
                        <a:rPr sz="1200" spc="-7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Cloud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Concepts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25%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28295">
                        <a:lnSpc>
                          <a:spcPct val="960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Applies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appropriate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concepts accurately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37820">
                        <a:lnSpc>
                          <a:spcPts val="1380"/>
                        </a:lnSpc>
                        <a:spcBef>
                          <a:spcPts val="10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Mostly accurate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46075">
                        <a:lnSpc>
                          <a:spcPts val="1380"/>
                        </a:lnSpc>
                        <a:spcBef>
                          <a:spcPts val="10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Basic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application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only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79070">
                        <a:lnSpc>
                          <a:spcPts val="1380"/>
                        </a:lnSpc>
                        <a:spcBef>
                          <a:spcPts val="10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Incorrect concept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usage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9930">
                <a:tc>
                  <a:txBody>
                    <a:bodyPr/>
                    <a:lstStyle/>
                    <a:p>
                      <a:pPr marL="76200" marR="48768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Practical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Insight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6129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Shows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strong 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real-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world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understanding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Shows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69850" marR="153670">
                        <a:lnSpc>
                          <a:spcPct val="95000"/>
                        </a:lnSpc>
                        <a:spcBef>
                          <a:spcPts val="1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reasonable practical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understanding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495935" algn="just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Limited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practical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insight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8956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No</a:t>
                      </a:r>
                      <a:r>
                        <a:rPr sz="1200" spc="-6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practical insight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3580">
                <a:tc>
                  <a:txBody>
                    <a:bodyPr/>
                    <a:lstStyle/>
                    <a:p>
                      <a:pPr marL="7620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Completeness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15%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419735">
                        <a:lnSpc>
                          <a:spcPct val="93000"/>
                        </a:lnSpc>
                        <a:spcBef>
                          <a:spcPts val="8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Response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covers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all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required aspects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44475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Covers</a:t>
                      </a:r>
                      <a:r>
                        <a:rPr sz="1200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most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aspects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22733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Covers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only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basic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aspects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5433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Incomplete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response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76200">
                        <a:lnSpc>
                          <a:spcPts val="1430"/>
                        </a:lnSpc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Clarity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15%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89535">
                        <a:lnSpc>
                          <a:spcPts val="1390"/>
                        </a:lnSpc>
                        <a:spcBef>
                          <a:spcPts val="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Clear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and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concise</a:t>
                      </a:r>
                      <a:r>
                        <a:rPr sz="12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answer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Generally</a:t>
                      </a:r>
                      <a:r>
                        <a:rPr sz="1200" spc="-6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clear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260350">
                        <a:lnSpc>
                          <a:spcPts val="1380"/>
                        </a:lnSpc>
                        <a:spcBef>
                          <a:spcPts val="10"/>
                        </a:spcBef>
                      </a:pP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Some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confusion</a:t>
                      </a:r>
                      <a:r>
                        <a:rPr sz="1200" spc="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in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expression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Poor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clarity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27167</Words>
  <Application>WPS Presentation</Application>
  <PresentationFormat>On-screen Show (4:3)</PresentationFormat>
  <Paragraphs>318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Un-named</dc:creator>
  <cp:lastModifiedBy>divya.k</cp:lastModifiedBy>
  <cp:revision>2</cp:revision>
  <dcterms:created xsi:type="dcterms:W3CDTF">2026-08-10T04:39:34Z</dcterms:created>
  <dcterms:modified xsi:type="dcterms:W3CDTF">2026-08-10T04:39:34Z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2026-08-05T11:00:00Z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2026-08-10T11:00:00Z</vt:filetime>
  </property>
  <property fmtid="{D5CDD505-2E9C-101B-9397-08002B2CF9AE}" pid="6" name="Producer">
    <vt:lpwstr>Microsoft® Word 2024</vt:lpwstr>
  </property>
  <property fmtid="{D5CDD505-2E9C-101B-9397-08002B2CF9AE}" pid="7" name="ICV">
    <vt:lpwstr>6665F70341E8AF987955796A06332592_43</vt:lpwstr>
  </property>
  <property fmtid="{D5CDD505-2E9C-101B-9397-08002B2CF9AE}" pid="8" name="KSOProductBuildVer">
    <vt:lpwstr>1033-12.1.26015.26015</vt:lpwstr>
  </property>
</Properties>
</file>