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77724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41802" y="1051305"/>
            <a:ext cx="22910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0" dirty="0">
                <a:latin typeface="Times New Roman" panose="02020503050405090304"/>
                <a:cs typeface="Times New Roman" panose="02020503050405090304"/>
              </a:rPr>
              <a:t>SIMATS</a:t>
            </a:r>
            <a:r>
              <a:rPr sz="1600" b="1" spc="-6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600" b="1" spc="-10" dirty="0">
                <a:latin typeface="Times New Roman" panose="02020503050405090304"/>
                <a:cs typeface="Times New Roman" panose="02020503050405090304"/>
              </a:rPr>
              <a:t>ENGINEERING</a:t>
            </a:r>
            <a:endParaRPr sz="16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89733" y="1743201"/>
            <a:ext cx="3178175" cy="802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7965">
              <a:lnSpc>
                <a:spcPct val="100000"/>
              </a:lnSpc>
              <a:spcBef>
                <a:spcPts val="95"/>
              </a:spcBef>
            </a:pPr>
            <a:r>
              <a:rPr sz="1300" b="1" spc="-10" dirty="0">
                <a:latin typeface="Times New Roman" panose="02020503050405090304"/>
                <a:cs typeface="Times New Roman" panose="02020503050405090304"/>
              </a:rPr>
              <a:t>ASSESSMENT</a:t>
            </a:r>
            <a:r>
              <a:rPr sz="1300" b="1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00" b="1" dirty="0">
                <a:latin typeface="Times New Roman" panose="02020503050405090304"/>
                <a:cs typeface="Times New Roman" panose="02020503050405090304"/>
              </a:rPr>
              <a:t>TOOL</a:t>
            </a:r>
            <a:r>
              <a:rPr sz="13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00" b="1" dirty="0">
                <a:latin typeface="Times New Roman" panose="02020503050405090304"/>
                <a:cs typeface="Times New Roman" panose="02020503050405090304"/>
              </a:rPr>
              <a:t>2</a:t>
            </a:r>
            <a:r>
              <a:rPr sz="13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00" b="1" dirty="0">
                <a:latin typeface="Times New Roman" panose="02020503050405090304"/>
                <a:cs typeface="Times New Roman" panose="02020503050405090304"/>
              </a:rPr>
              <a:t>:</a:t>
            </a:r>
            <a:r>
              <a:rPr sz="13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300" b="1" spc="-10" dirty="0">
                <a:latin typeface="Times New Roman" panose="02020503050405090304"/>
                <a:cs typeface="Times New Roman" panose="02020503050405090304"/>
              </a:rPr>
              <a:t>Scenario-</a:t>
            </a:r>
            <a:r>
              <a:rPr sz="1300" b="1" spc="-20" dirty="0">
                <a:latin typeface="Times New Roman" panose="02020503050405090304"/>
                <a:cs typeface="Times New Roman" panose="02020503050405090304"/>
              </a:rPr>
              <a:t>Based</a:t>
            </a:r>
            <a:endParaRPr sz="1300">
              <a:latin typeface="Times New Roman" panose="02020503050405090304"/>
              <a:cs typeface="Times New Roman" panose="02020503050405090304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3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ts val="1430"/>
              </a:lnSpc>
              <a:tabLst>
                <a:tab pos="1640205" algn="l"/>
              </a:tabLst>
            </a:pPr>
            <a:r>
              <a:rPr sz="1250" dirty="0">
                <a:latin typeface="Times New Roman" panose="02020503050405090304"/>
                <a:cs typeface="Times New Roman" panose="02020503050405090304"/>
              </a:rPr>
              <a:t>Cloud</a:t>
            </a:r>
            <a:r>
              <a:rPr sz="125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50" spc="-10" dirty="0">
                <a:latin typeface="Times New Roman" panose="02020503050405090304"/>
                <a:cs typeface="Times New Roman" panose="02020503050405090304"/>
              </a:rPr>
              <a:t>Computing</a:t>
            </a:r>
            <a:r>
              <a:rPr sz="125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50" spc="-25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50" dirty="0">
                <a:latin typeface="Times New Roman" panose="02020503050405090304"/>
                <a:cs typeface="Times New Roman" panose="02020503050405090304"/>
              </a:rPr>
              <a:t>	</a:t>
            </a:r>
            <a:r>
              <a:rPr sz="1250" b="1" spc="-10" dirty="0">
                <a:latin typeface="Times New Roman" panose="02020503050405090304"/>
                <a:cs typeface="Times New Roman" panose="02020503050405090304"/>
              </a:rPr>
              <a:t>COURSE</a:t>
            </a:r>
            <a:r>
              <a:rPr sz="125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50" b="1" spc="-20" dirty="0">
                <a:latin typeface="Times New Roman" panose="02020503050405090304"/>
                <a:cs typeface="Times New Roman" panose="02020503050405090304"/>
              </a:rPr>
              <a:t>CODE:</a:t>
            </a:r>
            <a:endParaRPr sz="125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ts val="1430"/>
              </a:lnSpc>
            </a:pPr>
            <a:r>
              <a:rPr sz="1250" dirty="0">
                <a:latin typeface="Times New Roman" panose="02020503050405090304"/>
                <a:cs typeface="Times New Roman" panose="02020503050405090304"/>
              </a:rPr>
              <a:t>Big</a:t>
            </a:r>
            <a:r>
              <a:rPr sz="125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50" dirty="0">
                <a:latin typeface="Times New Roman" panose="02020503050405090304"/>
                <a:cs typeface="Times New Roman" panose="02020503050405090304"/>
              </a:rPr>
              <a:t>Data</a:t>
            </a:r>
            <a:r>
              <a:rPr sz="125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50" spc="-10" dirty="0">
                <a:latin typeface="Times New Roman" panose="02020503050405090304"/>
                <a:cs typeface="Times New Roman" panose="02020503050405090304"/>
              </a:rPr>
              <a:t>Analytics</a:t>
            </a:r>
            <a:endParaRPr sz="125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0323" y="2157730"/>
            <a:ext cx="1255395" cy="215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b="1" spc="-10" dirty="0">
                <a:latin typeface="Times New Roman" panose="02020503050405090304"/>
                <a:cs typeface="Times New Roman" panose="02020503050405090304"/>
              </a:rPr>
              <a:t>COURSE</a:t>
            </a:r>
            <a:r>
              <a:rPr sz="125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50" b="1" spc="-10" dirty="0">
                <a:latin typeface="Times New Roman" panose="02020503050405090304"/>
                <a:cs typeface="Times New Roman" panose="02020503050405090304"/>
              </a:rPr>
              <a:t>NAME:</a:t>
            </a:r>
            <a:endParaRPr sz="125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45633" y="2157730"/>
            <a:ext cx="487680" cy="215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spc="-10" dirty="0">
                <a:latin typeface="Times New Roman" panose="02020503050405090304"/>
                <a:cs typeface="Times New Roman" panose="02020503050405090304"/>
              </a:rPr>
              <a:t>CSA15</a:t>
            </a:r>
            <a:endParaRPr sz="125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1283" y="3208146"/>
            <a:ext cx="6439535" cy="627380"/>
          </a:xfrm>
          <a:prstGeom prst="rect">
            <a:avLst/>
          </a:prstGeom>
        </p:spPr>
        <p:txBody>
          <a:bodyPr vert="horz" wrap="square" lIns="0" tIns="31114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245"/>
              </a:spcBef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COURSE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OUTCOME</a:t>
            </a:r>
            <a:r>
              <a:rPr sz="12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COVERED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" marR="5080">
              <a:lnSpc>
                <a:spcPct val="109000"/>
              </a:lnSpc>
              <a:spcBef>
                <a:spcPts val="10"/>
              </a:spcBef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CO2:</a:t>
            </a:r>
            <a:r>
              <a:rPr sz="1200" b="1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i="1" dirty="0">
                <a:latin typeface="Times New Roman" panose="02020503050405090304"/>
                <a:cs typeface="Times New Roman" panose="02020503050405090304"/>
              </a:rPr>
              <a:t>Analyze</a:t>
            </a:r>
            <a:r>
              <a:rPr sz="1200" i="1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i="1" dirty="0">
                <a:latin typeface="Times New Roman" panose="02020503050405090304"/>
                <a:cs typeface="Times New Roman" panose="02020503050405090304"/>
              </a:rPr>
              <a:t>virtualization</a:t>
            </a:r>
            <a:r>
              <a:rPr sz="1200" i="1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i="1" spc="-10" dirty="0">
                <a:latin typeface="Times New Roman" panose="02020503050405090304"/>
                <a:cs typeface="Times New Roman" panose="02020503050405090304"/>
              </a:rPr>
              <a:t>architectures</a:t>
            </a:r>
            <a:r>
              <a:rPr sz="1200" i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i="1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i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i="1" dirty="0">
                <a:latin typeface="Times New Roman" panose="02020503050405090304"/>
                <a:cs typeface="Times New Roman" panose="02020503050405090304"/>
              </a:rPr>
              <a:t>identify</a:t>
            </a:r>
            <a:r>
              <a:rPr sz="1200" i="1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i="1" spc="-10" dirty="0">
                <a:latin typeface="Times New Roman" panose="02020503050405090304"/>
                <a:cs typeface="Times New Roman" panose="02020503050405090304"/>
              </a:rPr>
              <a:t>performance</a:t>
            </a:r>
            <a:r>
              <a:rPr sz="1200" i="1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i="1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i="1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i="1" dirty="0">
                <a:latin typeface="Times New Roman" panose="02020503050405090304"/>
                <a:cs typeface="Times New Roman" panose="02020503050405090304"/>
              </a:rPr>
              <a:t>security</a:t>
            </a:r>
            <a:r>
              <a:rPr sz="1200" i="1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i="1" dirty="0">
                <a:latin typeface="Times New Roman" panose="02020503050405090304"/>
                <a:cs typeface="Times New Roman" panose="02020503050405090304"/>
              </a:rPr>
              <a:t>issues</a:t>
            </a:r>
            <a:r>
              <a:rPr sz="1200" i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i="1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200" i="1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i="1" dirty="0">
                <a:latin typeface="Times New Roman" panose="02020503050405090304"/>
                <a:cs typeface="Times New Roman" panose="02020503050405090304"/>
              </a:rPr>
              <a:t>cloud</a:t>
            </a:r>
            <a:r>
              <a:rPr sz="1200" i="1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i="1" spc="-10" dirty="0">
                <a:latin typeface="Times New Roman" panose="02020503050405090304"/>
                <a:cs typeface="Times New Roman" panose="02020503050405090304"/>
              </a:rPr>
              <a:t>computing </a:t>
            </a:r>
            <a:r>
              <a:rPr sz="1200" i="1" dirty="0">
                <a:latin typeface="Times New Roman" panose="02020503050405090304"/>
                <a:cs typeface="Times New Roman" panose="02020503050405090304"/>
              </a:rPr>
              <a:t>environments.</a:t>
            </a:r>
            <a:r>
              <a:rPr sz="1200" i="1" spc="-7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(BL3)</a:t>
            </a:r>
            <a:endParaRPr sz="12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0323" y="4105783"/>
            <a:ext cx="2619375" cy="37338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>
              <a:lnSpc>
                <a:spcPts val="1300"/>
              </a:lnSpc>
              <a:spcBef>
                <a:spcPts val="260"/>
              </a:spcBef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Dave's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Taxonomy: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Manipulation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(Level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2)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Question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Count: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5</a:t>
            </a:r>
            <a:endParaRPr sz="12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78829" y="4105783"/>
            <a:ext cx="10604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Total</a:t>
            </a:r>
            <a:r>
              <a:rPr sz="1200" b="1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Marks:</a:t>
            </a:r>
            <a:r>
              <a:rPr sz="12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25</a:t>
            </a:r>
            <a:endParaRPr sz="120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1283" y="5116448"/>
            <a:ext cx="6045200" cy="125603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230"/>
              </a:spcBef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Code</a:t>
            </a:r>
            <a:r>
              <a:rPr sz="1200" b="1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 Conduct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" marR="5080">
              <a:lnSpc>
                <a:spcPts val="1380"/>
              </a:lnSpc>
              <a:spcBef>
                <a:spcPts val="230"/>
              </a:spcBef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I</a:t>
            </a:r>
            <a:r>
              <a:rPr sz="1200" spc="26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lang="en-US" altLang="" sz="1200" spc="260" dirty="0">
                <a:latin typeface="Times New Roman" panose="02020503050405090304"/>
                <a:cs typeface="Times New Roman" panose="02020503050405090304"/>
              </a:rPr>
              <a:t>K.DIVYA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(1925</a:t>
            </a:r>
            <a:r>
              <a:rPr lang="en-US" altLang="" sz="1200" spc="-10" dirty="0">
                <a:latin typeface="Times New Roman" panose="02020503050405090304"/>
                <a:cs typeface="Times New Roman" panose="02020503050405090304"/>
              </a:rPr>
              <a:t>11316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)(Name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/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Reg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No)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certify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that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this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submission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my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original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work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and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that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have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adhered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guidelines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specified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for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this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assessment.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3970">
              <a:lnSpc>
                <a:spcPct val="100000"/>
              </a:lnSpc>
              <a:spcBef>
                <a:spcPts val="105"/>
              </a:spcBef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I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understand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that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any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violation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academic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integrity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rules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will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result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disciplinary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action.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>
              <a:lnSpc>
                <a:spcPct val="100000"/>
              </a:lnSpc>
              <a:spcBef>
                <a:spcPts val="720"/>
              </a:spcBef>
            </a:pP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3970">
              <a:lnSpc>
                <a:spcPct val="100000"/>
              </a:lnSpc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Signature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student: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lang="en-US" altLang="" sz="1200" spc="-30" dirty="0">
                <a:latin typeface="Times New Roman" panose="02020503050405090304"/>
                <a:cs typeface="Times New Roman" panose="02020503050405090304"/>
              </a:rPr>
              <a:t>K.DIVYA</a:t>
            </a:r>
            <a:endParaRPr lang="en-US" altLang="" sz="1200" spc="-30" dirty="0">
              <a:latin typeface="Times New Roman" panose="02020503050405090304"/>
              <a:cs typeface="Times New Roman" panose="020205030504050903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35000" y="3088513"/>
            <a:ext cx="6502400" cy="0"/>
          </a:xfrm>
          <a:custGeom>
            <a:avLst/>
            <a:gdLst/>
            <a:ahLst/>
            <a:cxnLst/>
            <a:rect l="l" t="t" r="r" b="b"/>
            <a:pathLst>
              <a:path w="6502400">
                <a:moveTo>
                  <a:pt x="0" y="0"/>
                </a:moveTo>
                <a:lnTo>
                  <a:pt x="6502400" y="0"/>
                </a:lnTo>
              </a:path>
            </a:pathLst>
          </a:custGeom>
          <a:ln w="12700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35000" y="5018659"/>
            <a:ext cx="6502400" cy="0"/>
          </a:xfrm>
          <a:custGeom>
            <a:avLst/>
            <a:gdLst/>
            <a:ahLst/>
            <a:cxnLst/>
            <a:rect l="l" t="t" r="r" b="b"/>
            <a:pathLst>
              <a:path w="6502400">
                <a:moveTo>
                  <a:pt x="0" y="0"/>
                </a:moveTo>
                <a:lnTo>
                  <a:pt x="6502400" y="0"/>
                </a:lnTo>
              </a:path>
            </a:pathLst>
          </a:custGeom>
          <a:ln w="12700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455167"/>
            <a:ext cx="6576695" cy="9317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0" marR="4697095">
              <a:lnSpc>
                <a:spcPct val="109000"/>
              </a:lnSpc>
              <a:spcBef>
                <a:spcPts val="100"/>
              </a:spcBef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Assessment</a:t>
            </a:r>
            <a:r>
              <a:rPr sz="1200" b="1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20" dirty="0">
                <a:latin typeface="Times New Roman" panose="02020503050405090304"/>
                <a:cs typeface="Times New Roman" panose="02020503050405090304"/>
              </a:rPr>
              <a:t>Tasks 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Scenario-Based</a:t>
            </a:r>
            <a:r>
              <a:rPr sz="1200" b="1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Questions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>
              <a:lnSpc>
                <a:spcPct val="100000"/>
              </a:lnSpc>
              <a:spcBef>
                <a:spcPts val="205"/>
              </a:spcBef>
            </a:pP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19735" marR="1417320" indent="-229235" algn="just">
              <a:lnSpc>
                <a:spcPct val="110000"/>
              </a:lnSpc>
              <a:buAutoNum type="arabicPeriod"/>
              <a:tabLst>
                <a:tab pos="419100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media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company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wants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migrate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its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video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streaming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platform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cloud.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system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must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handle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millions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concurrent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users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with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minimal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buffering.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Design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cloud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architecture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using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scalability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caching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techniques.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19735" marR="1550035" algn="just">
              <a:lnSpc>
                <a:spcPct val="110000"/>
              </a:lnSpc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Explain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how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load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balancing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auto-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scaling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can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ensure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smooth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streaming.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Discuss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cost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optimization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strategies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for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such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high-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demand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workloads.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" marR="2532380" indent="38100" algn="just">
              <a:lnSpc>
                <a:spcPct val="138000"/>
              </a:lnSpc>
              <a:spcBef>
                <a:spcPts val="215"/>
              </a:spcBef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Video</a:t>
            </a:r>
            <a:r>
              <a:rPr sz="1200" b="1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Streaming</a:t>
            </a:r>
            <a:r>
              <a:rPr sz="1200" b="1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Platform</a:t>
            </a:r>
            <a:r>
              <a:rPr sz="1200" b="1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Migration</a:t>
            </a:r>
            <a:r>
              <a:rPr sz="1200" b="1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(Scalability</a:t>
            </a:r>
            <a:r>
              <a:rPr sz="1200" b="1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&amp;</a:t>
            </a:r>
            <a:r>
              <a:rPr sz="1200" b="1" spc="-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Caching) Architecture</a:t>
            </a:r>
            <a:r>
              <a:rPr sz="1200" b="1" spc="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Design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" algn="just">
              <a:lnSpc>
                <a:spcPct val="100000"/>
              </a:lnSpc>
              <a:spcBef>
                <a:spcPts val="540"/>
              </a:spcBef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Global</a:t>
            </a:r>
            <a:r>
              <a:rPr sz="1200" b="1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Content</a:t>
            </a:r>
            <a:r>
              <a:rPr sz="1200" b="1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Delivery</a:t>
            </a:r>
            <a:r>
              <a:rPr sz="1200" b="1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Layer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351155" lvl="1" indent="-229235">
              <a:lnSpc>
                <a:spcPct val="96000"/>
              </a:lnSpc>
              <a:spcBef>
                <a:spcPts val="600"/>
              </a:spcBef>
              <a:buSzPct val="83000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Use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CDN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(CloudFront,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Akamai,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Cloudflare)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first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line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defense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—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it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caches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video segments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(using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adaptive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bitrate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formats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like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HLS/DASH)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at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edge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locations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close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users,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drastically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cutting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latency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origin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load.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177800" lvl="1" indent="-229235">
              <a:lnSpc>
                <a:spcPts val="1380"/>
              </a:lnSpc>
              <a:spcBef>
                <a:spcPts val="635"/>
              </a:spcBef>
              <a:buSzPct val="83000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Store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master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video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files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object</a:t>
            </a:r>
            <a:r>
              <a:rPr sz="1200" b="1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storage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(S3,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Azure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Blob,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GCS)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with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lifecycle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policies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move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older/less-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watched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content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cooler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storage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tiers.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Transcoding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&amp;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Processing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164465" lvl="1" indent="-229235">
              <a:lnSpc>
                <a:spcPts val="1380"/>
              </a:lnSpc>
              <a:spcBef>
                <a:spcPts val="635"/>
              </a:spcBef>
              <a:buSzPct val="83000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Use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event-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driven</a:t>
            </a:r>
            <a:r>
              <a:rPr sz="12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transcoding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pipeline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: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upload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triggers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serverless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function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(Lambda/Cloud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Functions)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that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kicks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off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managed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transcoding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service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(AWS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Elemental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MediaConvert,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Azure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Media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Services)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produce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multiple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bitrate/resolution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renditions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for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adaptive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streaming.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Compute</a:t>
            </a:r>
            <a:r>
              <a:rPr sz="12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Layer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128270" lvl="1" indent="-229235">
              <a:lnSpc>
                <a:spcPts val="1380"/>
              </a:lnSpc>
              <a:spcBef>
                <a:spcPts val="635"/>
              </a:spcBef>
              <a:buSzPct val="83000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Stateless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microservices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(user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auth,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recommendations,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metadata,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billing)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run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containers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on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Kubernetes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(EKS/GKE/AKS)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managed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serverless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platform,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enabling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independent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scaling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per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service.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Caching</a:t>
            </a:r>
            <a:r>
              <a:rPr sz="12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Strategy</a:t>
            </a:r>
            <a:r>
              <a:rPr sz="1200" b="1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(multi-layer)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lvl="1" indent="-228600">
              <a:lnSpc>
                <a:spcPct val="100000"/>
              </a:lnSpc>
              <a:spcBef>
                <a:spcPts val="540"/>
              </a:spcBef>
              <a:buSzPct val="83000"/>
              <a:buFont typeface="Symbol"/>
              <a:buChar char=""/>
              <a:tabLst>
                <a:tab pos="469900" algn="l"/>
              </a:tabLst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Edge/CDN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cache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—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video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segments,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thumbnails,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static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assets.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241935" lvl="1" indent="-229235">
              <a:lnSpc>
                <a:spcPts val="1380"/>
              </a:lnSpc>
              <a:spcBef>
                <a:spcPts val="635"/>
              </a:spcBef>
              <a:buSzPct val="83000"/>
              <a:buFont typeface="Symbol"/>
              <a:buChar char=""/>
              <a:tabLst>
                <a:tab pos="469900" algn="l"/>
              </a:tabLst>
            </a:pP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In-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memory</a:t>
            </a:r>
            <a:r>
              <a:rPr sz="1200" b="1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cache</a:t>
            </a:r>
            <a:r>
              <a:rPr sz="1200" b="1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(Redis/Memcached)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—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session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data,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user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profiles,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trending/recommendation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results,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API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responses.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351155" lvl="1" indent="-229235">
              <a:lnSpc>
                <a:spcPts val="1380"/>
              </a:lnSpc>
              <a:spcBef>
                <a:spcPts val="590"/>
              </a:spcBef>
              <a:buSzPct val="83000"/>
              <a:buFont typeface="Symbol"/>
              <a:buChar char=""/>
              <a:tabLst>
                <a:tab pos="469900" algn="l"/>
              </a:tabLst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Database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read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replicas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+</a:t>
            </a:r>
            <a:r>
              <a:rPr sz="12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query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cache</a:t>
            </a:r>
            <a:r>
              <a:rPr sz="12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—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reduces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load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on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primary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datastore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for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metadata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lookups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(titles,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catalogs,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watch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history).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100330" lvl="1" indent="-229235">
              <a:lnSpc>
                <a:spcPts val="1380"/>
              </a:lnSpc>
              <a:spcBef>
                <a:spcPts val="600"/>
              </a:spcBef>
              <a:buSzPct val="83000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Use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cache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invalidation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policies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(TTL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+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event-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based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purge)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so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new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releases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content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takedowns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propagate</a:t>
            </a:r>
            <a:r>
              <a:rPr sz="1200" spc="-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quickly.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Load</a:t>
            </a:r>
            <a:r>
              <a:rPr sz="1200" b="1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Balancing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&amp;</a:t>
            </a:r>
            <a:r>
              <a:rPr sz="1200" b="1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Auto-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Scaling</a:t>
            </a:r>
            <a:r>
              <a:rPr sz="1200" b="1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for</a:t>
            </a:r>
            <a:r>
              <a:rPr sz="12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Smooth</a:t>
            </a:r>
            <a:r>
              <a:rPr sz="1200" b="1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Streaming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5080" lvl="1" indent="-229235">
              <a:lnSpc>
                <a:spcPts val="1380"/>
              </a:lnSpc>
              <a:spcBef>
                <a:spcPts val="640"/>
              </a:spcBef>
              <a:buSzPct val="83000"/>
              <a:buFont typeface="Symbol"/>
              <a:buChar char=""/>
              <a:tabLst>
                <a:tab pos="469900" algn="l"/>
              </a:tabLst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Global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(DNS-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based)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load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balancing</a:t>
            </a:r>
            <a:r>
              <a:rPr sz="1200" b="1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(Route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53,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Azure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Traffic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Manager)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routes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users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nearest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healthy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region.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35560" lvl="1" indent="-229235">
              <a:lnSpc>
                <a:spcPts val="1380"/>
              </a:lnSpc>
              <a:spcBef>
                <a:spcPts val="600"/>
              </a:spcBef>
              <a:buSzPct val="83000"/>
              <a:buFont typeface="Symbol"/>
              <a:buChar char=""/>
              <a:tabLst>
                <a:tab pos="469900" algn="l"/>
              </a:tabLst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Regional</a:t>
            </a:r>
            <a:r>
              <a:rPr sz="1200" b="1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load</a:t>
            </a:r>
            <a:r>
              <a:rPr sz="1200" b="1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balancers</a:t>
            </a:r>
            <a:r>
              <a:rPr sz="12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(ALB/NLB,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Azure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Load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Balancer)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distribute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traffic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across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container/VM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instances,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performing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health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checks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removing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unhealthy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nodes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automatically.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147320" lvl="1" indent="-229235">
              <a:lnSpc>
                <a:spcPts val="1380"/>
              </a:lnSpc>
              <a:spcBef>
                <a:spcPts val="600"/>
              </a:spcBef>
              <a:buSzPct val="83000"/>
              <a:buFont typeface="Symbol"/>
              <a:buChar char=""/>
              <a:tabLst>
                <a:tab pos="469900" algn="l"/>
              </a:tabLst>
            </a:pP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Auto-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scaling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groups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/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Horizontal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Pod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Autoscalers</a:t>
            </a:r>
            <a:r>
              <a:rPr sz="12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monitor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CPU,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memory,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request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latency,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and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concurrent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connections,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scaling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compute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up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during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peak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hours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(e.g.,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major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sports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final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new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season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release)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down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during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quiet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periods.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294640" lvl="1" indent="-229235">
              <a:lnSpc>
                <a:spcPts val="1380"/>
              </a:lnSpc>
              <a:spcBef>
                <a:spcPts val="600"/>
              </a:spcBef>
              <a:buSzPct val="83000"/>
              <a:buFont typeface="Symbol"/>
              <a:buChar char=""/>
              <a:tabLst>
                <a:tab pos="469900" algn="l"/>
              </a:tabLst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Predictive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scaling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can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layered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on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top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using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historical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traffic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patterns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(e.g.,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scale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up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before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a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known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prime-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time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surge)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combined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with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reactive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scaling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for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unexpected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spikes.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lvl="1" indent="-228600">
              <a:lnSpc>
                <a:spcPct val="100000"/>
              </a:lnSpc>
              <a:spcBef>
                <a:spcPts val="505"/>
              </a:spcBef>
              <a:buSzPct val="83000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Because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video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delivery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itself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offloaded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CDN,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origin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servers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mainly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handle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API/control-</a:t>
            </a:r>
            <a:endParaRPr sz="1200">
              <a:latin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95985" y="3308350"/>
            <a:ext cx="4535170" cy="43815"/>
            <a:chOff x="895985" y="3308350"/>
            <a:chExt cx="4535170" cy="43815"/>
          </a:xfrm>
        </p:grpSpPr>
        <p:sp>
          <p:nvSpPr>
            <p:cNvPr id="3" name="object 3"/>
            <p:cNvSpPr/>
            <p:nvPr/>
          </p:nvSpPr>
          <p:spPr>
            <a:xfrm>
              <a:off x="895985" y="3308349"/>
              <a:ext cx="4533900" cy="43180"/>
            </a:xfrm>
            <a:custGeom>
              <a:avLst/>
              <a:gdLst/>
              <a:ahLst/>
              <a:cxnLst/>
              <a:rect l="l" t="t" r="r" b="b"/>
              <a:pathLst>
                <a:path w="4533900" h="43179">
                  <a:moveTo>
                    <a:pt x="4533900" y="0"/>
                  </a:moveTo>
                  <a:lnTo>
                    <a:pt x="0" y="0"/>
                  </a:lnTo>
                  <a:lnTo>
                    <a:pt x="0" y="43180"/>
                  </a:lnTo>
                  <a:lnTo>
                    <a:pt x="4533900" y="43180"/>
                  </a:lnTo>
                  <a:lnTo>
                    <a:pt x="453390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5427852" y="3309238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896416" y="3309238"/>
              <a:ext cx="4534535" cy="40005"/>
            </a:xfrm>
            <a:custGeom>
              <a:avLst/>
              <a:gdLst/>
              <a:ahLst/>
              <a:cxnLst/>
              <a:rect l="l" t="t" r="r" b="b"/>
              <a:pathLst>
                <a:path w="4534535" h="40004">
                  <a:moveTo>
                    <a:pt x="3048" y="3060"/>
                  </a:moveTo>
                  <a:lnTo>
                    <a:pt x="0" y="3060"/>
                  </a:lnTo>
                  <a:lnTo>
                    <a:pt x="0" y="39624"/>
                  </a:lnTo>
                  <a:lnTo>
                    <a:pt x="3048" y="39624"/>
                  </a:lnTo>
                  <a:lnTo>
                    <a:pt x="3048" y="3060"/>
                  </a:lnTo>
                  <a:close/>
                </a:path>
                <a:path w="4534535" h="40004">
                  <a:moveTo>
                    <a:pt x="4534471" y="0"/>
                  </a:moveTo>
                  <a:lnTo>
                    <a:pt x="4531436" y="0"/>
                  </a:lnTo>
                  <a:lnTo>
                    <a:pt x="4531436" y="3048"/>
                  </a:lnTo>
                  <a:lnTo>
                    <a:pt x="4534471" y="3048"/>
                  </a:lnTo>
                  <a:lnTo>
                    <a:pt x="453447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427852" y="3312287"/>
              <a:ext cx="3175" cy="36830"/>
            </a:xfrm>
            <a:custGeom>
              <a:avLst/>
              <a:gdLst/>
              <a:ahLst/>
              <a:cxnLst/>
              <a:rect l="l" t="t" r="r" b="b"/>
              <a:pathLst>
                <a:path w="3175" h="36829">
                  <a:moveTo>
                    <a:pt x="3047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047" y="3657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896416" y="3348862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96416" y="3348862"/>
              <a:ext cx="4534535" cy="3175"/>
            </a:xfrm>
            <a:custGeom>
              <a:avLst/>
              <a:gdLst/>
              <a:ahLst/>
              <a:cxnLst/>
              <a:rect l="l" t="t" r="r" b="b"/>
              <a:pathLst>
                <a:path w="4534535" h="3175">
                  <a:moveTo>
                    <a:pt x="4534471" y="0"/>
                  </a:moveTo>
                  <a:lnTo>
                    <a:pt x="4531487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4531436" y="3048"/>
                  </a:lnTo>
                  <a:lnTo>
                    <a:pt x="4534471" y="3048"/>
                  </a:lnTo>
                  <a:lnTo>
                    <a:pt x="4534471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444500" y="403351"/>
            <a:ext cx="6647180" cy="939673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640"/>
              </a:spcBef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plane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traffic,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which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far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easier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scale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than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raw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video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egress.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Cost</a:t>
            </a:r>
            <a:r>
              <a:rPr sz="12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Optimization</a:t>
            </a:r>
            <a:r>
              <a:rPr sz="12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Strategies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548005" indent="-229235">
              <a:lnSpc>
                <a:spcPts val="1380"/>
              </a:lnSpc>
              <a:spcBef>
                <a:spcPts val="635"/>
              </a:spcBef>
              <a:buSzPct val="83000"/>
              <a:buFont typeface="Symbol"/>
              <a:buChar char=""/>
              <a:tabLst>
                <a:tab pos="469900" algn="l"/>
              </a:tabLst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CDN</a:t>
            </a:r>
            <a:r>
              <a:rPr sz="12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+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caching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reduces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expensive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repeated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origin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egress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—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single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largest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cost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driver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in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streaming.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130810" indent="-229235">
              <a:lnSpc>
                <a:spcPts val="1380"/>
              </a:lnSpc>
              <a:spcBef>
                <a:spcPts val="600"/>
              </a:spcBef>
              <a:buSzPct val="83000"/>
              <a:buFont typeface="Symbol"/>
              <a:buChar char=""/>
              <a:tabLst>
                <a:tab pos="469900" algn="l"/>
              </a:tabLst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Tiered</a:t>
            </a:r>
            <a:r>
              <a:rPr sz="1200" b="1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storage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: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hot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storage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for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new/popular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content,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cold/archive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storage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for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rarely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watched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back-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catalog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titles.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indent="-228600">
              <a:lnSpc>
                <a:spcPct val="100000"/>
              </a:lnSpc>
              <a:spcBef>
                <a:spcPts val="505"/>
              </a:spcBef>
              <a:buSzPct val="83000"/>
              <a:buFont typeface="Symbol"/>
              <a:buChar char=""/>
              <a:tabLst>
                <a:tab pos="469900" algn="l"/>
              </a:tabLst>
            </a:pP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Spot/preemptible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instances</a:t>
            </a:r>
            <a:r>
              <a:rPr sz="12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for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non-critical,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interruptible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workloads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like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batch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transcoding.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104775" indent="-229235">
              <a:lnSpc>
                <a:spcPts val="1380"/>
              </a:lnSpc>
              <a:spcBef>
                <a:spcPts val="635"/>
              </a:spcBef>
              <a:buSzPct val="83000"/>
              <a:buFont typeface="Symbol"/>
              <a:buChar char=""/>
              <a:tabLst>
                <a:tab pos="469900" algn="l"/>
              </a:tabLst>
            </a:pP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Reserved/committed-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use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instances</a:t>
            </a:r>
            <a:r>
              <a:rPr sz="12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for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baseline,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predictable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capacity;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on-demand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spot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for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burst capacity.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indent="-228600">
              <a:lnSpc>
                <a:spcPct val="100000"/>
              </a:lnSpc>
              <a:spcBef>
                <a:spcPts val="505"/>
              </a:spcBef>
              <a:buSzPct val="83000"/>
              <a:buFont typeface="Symbol"/>
              <a:buChar char=""/>
              <a:tabLst>
                <a:tab pos="469900" algn="l"/>
              </a:tabLst>
            </a:pP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Right-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sizing</a:t>
            </a:r>
            <a:r>
              <a:rPr sz="12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compute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resources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continuously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based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on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utilization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metrics.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indent="-228600">
              <a:lnSpc>
                <a:spcPct val="100000"/>
              </a:lnSpc>
              <a:spcBef>
                <a:spcPts val="540"/>
              </a:spcBef>
              <a:buSzPct val="83000"/>
              <a:buFont typeface="Symbol"/>
              <a:buChar char=""/>
              <a:tabLst>
                <a:tab pos="469900" algn="l"/>
              </a:tabLst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Compression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efficient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codecs</a:t>
            </a:r>
            <a:r>
              <a:rPr sz="12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(AV1,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H.265)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reduce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bandwidth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storage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costs.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indent="-228600">
              <a:lnSpc>
                <a:spcPct val="100000"/>
              </a:lnSpc>
              <a:spcBef>
                <a:spcPts val="545"/>
              </a:spcBef>
              <a:buSzPct val="83000"/>
              <a:buFont typeface="Symbol"/>
              <a:buChar char=""/>
              <a:tabLst>
                <a:tab pos="469900" algn="l"/>
              </a:tabLst>
            </a:pP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Multi-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CDN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strategy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negotiate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better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rates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avoid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vendor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lock-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on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egress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pricing.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19735" marR="635635" indent="-229235">
              <a:lnSpc>
                <a:spcPct val="110000"/>
              </a:lnSpc>
              <a:spcBef>
                <a:spcPts val="5"/>
              </a:spcBef>
              <a:buAutoNum type="arabicPeriod" startAt="2"/>
              <a:tabLst>
                <a:tab pos="419100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fintech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startup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is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deploying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applications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using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containers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across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multiple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cloud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providers.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They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face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challenges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maintaining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consistency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managing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deployments.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19735" marR="1652905">
              <a:lnSpc>
                <a:spcPct val="110000"/>
              </a:lnSpc>
              <a:spcBef>
                <a:spcPts val="10"/>
              </a:spcBef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Propose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solution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using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container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orchestration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multi-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cloud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strategies.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Explain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how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service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discovery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scaling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can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handled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efficiently.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19735">
              <a:lnSpc>
                <a:spcPct val="100000"/>
              </a:lnSpc>
              <a:spcBef>
                <a:spcPts val="145"/>
              </a:spcBef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Highlight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benefits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risks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multi-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cloud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deployment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model.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" marR="3031490">
              <a:lnSpc>
                <a:spcPct val="138000"/>
              </a:lnSpc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Fintech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Startup</a:t>
            </a:r>
            <a:r>
              <a:rPr sz="1200" b="1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—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Multi-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Cloud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Container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Deployment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Proposed</a:t>
            </a:r>
            <a:r>
              <a:rPr sz="1200" b="1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Solution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Container</a:t>
            </a:r>
            <a:r>
              <a:rPr sz="1200" b="1" spc="-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Orchestration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167640" lvl="1" indent="-229235">
              <a:lnSpc>
                <a:spcPts val="1380"/>
              </a:lnSpc>
              <a:spcBef>
                <a:spcPts val="635"/>
              </a:spcBef>
              <a:buSzPct val="83000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Adopt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Kubernetes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common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orchestration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layer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across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providers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(EKS,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AKS,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GKE,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self-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managed)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since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it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provides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consistent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API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regardless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underlying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cloud.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299085" lvl="1" indent="-229235">
              <a:lnSpc>
                <a:spcPts val="1380"/>
              </a:lnSpc>
              <a:spcBef>
                <a:spcPts val="600"/>
              </a:spcBef>
              <a:buSzPct val="83000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Use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GitOps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approach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(ArgoCD/Flux)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so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deployments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are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declarative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version-controlled,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ensuring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consistency: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same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manifests/Helm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charts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deploy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identically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across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clusters.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741045" lvl="1" indent="-229235">
              <a:lnSpc>
                <a:spcPts val="1380"/>
              </a:lnSpc>
              <a:spcBef>
                <a:spcPts val="600"/>
              </a:spcBef>
              <a:buSzPct val="83000"/>
              <a:buFont typeface="Symbol"/>
              <a:buChar char=""/>
              <a:tabLst>
                <a:tab pos="469900" algn="l"/>
              </a:tabLst>
            </a:pP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Standardize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on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Infrastructure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as</a:t>
            </a:r>
            <a:r>
              <a:rPr sz="12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Code</a:t>
            </a:r>
            <a:r>
              <a:rPr sz="1200" b="1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(Terraform)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provision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clusters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supporting infrastructure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identically across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clouds.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Multi-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Cloud</a:t>
            </a:r>
            <a:r>
              <a:rPr sz="1200" b="1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Strategy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333375" lvl="1" indent="-229235">
              <a:lnSpc>
                <a:spcPts val="1380"/>
              </a:lnSpc>
              <a:spcBef>
                <a:spcPts val="635"/>
              </a:spcBef>
              <a:buSzPct val="83000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Use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multi-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cloud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management</a:t>
            </a:r>
            <a:r>
              <a:rPr sz="12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platform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(Anthos,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Azure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Arc,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Rancher)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provide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single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control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plane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visibility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over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clusters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different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providers.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5080" lvl="1" indent="-229235">
              <a:lnSpc>
                <a:spcPts val="1380"/>
              </a:lnSpc>
              <a:spcBef>
                <a:spcPts val="605"/>
              </a:spcBef>
              <a:buSzPct val="83000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Maintain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shared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container</a:t>
            </a:r>
            <a:r>
              <a:rPr sz="12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registry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(or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registry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mirroring)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so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images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are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consistent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don't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need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be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rebuilt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per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cloud.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453390" lvl="1" indent="-229235">
              <a:lnSpc>
                <a:spcPts val="1380"/>
              </a:lnSpc>
              <a:spcBef>
                <a:spcPts val="600"/>
              </a:spcBef>
              <a:buSzPct val="83000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Use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abstraction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layers</a:t>
            </a:r>
            <a:r>
              <a:rPr sz="1200" b="1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for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cloud-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specific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services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(e.g.,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internal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API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wrapper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around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each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provider's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managed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database/secrets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manager)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avoid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tight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coupling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one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vendor's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APIs.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Service</a:t>
            </a:r>
            <a:r>
              <a:rPr sz="1200" b="1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Discovery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&amp;</a:t>
            </a:r>
            <a:r>
              <a:rPr sz="12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Scaling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88265" lvl="1" indent="-229235">
              <a:lnSpc>
                <a:spcPts val="1380"/>
              </a:lnSpc>
              <a:spcBef>
                <a:spcPts val="635"/>
              </a:spcBef>
              <a:buSzPct val="83000"/>
              <a:buFont typeface="Symbol"/>
              <a:buChar char=""/>
              <a:tabLst>
                <a:tab pos="469900" algn="l"/>
              </a:tabLst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Service</a:t>
            </a:r>
            <a:r>
              <a:rPr sz="12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mesh</a:t>
            </a:r>
            <a:r>
              <a:rPr sz="12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(Istio/Linkerd/Consul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Connect)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handles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service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discovery,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mutual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TLS,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traffic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routing,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observability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consistently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across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clusters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—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critical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when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services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one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cloud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need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to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call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services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another.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224155" lvl="1" indent="-229235">
              <a:lnSpc>
                <a:spcPct val="96000"/>
              </a:lnSpc>
              <a:spcBef>
                <a:spcPts val="565"/>
              </a:spcBef>
              <a:buSzPct val="83000"/>
              <a:buFont typeface="Symbol"/>
              <a:buChar char=""/>
              <a:tabLst>
                <a:tab pos="469900" algn="l"/>
              </a:tabLst>
            </a:pP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Kubernetes-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native</a:t>
            </a:r>
            <a:r>
              <a:rPr sz="12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service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discovery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(DNS-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based,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via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CoreDNS)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works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within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each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cluster;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for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cross-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cluster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discovery,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mesh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with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multi-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cluster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support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(Istio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multi-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cluster)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global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API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gateway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ties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them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together.</a:t>
            </a:r>
            <a:endParaRPr sz="1200">
              <a:latin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471931"/>
            <a:ext cx="6590030" cy="930656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469900" marR="5080" indent="-229235">
              <a:lnSpc>
                <a:spcPts val="1380"/>
              </a:lnSpc>
              <a:spcBef>
                <a:spcPts val="195"/>
              </a:spcBef>
              <a:buSzPct val="83000"/>
              <a:buFont typeface="Symbol"/>
              <a:buChar char=""/>
              <a:tabLst>
                <a:tab pos="469900" algn="l"/>
              </a:tabLst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Horizontal</a:t>
            </a:r>
            <a:r>
              <a:rPr sz="1200" b="1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Pod</a:t>
            </a:r>
            <a:r>
              <a:rPr sz="1200" b="1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Autoscaler</a:t>
            </a:r>
            <a:r>
              <a:rPr sz="1200" b="1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(HPA)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Cluster</a:t>
            </a:r>
            <a:r>
              <a:rPr sz="12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Autoscaler</a:t>
            </a:r>
            <a:r>
              <a:rPr sz="1200" b="1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independently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scale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each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cluster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based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on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load;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global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load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balancer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front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distributes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traffic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across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clouds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based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on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latency,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health,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capacity.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" marR="4349115">
              <a:lnSpc>
                <a:spcPts val="1980"/>
              </a:lnSpc>
              <a:spcBef>
                <a:spcPts val="120"/>
              </a:spcBef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Benefits</a:t>
            </a:r>
            <a:r>
              <a:rPr sz="1200" b="1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Risks</a:t>
            </a:r>
            <a:r>
              <a:rPr sz="1200" b="1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 Multi-Cloud Benefits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indent="-228600">
              <a:lnSpc>
                <a:spcPct val="100000"/>
              </a:lnSpc>
              <a:spcBef>
                <a:spcPts val="385"/>
              </a:spcBef>
              <a:buSzPct val="83000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Avoids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vendor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lock-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gives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negotiating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leverage.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indent="-228600">
              <a:lnSpc>
                <a:spcPct val="100000"/>
              </a:lnSpc>
              <a:spcBef>
                <a:spcPts val="540"/>
              </a:spcBef>
              <a:buSzPct val="83000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Improves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resilience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—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outage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one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provider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doesn't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take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whole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platform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down.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626745" indent="-229235">
              <a:lnSpc>
                <a:spcPts val="1380"/>
              </a:lnSpc>
              <a:spcBef>
                <a:spcPts val="635"/>
              </a:spcBef>
              <a:buSzPct val="83000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Allows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choosing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best-of-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breed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services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per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cloud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(e.g.,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one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provider's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ML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tools,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another's compliance</a:t>
            </a:r>
            <a:r>
              <a:rPr sz="1200" spc="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certifications).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indent="-228600">
              <a:lnSpc>
                <a:spcPct val="100000"/>
              </a:lnSpc>
              <a:spcBef>
                <a:spcPts val="505"/>
              </a:spcBef>
              <a:buSzPct val="83000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Useful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for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meeting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data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residency/regulatory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requirements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common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fintech.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Risks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125095" indent="-229235">
              <a:lnSpc>
                <a:spcPts val="1380"/>
              </a:lnSpc>
              <a:spcBef>
                <a:spcPts val="640"/>
              </a:spcBef>
              <a:buSzPct val="83000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Increased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operational</a:t>
            </a:r>
            <a:r>
              <a:rPr sz="12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complexity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—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different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networking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models,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IAM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systems,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monitoring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tools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per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cloud.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indent="-228600">
              <a:lnSpc>
                <a:spcPct val="100000"/>
              </a:lnSpc>
              <a:spcBef>
                <a:spcPts val="505"/>
              </a:spcBef>
              <a:buSzPct val="83000"/>
              <a:buFont typeface="Symbol"/>
              <a:buChar char=""/>
              <a:tabLst>
                <a:tab pos="469900" algn="l"/>
              </a:tabLst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Higher</a:t>
            </a:r>
            <a:r>
              <a:rPr sz="12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cost</a:t>
            </a:r>
            <a:r>
              <a:rPr sz="12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from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data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egress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between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clouds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duplicated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tooling.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207645" indent="-229235">
              <a:lnSpc>
                <a:spcPts val="1380"/>
              </a:lnSpc>
              <a:spcBef>
                <a:spcPts val="635"/>
              </a:spcBef>
              <a:buSzPct val="83000"/>
              <a:buFont typeface="Symbol"/>
              <a:buChar char=""/>
              <a:tabLst>
                <a:tab pos="469900" algn="l"/>
              </a:tabLst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Security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surface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area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grows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—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more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identities,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more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APIs,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more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points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failure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secure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and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audit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(a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major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concern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for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regulated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fintech).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indent="-228600">
              <a:lnSpc>
                <a:spcPct val="100000"/>
              </a:lnSpc>
              <a:spcBef>
                <a:spcPts val="505"/>
              </a:spcBef>
              <a:buSzPct val="83000"/>
              <a:buFont typeface="Symbol"/>
              <a:buChar char=""/>
              <a:tabLst>
                <a:tab pos="469900" algn="l"/>
              </a:tabLst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Skill</a:t>
            </a:r>
            <a:r>
              <a:rPr sz="12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tooling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overhead</a:t>
            </a:r>
            <a:r>
              <a:rPr sz="12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—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teams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need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expertise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across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multiple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platforms.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indent="-228600">
              <a:lnSpc>
                <a:spcPct val="100000"/>
              </a:lnSpc>
              <a:spcBef>
                <a:spcPts val="540"/>
              </a:spcBef>
              <a:buSzPct val="83000"/>
              <a:buFont typeface="Symbol"/>
              <a:buChar char=""/>
              <a:tabLst>
                <a:tab pos="469900" algn="l"/>
              </a:tabLst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Latency</a:t>
            </a:r>
            <a:r>
              <a:rPr sz="1200" b="1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for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cross-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cloud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service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calls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if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not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architected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carefully.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19735" marR="1069975" indent="-229235">
              <a:lnSpc>
                <a:spcPct val="110000"/>
              </a:lnSpc>
              <a:spcBef>
                <a:spcPts val="5"/>
              </a:spcBef>
              <a:buAutoNum type="arabicPeriod" startAt="3"/>
              <a:tabLst>
                <a:tab pos="419100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An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e-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learning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platform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experiences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data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loss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due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accidental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deletion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cloud.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organization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needs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robust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backup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disaster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recovery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strategy.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19735">
              <a:lnSpc>
                <a:spcPct val="100000"/>
              </a:lnSpc>
              <a:spcBef>
                <a:spcPts val="140"/>
              </a:spcBef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Design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solution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using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cloud-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native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backup,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replication,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versioning.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" marR="3082290">
              <a:lnSpc>
                <a:spcPct val="138000"/>
              </a:lnSpc>
            </a:pP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E-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Learning</a:t>
            </a:r>
            <a:r>
              <a:rPr sz="12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Platform</a:t>
            </a:r>
            <a:r>
              <a:rPr sz="1200" b="1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—</a:t>
            </a:r>
            <a:r>
              <a:rPr sz="1200" b="1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Backup</a:t>
            </a:r>
            <a:r>
              <a:rPr sz="12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&amp;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Disaster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Recovery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Solution</a:t>
            </a:r>
            <a:r>
              <a:rPr sz="12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Design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Backup</a:t>
            </a:r>
            <a:r>
              <a:rPr sz="12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Strategy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88265" lvl="1" indent="-229235">
              <a:lnSpc>
                <a:spcPts val="1380"/>
              </a:lnSpc>
              <a:spcBef>
                <a:spcPts val="640"/>
              </a:spcBef>
              <a:buSzPct val="83000"/>
              <a:buFont typeface="Symbol"/>
              <a:buChar char=""/>
              <a:tabLst>
                <a:tab pos="469900" algn="l"/>
              </a:tabLst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Automated,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scheduled</a:t>
            </a:r>
            <a:r>
              <a:rPr sz="12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backups</a:t>
            </a:r>
            <a:r>
              <a:rPr sz="1200" b="1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databases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file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storage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(e.g.,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AWS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Backup,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Azure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Backup)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with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configurable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frequency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based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on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data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criticality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(e.g.,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hourly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for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transactional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data,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daily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for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content).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97790" lvl="1" indent="-229235">
              <a:lnSpc>
                <a:spcPts val="1380"/>
              </a:lnSpc>
              <a:spcBef>
                <a:spcPts val="600"/>
              </a:spcBef>
              <a:buSzPct val="83000"/>
              <a:buFont typeface="Symbol"/>
              <a:buChar char=""/>
              <a:tabLst>
                <a:tab pos="469900" algn="l"/>
              </a:tabLst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Versioning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enabled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on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object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storage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(S3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Versioning)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so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accidental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deletions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overwrites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can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be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rolled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back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prior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object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version.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924560" lvl="1" indent="-229235">
              <a:lnSpc>
                <a:spcPts val="1380"/>
              </a:lnSpc>
              <a:spcBef>
                <a:spcPts val="600"/>
              </a:spcBef>
              <a:buSzPct val="83000"/>
              <a:buFont typeface="Symbol"/>
              <a:buChar char=""/>
              <a:tabLst>
                <a:tab pos="469900" algn="l"/>
              </a:tabLst>
            </a:pP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Immutable/WORM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backups</a:t>
            </a:r>
            <a:r>
              <a:rPr sz="1200" b="1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backup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vault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lock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protect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against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ransomware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or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accidental/malicious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deletion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backups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themselves.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25400" lvl="1" indent="-229235">
              <a:lnSpc>
                <a:spcPts val="1380"/>
              </a:lnSpc>
              <a:spcBef>
                <a:spcPts val="600"/>
              </a:spcBef>
              <a:buSzPct val="83000"/>
              <a:buFont typeface="Symbol"/>
              <a:buChar char=""/>
              <a:tabLst>
                <a:tab pos="469900" algn="l"/>
              </a:tabLst>
            </a:pP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Cross-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region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replication</a:t>
            </a:r>
            <a:r>
              <a:rPr sz="1200" b="1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both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primary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data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backups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so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regional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failure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doesn't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destroy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the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only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copies.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Replication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5080" lvl="1" indent="-229235">
              <a:lnSpc>
                <a:spcPts val="1380"/>
              </a:lnSpc>
              <a:spcBef>
                <a:spcPts val="635"/>
              </a:spcBef>
              <a:buSzPct val="83000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Database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replication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(synchronous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within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region for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low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RPO,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asynchronous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cross-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region for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DR)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using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managed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services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(RDS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Multi-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AZ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+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cross-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region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read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replica,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Azure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SQL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geo-replication).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lvl="1" indent="-228600">
              <a:lnSpc>
                <a:spcPct val="100000"/>
              </a:lnSpc>
              <a:spcBef>
                <a:spcPts val="505"/>
              </a:spcBef>
              <a:buSzPct val="83000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Storage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replication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for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uploaded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content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(videos,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course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materials)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across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regions.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RTO</a:t>
            </a:r>
            <a:r>
              <a:rPr sz="1200" b="1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and 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RPO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lvl="1" indent="-228600">
              <a:lnSpc>
                <a:spcPct val="100000"/>
              </a:lnSpc>
              <a:spcBef>
                <a:spcPts val="540"/>
              </a:spcBef>
              <a:buSzPct val="83000"/>
              <a:buFont typeface="Symbol"/>
              <a:buChar char=""/>
              <a:tabLst>
                <a:tab pos="469900" algn="l"/>
              </a:tabLst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RPO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(Recovery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Point</a:t>
            </a:r>
            <a:r>
              <a:rPr sz="12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Objective)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—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determined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by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backup/replication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frequency.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Continuous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or</a:t>
            </a:r>
            <a:endParaRPr sz="1200">
              <a:latin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471931"/>
            <a:ext cx="6633845" cy="412559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469900" marR="194945">
              <a:lnSpc>
                <a:spcPts val="1380"/>
              </a:lnSpc>
              <a:spcBef>
                <a:spcPts val="195"/>
              </a:spcBef>
            </a:pP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near-real-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time replication</a:t>
            </a:r>
            <a:r>
              <a:rPr sz="1200" spc="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(synchronous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within-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region,</a:t>
            </a:r>
            <a:r>
              <a:rPr sz="12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asynchronous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cross-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region every</a:t>
            </a:r>
            <a:r>
              <a:rPr sz="1200" spc="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few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minutes)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achieves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low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RPO,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minimizing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acceptable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data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loss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(e.g.,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RPO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few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minutes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rather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than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full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day).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267335" indent="-229235">
              <a:lnSpc>
                <a:spcPts val="1380"/>
              </a:lnSpc>
              <a:spcBef>
                <a:spcPts val="600"/>
              </a:spcBef>
              <a:buSzPct val="83000"/>
              <a:buFont typeface="Symbol"/>
              <a:buChar char=""/>
              <a:tabLst>
                <a:tab pos="469900" algn="l"/>
              </a:tabLst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RTO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(Recovery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Time</a:t>
            </a:r>
            <a:r>
              <a:rPr sz="12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Objective)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—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determined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by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how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quickly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systems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can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brought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back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online.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warm</a:t>
            </a:r>
            <a:r>
              <a:rPr sz="1200" b="1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standby</a:t>
            </a:r>
            <a:r>
              <a:rPr sz="12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(scaled-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down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but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running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environment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second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region)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achieves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50" dirty="0">
                <a:latin typeface="Times New Roman" panose="02020503050405090304"/>
                <a:cs typeface="Times New Roman" panose="02020503050405090304"/>
              </a:rPr>
              <a:t>a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much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lower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RTO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than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restoring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entirely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from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cold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backups,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at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extra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cost.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pilot</a:t>
            </a:r>
            <a:r>
              <a:rPr sz="12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light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approach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(minimal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core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infra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always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running,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scaled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up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on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failover)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middle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ground.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5080" indent="-229235">
              <a:lnSpc>
                <a:spcPts val="1380"/>
              </a:lnSpc>
              <a:spcBef>
                <a:spcPts val="600"/>
              </a:spcBef>
              <a:buSzPct val="83000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organization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should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define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target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RTO/RPO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per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system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tier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(e.g.,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core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LMS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=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minutes;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archived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content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=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hours)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rather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than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one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blanket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target,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since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low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RTO/RPO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expensive.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Steps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for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Business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Continuity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indent="-228600">
              <a:lnSpc>
                <a:spcPct val="100000"/>
              </a:lnSpc>
              <a:spcBef>
                <a:spcPts val="540"/>
              </a:spcBef>
              <a:buAutoNum type="arabicPeriod"/>
              <a:tabLst>
                <a:tab pos="469900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Classify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data/systems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by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criticality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assign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RTO/RPO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targets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each.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indent="-228600">
              <a:lnSpc>
                <a:spcPct val="100000"/>
              </a:lnSpc>
              <a:spcBef>
                <a:spcPts val="540"/>
              </a:spcBef>
              <a:buAutoNum type="arabicPeriod"/>
              <a:tabLst>
                <a:tab pos="469900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Automate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backups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with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versioning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cross-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region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replication.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234315" indent="-229235">
              <a:lnSpc>
                <a:spcPts val="1380"/>
              </a:lnSpc>
              <a:spcBef>
                <a:spcPts val="640"/>
              </a:spcBef>
              <a:buAutoNum type="arabicPeriod"/>
              <a:tabLst>
                <a:tab pos="469900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Maintain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documented,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tested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disaster</a:t>
            </a:r>
            <a:r>
              <a:rPr sz="1200" b="1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recovery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runbook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(failover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steps,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roles,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communication plan).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indent="-228600">
              <a:lnSpc>
                <a:spcPct val="100000"/>
              </a:lnSpc>
              <a:spcBef>
                <a:spcPts val="505"/>
              </a:spcBef>
              <a:buAutoNum type="arabicPeriod"/>
              <a:tabLst>
                <a:tab pos="469900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Run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regular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DR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drills/game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days</a:t>
            </a:r>
            <a:r>
              <a:rPr sz="12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validate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that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failover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actually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meets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targeted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RTO/RPO.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indent="-228600">
              <a:lnSpc>
                <a:spcPct val="100000"/>
              </a:lnSpc>
              <a:spcBef>
                <a:spcPts val="540"/>
              </a:spcBef>
              <a:buAutoNum type="arabicPeriod"/>
              <a:tabLst>
                <a:tab pos="469900" algn="l"/>
              </a:tabLst>
            </a:pP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Implement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monitoring</a:t>
            </a:r>
            <a:r>
              <a:rPr sz="1200" b="1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b="1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alerting</a:t>
            </a:r>
            <a:r>
              <a:rPr sz="1200" b="1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on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backup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job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success/failure.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300355" indent="-229235">
              <a:lnSpc>
                <a:spcPts val="1380"/>
              </a:lnSpc>
              <a:spcBef>
                <a:spcPts val="635"/>
              </a:spcBef>
              <a:buAutoNum type="arabicPeriod"/>
              <a:tabLst>
                <a:tab pos="469900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Use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Infrastructure</a:t>
            </a:r>
            <a:r>
              <a:rPr sz="12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as</a:t>
            </a:r>
            <a:r>
              <a:rPr sz="12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Code</a:t>
            </a:r>
            <a:r>
              <a:rPr sz="1200" b="1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so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full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environment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can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be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redeployed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quickly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new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region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if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needed.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indent="-228600">
              <a:lnSpc>
                <a:spcPct val="100000"/>
              </a:lnSpc>
              <a:spcBef>
                <a:spcPts val="505"/>
              </a:spcBef>
              <a:buAutoNum type="arabicPeriod"/>
              <a:tabLst>
                <a:tab pos="469900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Maintain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incident</a:t>
            </a:r>
            <a:r>
              <a:rPr sz="1200" b="1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communication</a:t>
            </a:r>
            <a:r>
              <a:rPr sz="12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plan</a:t>
            </a:r>
            <a:r>
              <a:rPr sz="1200" b="1" spc="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keep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students/instructors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informed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during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outage.</a:t>
            </a:r>
            <a:endParaRPr sz="1200">
              <a:latin typeface="Times New Roman" panose="02020503050405090304"/>
              <a:cs typeface="Times New Roman" panose="020205030504050903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57200" y="4710429"/>
            <a:ext cx="6630670" cy="20955"/>
            <a:chOff x="457200" y="4710429"/>
            <a:chExt cx="6630670" cy="20955"/>
          </a:xfrm>
        </p:grpSpPr>
        <p:sp>
          <p:nvSpPr>
            <p:cNvPr id="4" name="object 4"/>
            <p:cNvSpPr/>
            <p:nvPr/>
          </p:nvSpPr>
          <p:spPr>
            <a:xfrm>
              <a:off x="457200" y="4710429"/>
              <a:ext cx="6629400" cy="20320"/>
            </a:xfrm>
            <a:custGeom>
              <a:avLst/>
              <a:gdLst/>
              <a:ahLst/>
              <a:cxnLst/>
              <a:rect l="l" t="t" r="r" b="b"/>
              <a:pathLst>
                <a:path w="6629400" h="20320">
                  <a:moveTo>
                    <a:pt x="6629400" y="0"/>
                  </a:moveTo>
                  <a:lnTo>
                    <a:pt x="0" y="0"/>
                  </a:lnTo>
                  <a:lnTo>
                    <a:pt x="0" y="901"/>
                  </a:lnTo>
                  <a:lnTo>
                    <a:pt x="0" y="3937"/>
                  </a:lnTo>
                  <a:lnTo>
                    <a:pt x="0" y="20320"/>
                  </a:lnTo>
                  <a:lnTo>
                    <a:pt x="6629400" y="20320"/>
                  </a:lnTo>
                  <a:lnTo>
                    <a:pt x="662940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7084821" y="4711319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57200" y="4711331"/>
              <a:ext cx="6630670" cy="17145"/>
            </a:xfrm>
            <a:custGeom>
              <a:avLst/>
              <a:gdLst/>
              <a:ahLst/>
              <a:cxnLst/>
              <a:rect l="l" t="t" r="r" b="b"/>
              <a:pathLst>
                <a:path w="6630670" h="17145">
                  <a:moveTo>
                    <a:pt x="3048" y="3048"/>
                  </a:moveTo>
                  <a:lnTo>
                    <a:pt x="0" y="3048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48"/>
                  </a:lnTo>
                  <a:close/>
                </a:path>
                <a:path w="6630670" h="17145">
                  <a:moveTo>
                    <a:pt x="6630657" y="0"/>
                  </a:moveTo>
                  <a:lnTo>
                    <a:pt x="6627622" y="0"/>
                  </a:lnTo>
                  <a:lnTo>
                    <a:pt x="6627622" y="3035"/>
                  </a:lnTo>
                  <a:lnTo>
                    <a:pt x="6630657" y="3035"/>
                  </a:lnTo>
                  <a:lnTo>
                    <a:pt x="663065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084821" y="4714366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57200" y="4728082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57200" y="4728082"/>
              <a:ext cx="6630670" cy="3175"/>
            </a:xfrm>
            <a:custGeom>
              <a:avLst/>
              <a:gdLst/>
              <a:ahLst/>
              <a:cxnLst/>
              <a:rect l="l" t="t" r="r" b="b"/>
              <a:pathLst>
                <a:path w="6630670" h="3175">
                  <a:moveTo>
                    <a:pt x="6630657" y="0"/>
                  </a:moveTo>
                  <a:lnTo>
                    <a:pt x="6627622" y="0"/>
                  </a:ln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6627622" y="3048"/>
                  </a:lnTo>
                  <a:lnTo>
                    <a:pt x="6630657" y="3048"/>
                  </a:lnTo>
                  <a:lnTo>
                    <a:pt x="663065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453643"/>
            <a:ext cx="6655434" cy="8943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9735" marR="629920" indent="-229235">
              <a:lnSpc>
                <a:spcPct val="110000"/>
              </a:lnSpc>
              <a:spcBef>
                <a:spcPts val="100"/>
              </a:spcBef>
              <a:buAutoNum type="arabicPeriod" startAt="4"/>
              <a:tabLst>
                <a:tab pos="419100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government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agency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adopting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hybrid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cloud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model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for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sensitive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non-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sensitive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data.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Some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applications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must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remain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on-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premises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due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compliance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requirements.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19735" marR="897255">
              <a:lnSpc>
                <a:spcPts val="1600"/>
              </a:lnSpc>
              <a:spcBef>
                <a:spcPts val="65"/>
              </a:spcBef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Design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hybrid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architecture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that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ensures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secure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communication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between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environments.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Explain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how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identity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management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encryption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should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be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implemented.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19735">
              <a:lnSpc>
                <a:spcPct val="100000"/>
              </a:lnSpc>
              <a:spcBef>
                <a:spcPts val="60"/>
              </a:spcBef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Discuss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challenges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managing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hybrid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cloud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environments.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" marR="3701415">
              <a:lnSpc>
                <a:spcPct val="138000"/>
              </a:lnSpc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Government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Agency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—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Hybrid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Cloud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20" dirty="0">
                <a:latin typeface="Times New Roman" panose="02020503050405090304"/>
                <a:cs typeface="Times New Roman" panose="02020503050405090304"/>
              </a:rPr>
              <a:t>Model 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Architecture</a:t>
            </a:r>
            <a:r>
              <a:rPr sz="1200" b="1" spc="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Design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393065" lvl="1" indent="-229235">
              <a:lnSpc>
                <a:spcPts val="1380"/>
              </a:lnSpc>
              <a:spcBef>
                <a:spcPts val="635"/>
              </a:spcBef>
              <a:buSzPct val="83000"/>
              <a:buFont typeface="Symbol"/>
              <a:buChar char=""/>
              <a:tabLst>
                <a:tab pos="469900" algn="l"/>
              </a:tabLst>
            </a:pP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On-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premises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data</a:t>
            </a:r>
            <a:r>
              <a:rPr sz="12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center</a:t>
            </a:r>
            <a:r>
              <a:rPr sz="12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hosts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sensitive/regulated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workloads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(citizen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PII,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classified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data)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that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cannot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legally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operationally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move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public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cloud.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165100" lvl="1" indent="-229235">
              <a:lnSpc>
                <a:spcPts val="1380"/>
              </a:lnSpc>
              <a:spcBef>
                <a:spcPts val="600"/>
              </a:spcBef>
              <a:buSzPct val="83000"/>
              <a:buFont typeface="Symbol"/>
              <a:buChar char=""/>
              <a:tabLst>
                <a:tab pos="469900" algn="l"/>
              </a:tabLst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Public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cloud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hosts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non-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sensitive,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elastic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workloads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(public-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facing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portals,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non-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sensitive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analytics,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dev/test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environments).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5080" lvl="1" indent="-229235">
              <a:lnSpc>
                <a:spcPts val="1380"/>
              </a:lnSpc>
              <a:spcBef>
                <a:spcPts val="605"/>
              </a:spcBef>
              <a:buSzPct val="83000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Connect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two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via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dedicated,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private</a:t>
            </a:r>
            <a:r>
              <a:rPr sz="12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network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link</a:t>
            </a:r>
            <a:r>
              <a:rPr sz="1200" b="1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(AWS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Direct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Connect,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Azure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ExpressRoute,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site-to-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site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VPN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as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lower-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cost/backup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option)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rather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than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routing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sensitive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traffic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over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the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public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internet.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208915" lvl="1" indent="-229235">
              <a:lnSpc>
                <a:spcPts val="1380"/>
              </a:lnSpc>
              <a:spcBef>
                <a:spcPts val="600"/>
              </a:spcBef>
              <a:buSzPct val="83000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Use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hybrid</a:t>
            </a:r>
            <a:r>
              <a:rPr sz="12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API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gateway</a:t>
            </a:r>
            <a:r>
              <a:rPr sz="12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integration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layer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so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cloud-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hosted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applications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can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securely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call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on-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premises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services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(and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vice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versa)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without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exposing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internal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systems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directly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internet.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5080" lvl="1" indent="-229235">
              <a:lnSpc>
                <a:spcPts val="1380"/>
              </a:lnSpc>
              <a:spcBef>
                <a:spcPts val="600"/>
              </a:spcBef>
              <a:buSzPct val="83000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Segment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network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using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VPC/VNet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with</a:t>
            </a:r>
            <a:r>
              <a:rPr sz="12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private</a:t>
            </a:r>
            <a:r>
              <a:rPr sz="1200" b="1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subnets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,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firewalls,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network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security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groups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mirroring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on-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prem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segmentation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policies.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Identity</a:t>
            </a:r>
            <a:r>
              <a:rPr sz="12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Management</a:t>
            </a:r>
            <a:r>
              <a:rPr sz="12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Encryption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69215" lvl="1" indent="-229235">
              <a:lnSpc>
                <a:spcPts val="1380"/>
              </a:lnSpc>
              <a:spcBef>
                <a:spcPts val="635"/>
              </a:spcBef>
              <a:buSzPct val="83000"/>
              <a:buFont typeface="Symbol"/>
              <a:buChar char=""/>
              <a:tabLst>
                <a:tab pos="469900" algn="l"/>
              </a:tabLst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Federated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identity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—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extend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on-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prem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directory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(Active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Directory)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into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cloud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via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identity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federation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(AD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FS,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Azure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Connect,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SAML/OIDC)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so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single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identity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system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governs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access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on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both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sides,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with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multi-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factor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authentication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enforced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everywhere.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176530" lvl="1" indent="-229235">
              <a:lnSpc>
                <a:spcPts val="1380"/>
              </a:lnSpc>
              <a:spcBef>
                <a:spcPts val="600"/>
              </a:spcBef>
              <a:buSzPct val="83000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Apply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role-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based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access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control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(RBAC)</a:t>
            </a:r>
            <a:r>
              <a:rPr sz="12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principle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200" b="1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least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privilege</a:t>
            </a:r>
            <a:r>
              <a:rPr sz="12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consistently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across environments.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133985" lvl="1" indent="-229235">
              <a:lnSpc>
                <a:spcPts val="1380"/>
              </a:lnSpc>
              <a:spcBef>
                <a:spcPts val="600"/>
              </a:spcBef>
              <a:buSzPct val="83000"/>
              <a:buFont typeface="Symbol"/>
              <a:buChar char=""/>
              <a:tabLst>
                <a:tab pos="469900" algn="l"/>
              </a:tabLst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Encryption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transit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—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TLS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for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all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communication,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IPsec/VPN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tunneling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over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dedicated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link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added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layer.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36195" lvl="1" indent="-229235">
              <a:lnSpc>
                <a:spcPts val="1380"/>
              </a:lnSpc>
              <a:spcBef>
                <a:spcPts val="600"/>
              </a:spcBef>
              <a:buSzPct val="83000"/>
              <a:buFont typeface="Symbol"/>
              <a:buChar char=""/>
              <a:tabLst>
                <a:tab pos="469900" algn="l"/>
              </a:tabLst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Encryption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at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rest</a:t>
            </a:r>
            <a:r>
              <a:rPr sz="12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—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cloud-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native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key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management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(AWS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KMS,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Azure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Key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Vault)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for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cloud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data;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hardware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security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modules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(HSMs)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on-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prem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key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management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for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most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sensitive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on-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prem</a:t>
            </a:r>
            <a:r>
              <a:rPr sz="1200" spc="50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data,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with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keys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never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leaving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agency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control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where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compliance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mandates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it.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lvl="1" indent="-228600">
              <a:lnSpc>
                <a:spcPct val="100000"/>
              </a:lnSpc>
              <a:spcBef>
                <a:spcPts val="505"/>
              </a:spcBef>
              <a:buSzPct val="83000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Maintain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audit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logging</a:t>
            </a:r>
            <a:r>
              <a:rPr sz="12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all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cross-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environment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access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for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compliance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reporting.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Challenges</a:t>
            </a:r>
            <a:r>
              <a:rPr sz="1200" b="1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Managing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Hybrid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Cloud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359410" lvl="1" indent="-229235">
              <a:lnSpc>
                <a:spcPts val="1380"/>
              </a:lnSpc>
              <a:spcBef>
                <a:spcPts val="640"/>
              </a:spcBef>
              <a:buSzPct val="83000"/>
              <a:buFont typeface="Symbol"/>
              <a:buChar char=""/>
              <a:tabLst>
                <a:tab pos="469900" algn="l"/>
              </a:tabLst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Consistency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—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keeping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security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policies,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patching,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configurations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aligned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across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two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very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different</a:t>
            </a:r>
            <a:r>
              <a:rPr sz="1200" spc="-5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environments.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lvl="1" indent="-228600">
              <a:lnSpc>
                <a:spcPct val="100000"/>
              </a:lnSpc>
              <a:spcBef>
                <a:spcPts val="505"/>
              </a:spcBef>
              <a:buSzPct val="83000"/>
              <a:buFont typeface="Symbol"/>
              <a:buChar char=""/>
              <a:tabLst>
                <a:tab pos="469900" algn="l"/>
              </a:tabLst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Latency</a:t>
            </a:r>
            <a:r>
              <a:rPr sz="12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between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on-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prem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cloud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components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for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tightly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coupled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workloads.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lvl="1" indent="-228600">
              <a:lnSpc>
                <a:spcPct val="100000"/>
              </a:lnSpc>
              <a:spcBef>
                <a:spcPts val="540"/>
              </a:spcBef>
              <a:buSzPct val="83000"/>
              <a:buFont typeface="Symbol"/>
              <a:buChar char=""/>
              <a:tabLst>
                <a:tab pos="469900" algn="l"/>
              </a:tabLst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Complex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identity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federation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—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synchronization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issues,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trust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relationship management.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lvl="1" indent="-228600">
              <a:lnSpc>
                <a:spcPct val="100000"/>
              </a:lnSpc>
              <a:spcBef>
                <a:spcPts val="540"/>
              </a:spcBef>
              <a:buSzPct val="83000"/>
              <a:buFont typeface="Symbol"/>
              <a:buChar char=""/>
              <a:tabLst>
                <a:tab pos="469900" algn="l"/>
              </a:tabLst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Compliance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mapping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—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proving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auditors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that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data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never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leaves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approved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boundaries.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lvl="1" indent="-228600">
              <a:lnSpc>
                <a:spcPct val="100000"/>
              </a:lnSpc>
              <a:spcBef>
                <a:spcPts val="540"/>
              </a:spcBef>
              <a:buSzPct val="83000"/>
              <a:buFont typeface="Symbol"/>
              <a:buChar char=""/>
              <a:tabLst>
                <a:tab pos="469900" algn="l"/>
              </a:tabLst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Skill</a:t>
            </a:r>
            <a:r>
              <a:rPr sz="1200" b="1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gaps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—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staff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need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expertise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both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traditional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on-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prem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infrastructure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cloud-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native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tooling.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lvl="1" indent="-228600">
              <a:lnSpc>
                <a:spcPct val="100000"/>
              </a:lnSpc>
              <a:spcBef>
                <a:spcPts val="535"/>
              </a:spcBef>
              <a:buSzPct val="83000"/>
              <a:buFont typeface="Symbol"/>
              <a:buChar char=""/>
              <a:tabLst>
                <a:tab pos="469900" algn="l"/>
              </a:tabLst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Cost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visibility</a:t>
            </a:r>
            <a:r>
              <a:rPr sz="12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—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harder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get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unified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view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of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spend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utilization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across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both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environments.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297815" lvl="1" indent="-229235">
              <a:lnSpc>
                <a:spcPts val="1380"/>
              </a:lnSpc>
              <a:spcBef>
                <a:spcPts val="640"/>
              </a:spcBef>
              <a:buSzPct val="83000"/>
              <a:buFont typeface="Symbol"/>
              <a:buChar char=""/>
              <a:tabLst>
                <a:tab pos="469900" algn="l"/>
              </a:tabLst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Tooling</a:t>
            </a:r>
            <a:r>
              <a:rPr sz="1200" b="1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fragmentation</a:t>
            </a:r>
            <a:r>
              <a:rPr sz="1200" b="1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—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monitoring,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logging,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management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tools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often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differ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between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on-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prem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cloud,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complicating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unified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operational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view.</a:t>
            </a:r>
            <a:endParaRPr sz="1200">
              <a:latin typeface="Times New Roman" panose="02020503050405090304"/>
              <a:cs typeface="Times New Roman" panose="020205030504050903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64235" y="9509759"/>
            <a:ext cx="6223635" cy="21590"/>
            <a:chOff x="864235" y="9509759"/>
            <a:chExt cx="6223635" cy="21590"/>
          </a:xfrm>
        </p:grpSpPr>
        <p:sp>
          <p:nvSpPr>
            <p:cNvPr id="4" name="object 4"/>
            <p:cNvSpPr/>
            <p:nvPr/>
          </p:nvSpPr>
          <p:spPr>
            <a:xfrm>
              <a:off x="864235" y="9509772"/>
              <a:ext cx="6222365" cy="19685"/>
            </a:xfrm>
            <a:custGeom>
              <a:avLst/>
              <a:gdLst/>
              <a:ahLst/>
              <a:cxnLst/>
              <a:rect l="l" t="t" r="r" b="b"/>
              <a:pathLst>
                <a:path w="6222365" h="19684">
                  <a:moveTo>
                    <a:pt x="6222365" y="0"/>
                  </a:moveTo>
                  <a:lnTo>
                    <a:pt x="0" y="0"/>
                  </a:lnTo>
                  <a:lnTo>
                    <a:pt x="0" y="19672"/>
                  </a:lnTo>
                  <a:lnTo>
                    <a:pt x="6222365" y="19672"/>
                  </a:lnTo>
                  <a:lnTo>
                    <a:pt x="6222365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7084822" y="9511283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864412" y="9511283"/>
              <a:ext cx="6223635" cy="17145"/>
            </a:xfrm>
            <a:custGeom>
              <a:avLst/>
              <a:gdLst/>
              <a:ahLst/>
              <a:cxnLst/>
              <a:rect l="l" t="t" r="r" b="b"/>
              <a:pathLst>
                <a:path w="6223634" h="17145">
                  <a:moveTo>
                    <a:pt x="3035" y="3060"/>
                  </a:moveTo>
                  <a:lnTo>
                    <a:pt x="0" y="3060"/>
                  </a:lnTo>
                  <a:lnTo>
                    <a:pt x="0" y="16764"/>
                  </a:lnTo>
                  <a:lnTo>
                    <a:pt x="3035" y="16764"/>
                  </a:lnTo>
                  <a:lnTo>
                    <a:pt x="3035" y="3060"/>
                  </a:lnTo>
                  <a:close/>
                </a:path>
                <a:path w="6223634" h="17145">
                  <a:moveTo>
                    <a:pt x="6223444" y="0"/>
                  </a:moveTo>
                  <a:lnTo>
                    <a:pt x="6220409" y="0"/>
                  </a:lnTo>
                  <a:lnTo>
                    <a:pt x="6220409" y="3048"/>
                  </a:lnTo>
                  <a:lnTo>
                    <a:pt x="6223444" y="3048"/>
                  </a:lnTo>
                  <a:lnTo>
                    <a:pt x="6223444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084822" y="9514331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64412" y="9528047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864412" y="9528060"/>
              <a:ext cx="6223635" cy="3175"/>
            </a:xfrm>
            <a:custGeom>
              <a:avLst/>
              <a:gdLst/>
              <a:ahLst/>
              <a:cxnLst/>
              <a:rect l="l" t="t" r="r" b="b"/>
              <a:pathLst>
                <a:path w="6223634" h="3175">
                  <a:moveTo>
                    <a:pt x="3035" y="0"/>
                  </a:moveTo>
                  <a:lnTo>
                    <a:pt x="0" y="0"/>
                  </a:lnTo>
                  <a:lnTo>
                    <a:pt x="0" y="3035"/>
                  </a:lnTo>
                  <a:lnTo>
                    <a:pt x="3035" y="3035"/>
                  </a:lnTo>
                  <a:lnTo>
                    <a:pt x="3035" y="0"/>
                  </a:lnTo>
                  <a:close/>
                </a:path>
                <a:path w="6223634" h="3175">
                  <a:moveTo>
                    <a:pt x="6220333" y="0"/>
                  </a:moveTo>
                  <a:lnTo>
                    <a:pt x="3048" y="0"/>
                  </a:lnTo>
                  <a:lnTo>
                    <a:pt x="3048" y="3035"/>
                  </a:lnTo>
                  <a:lnTo>
                    <a:pt x="6220333" y="3035"/>
                  </a:lnTo>
                  <a:lnTo>
                    <a:pt x="6220333" y="0"/>
                  </a:lnTo>
                  <a:close/>
                </a:path>
                <a:path w="6223634" h="3175">
                  <a:moveTo>
                    <a:pt x="6223444" y="0"/>
                  </a:moveTo>
                  <a:lnTo>
                    <a:pt x="6220409" y="0"/>
                  </a:lnTo>
                  <a:lnTo>
                    <a:pt x="6220409" y="3035"/>
                  </a:lnTo>
                  <a:lnTo>
                    <a:pt x="6223444" y="3035"/>
                  </a:lnTo>
                  <a:lnTo>
                    <a:pt x="6223444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471931"/>
            <a:ext cx="6645275" cy="791337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419735" marR="873760" indent="-229235">
              <a:lnSpc>
                <a:spcPts val="1380"/>
              </a:lnSpc>
              <a:spcBef>
                <a:spcPts val="195"/>
              </a:spcBef>
              <a:buAutoNum type="arabicPeriod" startAt="5"/>
              <a:tabLst>
                <a:tab pos="419100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17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SaaS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provider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needs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ensure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high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availability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fault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tolerance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for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its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application.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system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must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continue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operating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even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if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one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region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goes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down.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19735">
              <a:lnSpc>
                <a:spcPts val="1315"/>
              </a:lnSpc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Propose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multi-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region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deployment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strategy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cloud.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19735" marR="1564005">
              <a:lnSpc>
                <a:spcPts val="1380"/>
              </a:lnSpc>
              <a:spcBef>
                <a:spcPts val="65"/>
              </a:spcBef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Explain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how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data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replication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failover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mechanisms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should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configured.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Discuss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monitoring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alerting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strategies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for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proactive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issue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detection.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" marR="3062605" indent="38100">
              <a:lnSpc>
                <a:spcPct val="138000"/>
              </a:lnSpc>
              <a:spcBef>
                <a:spcPts val="1345"/>
              </a:spcBef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SaaS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Provider</a:t>
            </a:r>
            <a:r>
              <a:rPr sz="12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—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High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Availability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&amp;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Fault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Tolerance Multi-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Region</a:t>
            </a:r>
            <a:r>
              <a:rPr sz="12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Deployment</a:t>
            </a:r>
            <a:r>
              <a:rPr sz="12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Strategy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130810" lvl="1" indent="-229235">
              <a:lnSpc>
                <a:spcPts val="1380"/>
              </a:lnSpc>
              <a:spcBef>
                <a:spcPts val="635"/>
              </a:spcBef>
              <a:buSzPct val="83000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Deploy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application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stack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(compute,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database,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cache)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identically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at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least</a:t>
            </a:r>
            <a:r>
              <a:rPr sz="12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two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geographically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separate</a:t>
            </a:r>
            <a:r>
              <a:rPr sz="12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regions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,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using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Infrastructure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as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Code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for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consistency.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158115" lvl="1" indent="-229235">
              <a:lnSpc>
                <a:spcPts val="1380"/>
              </a:lnSpc>
              <a:spcBef>
                <a:spcPts val="600"/>
              </a:spcBef>
              <a:buSzPct val="83000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Use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active-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active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model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(both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regions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serving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live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traffic,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for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maximum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availability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load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distribution)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active-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passive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(a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standby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region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that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takes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over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on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failure,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simpler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but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with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brief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failover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window)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depending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on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cost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tolerance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consistency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requirements.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219710" lvl="1" indent="-229235">
              <a:lnSpc>
                <a:spcPts val="1380"/>
              </a:lnSpc>
              <a:spcBef>
                <a:spcPts val="605"/>
              </a:spcBef>
              <a:buSzPct val="83000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Front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regions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with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global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load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balancer/DNS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routing</a:t>
            </a:r>
            <a:r>
              <a:rPr sz="1200" b="1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(Route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53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with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health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checks,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Azure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Front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Door,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Google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Cloud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Load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Balancing)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that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directs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users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nearest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healthy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region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and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automatically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reroutes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traffic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if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region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becomes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unhealthy.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Data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Replication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Failover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392430" lvl="1" indent="-229235">
              <a:lnSpc>
                <a:spcPts val="1380"/>
              </a:lnSpc>
              <a:spcBef>
                <a:spcPts val="635"/>
              </a:spcBef>
              <a:buSzPct val="83000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Use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globally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distributed</a:t>
            </a:r>
            <a:r>
              <a:rPr sz="12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database</a:t>
            </a:r>
            <a:r>
              <a:rPr sz="12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(DynamoDB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Global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Tables,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Cosmos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DB,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Aurora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Global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Database,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Spanner)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or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configure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cross-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region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replication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for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chosen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database,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balancing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consistency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vs.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latency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(synchronous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replication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gives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stronger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consistency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but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higher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latency; asynchronous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is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faster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but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risks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small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data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loss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on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failover).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250825" lvl="1" indent="-229235">
              <a:lnSpc>
                <a:spcPts val="1380"/>
              </a:lnSpc>
              <a:spcBef>
                <a:spcPts val="600"/>
              </a:spcBef>
              <a:buSzPct val="83000"/>
              <a:buFont typeface="Symbol"/>
              <a:buChar char=""/>
              <a:tabLst>
                <a:tab pos="469900" algn="l"/>
              </a:tabLst>
            </a:pP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Implement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automated</a:t>
            </a:r>
            <a:r>
              <a:rPr sz="12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failover</a:t>
            </a:r>
            <a:r>
              <a:rPr sz="12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using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health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checks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that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detect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region-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wide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outage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redirect DNS/load-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balancer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traffic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within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seconds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minutes.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255270" lvl="1" indent="-229235">
              <a:lnSpc>
                <a:spcPts val="1380"/>
              </a:lnSpc>
              <a:spcBef>
                <a:spcPts val="600"/>
              </a:spcBef>
              <a:buSzPct val="83000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Regularly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test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failover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through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chaos</a:t>
            </a:r>
            <a:r>
              <a:rPr sz="1200" b="1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engineering</a:t>
            </a:r>
            <a:r>
              <a:rPr sz="12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practices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(e.g.,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simulating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region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outage)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to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ensure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mechanism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actually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works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under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real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conditions,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not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just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on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paper.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247015" lvl="1" indent="-229235">
              <a:lnSpc>
                <a:spcPts val="1380"/>
              </a:lnSpc>
              <a:spcBef>
                <a:spcPts val="600"/>
              </a:spcBef>
              <a:buSzPct val="83000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Keep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stateless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application</a:t>
            </a:r>
            <a:r>
              <a:rPr sz="12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tiers</a:t>
            </a:r>
            <a:r>
              <a:rPr sz="1200" b="1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so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any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instance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any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region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can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serve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any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request,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simplifying failover.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Monitoring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Alerting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386080" lvl="1" indent="-229235">
              <a:lnSpc>
                <a:spcPts val="1380"/>
              </a:lnSpc>
              <a:spcBef>
                <a:spcPts val="635"/>
              </a:spcBef>
              <a:buSzPct val="83000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Centralized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observability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stack</a:t>
            </a:r>
            <a:r>
              <a:rPr sz="12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(Prometheus/Grafana,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Datadog,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CloudWatch,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Azure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Monitor)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aggregating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metrics,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logs,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traces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from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all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regions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into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one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view.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5080" lvl="1" indent="-229235">
              <a:lnSpc>
                <a:spcPts val="1380"/>
              </a:lnSpc>
              <a:spcBef>
                <a:spcPts val="600"/>
              </a:spcBef>
              <a:buSzPct val="83000"/>
              <a:buFont typeface="Symbol"/>
              <a:buChar char=""/>
              <a:tabLst>
                <a:tab pos="469900" algn="l"/>
              </a:tabLst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Synthetic</a:t>
            </a:r>
            <a:r>
              <a:rPr sz="1200" b="1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monitoring/health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checks</a:t>
            </a:r>
            <a:r>
              <a:rPr sz="1200" b="1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continuously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probe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endpoints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from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multiple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locations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detect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degradation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before</a:t>
            </a:r>
            <a:r>
              <a:rPr sz="1200" spc="-4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users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report</a:t>
            </a:r>
            <a:r>
              <a:rPr sz="1200" spc="-4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it.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40640" lvl="1" indent="-229235">
              <a:lnSpc>
                <a:spcPts val="1380"/>
              </a:lnSpc>
              <a:spcBef>
                <a:spcPts val="600"/>
              </a:spcBef>
              <a:buSzPct val="83000"/>
              <a:buFont typeface="Symbol"/>
              <a:buChar char=""/>
              <a:tabLst>
                <a:tab pos="469900" algn="l"/>
              </a:tabLst>
            </a:pPr>
            <a:r>
              <a:rPr sz="1200" b="1" dirty="0">
                <a:latin typeface="Times New Roman" panose="02020503050405090304"/>
                <a:cs typeface="Times New Roman" panose="02020503050405090304"/>
              </a:rPr>
              <a:t>Distributed</a:t>
            </a:r>
            <a:r>
              <a:rPr sz="1200" b="1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tracing</a:t>
            </a:r>
            <a:r>
              <a:rPr sz="1200" b="1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(OpenTelemetry, X-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Ray)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pinpoint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which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service/region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causing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latency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or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errors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in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multi-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region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setup.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506095" lvl="1" indent="-229235">
              <a:lnSpc>
                <a:spcPts val="1380"/>
              </a:lnSpc>
              <a:spcBef>
                <a:spcPts val="605"/>
              </a:spcBef>
              <a:buSzPct val="83000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latin typeface="Times New Roman" panose="02020503050405090304"/>
                <a:cs typeface="Times New Roman" panose="02020503050405090304"/>
              </a:rPr>
              <a:t>Define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SLOs/SLIs</a:t>
            </a:r>
            <a:r>
              <a:rPr sz="1200" b="1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(e.g.,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99.95%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availability,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p99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latency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thresholds)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alert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when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metrics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approach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error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budget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threshold</a:t>
            </a:r>
            <a:r>
              <a:rPr sz="1200" spc="-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—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not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just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on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hard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failures.</a:t>
            </a:r>
            <a:endParaRPr sz="1200">
              <a:latin typeface="Times New Roman" panose="02020503050405090304"/>
              <a:cs typeface="Times New Roman" panose="02020503050405090304"/>
            </a:endParaRPr>
          </a:p>
          <a:p>
            <a:pPr marL="469900" marR="422275" lvl="1" indent="-229235">
              <a:lnSpc>
                <a:spcPts val="1380"/>
              </a:lnSpc>
              <a:spcBef>
                <a:spcPts val="600"/>
              </a:spcBef>
              <a:buSzPct val="83000"/>
              <a:buFont typeface="Symbol"/>
              <a:buChar char=""/>
              <a:tabLst>
                <a:tab pos="469900" algn="l"/>
              </a:tabLst>
            </a:pP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Escalation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policies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and</a:t>
            </a:r>
            <a:r>
              <a:rPr sz="1200" b="1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on-call</a:t>
            </a:r>
            <a:r>
              <a:rPr sz="1200" b="1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rotations</a:t>
            </a:r>
            <a:r>
              <a:rPr sz="1200" b="1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(PagerDuty,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Opsgenie)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ensure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alerts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reach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the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right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engineers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quickly,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with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runbooks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for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common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failure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scenarios</a:t>
            </a:r>
            <a:r>
              <a:rPr sz="1200" spc="-3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to</a:t>
            </a:r>
            <a:r>
              <a:rPr sz="1200" spc="-2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speed</a:t>
            </a:r>
            <a:r>
              <a:rPr sz="1200" spc="-3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dirty="0">
                <a:latin typeface="Times New Roman" panose="02020503050405090304"/>
                <a:cs typeface="Times New Roman" panose="02020503050405090304"/>
              </a:rPr>
              <a:t>up</a:t>
            </a:r>
            <a:r>
              <a:rPr sz="1200" spc="-20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spc="-10" dirty="0">
                <a:latin typeface="Times New Roman" panose="02020503050405090304"/>
                <a:cs typeface="Times New Roman" panose="02020503050405090304"/>
              </a:rPr>
              <a:t>resolution.</a:t>
            </a:r>
            <a:endParaRPr sz="1200">
              <a:latin typeface="Times New Roman" panose="02020503050405090304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2808" y="471931"/>
            <a:ext cx="15214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Scenario-</a:t>
            </a:r>
            <a:r>
              <a:rPr sz="1200" b="1" dirty="0">
                <a:latin typeface="Times New Roman" panose="02020503050405090304"/>
                <a:cs typeface="Times New Roman" panose="02020503050405090304"/>
              </a:rPr>
              <a:t>Based</a:t>
            </a:r>
            <a:r>
              <a:rPr sz="1200" b="1" spc="15" dirty="0">
                <a:latin typeface="Times New Roman" panose="02020503050405090304"/>
                <a:cs typeface="Times New Roman" panose="02020503050405090304"/>
              </a:rPr>
              <a:t> </a:t>
            </a:r>
            <a:r>
              <a:rPr sz="1200" b="1" spc="-10" dirty="0">
                <a:latin typeface="Times New Roman" panose="02020503050405090304"/>
                <a:cs typeface="Times New Roman" panose="02020503050405090304"/>
              </a:rPr>
              <a:t>Rubric</a:t>
            </a:r>
            <a:endParaRPr sz="1200">
              <a:latin typeface="Times New Roman" panose="02020503050405090304"/>
              <a:cs typeface="Times New Roman" panose="02020503050405090304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95299" y="894588"/>
          <a:ext cx="6605270" cy="34315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2835"/>
                <a:gridCol w="1079500"/>
                <a:gridCol w="1092835"/>
                <a:gridCol w="1079500"/>
                <a:gridCol w="1093470"/>
                <a:gridCol w="1079500"/>
              </a:tblGrid>
              <a:tr h="334010">
                <a:tc>
                  <a:txBody>
                    <a:bodyPr/>
                    <a:lstStyle/>
                    <a:p>
                      <a:pPr marL="73025">
                        <a:lnSpc>
                          <a:spcPts val="1280"/>
                        </a:lnSpc>
                      </a:pPr>
                      <a:r>
                        <a:rPr sz="1100" b="1" spc="-10" dirty="0">
                          <a:latin typeface="Times New Roman" panose="02020503050405090304"/>
                          <a:cs typeface="Times New Roman" panose="02020503050405090304"/>
                        </a:rPr>
                        <a:t>Criteria</a:t>
                      </a:r>
                      <a:endParaRPr sz="11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1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80"/>
                        </a:lnSpc>
                      </a:pPr>
                      <a:r>
                        <a:rPr sz="1100" b="1" spc="-10" dirty="0">
                          <a:latin typeface="Times New Roman" panose="02020503050405090304"/>
                          <a:cs typeface="Times New Roman" panose="02020503050405090304"/>
                        </a:rPr>
                        <a:t>Weightage</a:t>
                      </a:r>
                      <a:endParaRPr sz="11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1"/>
                    </a:solidFill>
                  </a:tcPr>
                </a:tc>
                <a:tc>
                  <a:txBody>
                    <a:bodyPr/>
                    <a:lstStyle/>
                    <a:p>
                      <a:pPr marL="73025" marR="360680">
                        <a:lnSpc>
                          <a:spcPts val="1260"/>
                        </a:lnSpc>
                        <a:spcBef>
                          <a:spcPts val="10"/>
                        </a:spcBef>
                      </a:pPr>
                      <a:r>
                        <a:rPr sz="1100" b="1" dirty="0">
                          <a:latin typeface="Times New Roman" panose="02020503050405090304"/>
                          <a:cs typeface="Times New Roman" panose="02020503050405090304"/>
                        </a:rPr>
                        <a:t>Level 4</a:t>
                      </a:r>
                      <a:r>
                        <a:rPr sz="1100" b="1" spc="-1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100" b="1" spc="-50" dirty="0">
                          <a:latin typeface="Times New Roman" panose="02020503050405090304"/>
                          <a:cs typeface="Times New Roman" panose="02020503050405090304"/>
                        </a:rPr>
                        <a:t>- </a:t>
                      </a:r>
                      <a:r>
                        <a:rPr sz="1100" b="1" spc="-20" dirty="0">
                          <a:latin typeface="Times New Roman" panose="02020503050405090304"/>
                          <a:cs typeface="Times New Roman" panose="02020503050405090304"/>
                        </a:rPr>
                        <a:t>Exemplary</a:t>
                      </a:r>
                      <a:endParaRPr sz="11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12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1"/>
                    </a:solidFill>
                  </a:tcPr>
                </a:tc>
                <a:tc>
                  <a:txBody>
                    <a:bodyPr/>
                    <a:lstStyle/>
                    <a:p>
                      <a:pPr marL="66675" marR="424180">
                        <a:lnSpc>
                          <a:spcPts val="1260"/>
                        </a:lnSpc>
                        <a:spcBef>
                          <a:spcPts val="10"/>
                        </a:spcBef>
                      </a:pPr>
                      <a:r>
                        <a:rPr sz="1100" b="1" dirty="0">
                          <a:latin typeface="Times New Roman" panose="02020503050405090304"/>
                          <a:cs typeface="Times New Roman" panose="02020503050405090304"/>
                        </a:rPr>
                        <a:t>Level 3</a:t>
                      </a:r>
                      <a:r>
                        <a:rPr sz="1100" b="1" spc="-1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100" b="1" spc="-50" dirty="0">
                          <a:latin typeface="Times New Roman" panose="02020503050405090304"/>
                          <a:cs typeface="Times New Roman" panose="02020503050405090304"/>
                        </a:rPr>
                        <a:t>- </a:t>
                      </a:r>
                      <a:r>
                        <a:rPr sz="1100" b="1" spc="-10" dirty="0">
                          <a:latin typeface="Times New Roman" panose="02020503050405090304"/>
                          <a:cs typeface="Times New Roman" panose="02020503050405090304"/>
                        </a:rPr>
                        <a:t>Proficient</a:t>
                      </a:r>
                      <a:endParaRPr sz="11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12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1"/>
                    </a:solidFill>
                  </a:tcPr>
                </a:tc>
                <a:tc>
                  <a:txBody>
                    <a:bodyPr/>
                    <a:lstStyle/>
                    <a:p>
                      <a:pPr marL="73025" marR="354965">
                        <a:lnSpc>
                          <a:spcPts val="1260"/>
                        </a:lnSpc>
                        <a:spcBef>
                          <a:spcPts val="10"/>
                        </a:spcBef>
                      </a:pPr>
                      <a:r>
                        <a:rPr sz="1100" b="1" dirty="0">
                          <a:latin typeface="Times New Roman" panose="02020503050405090304"/>
                          <a:cs typeface="Times New Roman" panose="02020503050405090304"/>
                        </a:rPr>
                        <a:t>Level 2</a:t>
                      </a:r>
                      <a:r>
                        <a:rPr sz="1100" b="1" spc="-1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100" b="1" spc="-50" dirty="0">
                          <a:latin typeface="Times New Roman" panose="02020503050405090304"/>
                          <a:cs typeface="Times New Roman" panose="02020503050405090304"/>
                        </a:rPr>
                        <a:t>- </a:t>
                      </a:r>
                      <a:r>
                        <a:rPr sz="1100" b="1" spc="-20" dirty="0">
                          <a:latin typeface="Times New Roman" panose="02020503050405090304"/>
                          <a:cs typeface="Times New Roman" panose="02020503050405090304"/>
                        </a:rPr>
                        <a:t>Developing</a:t>
                      </a:r>
                      <a:endParaRPr sz="11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12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1"/>
                    </a:solidFill>
                  </a:tcPr>
                </a:tc>
                <a:tc>
                  <a:txBody>
                    <a:bodyPr/>
                    <a:lstStyle/>
                    <a:p>
                      <a:pPr marL="66675" marR="408305">
                        <a:lnSpc>
                          <a:spcPts val="1260"/>
                        </a:lnSpc>
                        <a:spcBef>
                          <a:spcPts val="10"/>
                        </a:spcBef>
                      </a:pPr>
                      <a:r>
                        <a:rPr sz="1100" b="1" dirty="0">
                          <a:latin typeface="Times New Roman" panose="02020503050405090304"/>
                          <a:cs typeface="Times New Roman" panose="02020503050405090304"/>
                        </a:rPr>
                        <a:t>Level 1</a:t>
                      </a:r>
                      <a:r>
                        <a:rPr sz="1100" b="1" spc="-1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100" b="1" spc="-50" dirty="0">
                          <a:latin typeface="Times New Roman" panose="02020503050405090304"/>
                          <a:cs typeface="Times New Roman" panose="02020503050405090304"/>
                        </a:rPr>
                        <a:t>- </a:t>
                      </a:r>
                      <a:r>
                        <a:rPr sz="1100" b="1" spc="-20" dirty="0">
                          <a:latin typeface="Times New Roman" panose="02020503050405090304"/>
                          <a:cs typeface="Times New Roman" panose="02020503050405090304"/>
                        </a:rPr>
                        <a:t>Beginning</a:t>
                      </a:r>
                      <a:endParaRPr sz="11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12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E1F1"/>
                    </a:solidFill>
                  </a:tcPr>
                </a:tc>
              </a:tr>
              <a:tr h="808990">
                <a:tc>
                  <a:txBody>
                    <a:bodyPr/>
                    <a:lstStyle/>
                    <a:p>
                      <a:pPr marL="73025" marR="202565">
                        <a:lnSpc>
                          <a:spcPts val="1270"/>
                        </a:lnSpc>
                        <a:spcBef>
                          <a:spcPts val="50"/>
                        </a:spcBef>
                      </a:pPr>
                      <a:r>
                        <a:rPr sz="1100" spc="-10" dirty="0">
                          <a:latin typeface="Times New Roman" panose="02020503050405090304"/>
                          <a:cs typeface="Times New Roman" panose="02020503050405090304"/>
                        </a:rPr>
                        <a:t>Understanding </a:t>
                      </a:r>
                      <a:r>
                        <a:rPr sz="1100" dirty="0">
                          <a:latin typeface="Times New Roman" panose="02020503050405090304"/>
                          <a:cs typeface="Times New Roman" panose="02020503050405090304"/>
                        </a:rPr>
                        <a:t>of </a:t>
                      </a:r>
                      <a:r>
                        <a:rPr sz="1100" spc="-10" dirty="0">
                          <a:latin typeface="Times New Roman" panose="02020503050405090304"/>
                          <a:cs typeface="Times New Roman" panose="02020503050405090304"/>
                        </a:rPr>
                        <a:t>Scenario</a:t>
                      </a:r>
                      <a:endParaRPr sz="11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63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65"/>
                        </a:lnSpc>
                      </a:pPr>
                      <a:r>
                        <a:rPr sz="1100" spc="-25" dirty="0">
                          <a:latin typeface="Times New Roman" panose="02020503050405090304"/>
                          <a:cs typeface="Times New Roman" panose="02020503050405090304"/>
                        </a:rPr>
                        <a:t>20%</a:t>
                      </a:r>
                      <a:endParaRPr sz="11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 marR="76200">
                        <a:lnSpc>
                          <a:spcPct val="94000"/>
                        </a:lnSpc>
                        <a:spcBef>
                          <a:spcPts val="45"/>
                        </a:spcBef>
                      </a:pPr>
                      <a:r>
                        <a:rPr sz="1100" spc="-10" dirty="0">
                          <a:latin typeface="Times New Roman" panose="02020503050405090304"/>
                          <a:cs typeface="Times New Roman" panose="02020503050405090304"/>
                        </a:rPr>
                        <a:t>Demonstrates complete understanding</a:t>
                      </a:r>
                      <a:r>
                        <a:rPr sz="1100" spc="3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100" spc="-25" dirty="0">
                          <a:latin typeface="Times New Roman" panose="02020503050405090304"/>
                          <a:cs typeface="Times New Roman" panose="02020503050405090304"/>
                        </a:rPr>
                        <a:t>of </a:t>
                      </a:r>
                      <a:r>
                        <a:rPr sz="1100" dirty="0">
                          <a:latin typeface="Times New Roman" panose="02020503050405090304"/>
                          <a:cs typeface="Times New Roman" panose="02020503050405090304"/>
                        </a:rPr>
                        <a:t>the</a:t>
                      </a:r>
                      <a:r>
                        <a:rPr sz="1100" spc="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100" spc="-10" dirty="0">
                          <a:latin typeface="Times New Roman" panose="02020503050405090304"/>
                          <a:cs typeface="Times New Roman" panose="02020503050405090304"/>
                        </a:rPr>
                        <a:t>scenario context</a:t>
                      </a:r>
                      <a:endParaRPr sz="11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57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 marR="113030">
                        <a:lnSpc>
                          <a:spcPct val="96000"/>
                        </a:lnSpc>
                        <a:spcBef>
                          <a:spcPts val="20"/>
                        </a:spcBef>
                      </a:pPr>
                      <a:r>
                        <a:rPr sz="1100" spc="-20" dirty="0">
                          <a:latin typeface="Times New Roman" panose="02020503050405090304"/>
                          <a:cs typeface="Times New Roman" panose="02020503050405090304"/>
                        </a:rPr>
                        <a:t>Good </a:t>
                      </a:r>
                      <a:r>
                        <a:rPr sz="1100" spc="-10" dirty="0">
                          <a:latin typeface="Times New Roman" panose="02020503050405090304"/>
                          <a:cs typeface="Times New Roman" panose="02020503050405090304"/>
                        </a:rPr>
                        <a:t>understanding with</a:t>
                      </a:r>
                      <a:r>
                        <a:rPr sz="1100" spc="-6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100" dirty="0">
                          <a:latin typeface="Times New Roman" panose="02020503050405090304"/>
                          <a:cs typeface="Times New Roman" panose="02020503050405090304"/>
                        </a:rPr>
                        <a:t>minor</a:t>
                      </a:r>
                      <a:r>
                        <a:rPr sz="1100" spc="-5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100" spc="-20" dirty="0">
                          <a:latin typeface="Times New Roman" panose="02020503050405090304"/>
                          <a:cs typeface="Times New Roman" panose="02020503050405090304"/>
                        </a:rPr>
                        <a:t>gaps</a:t>
                      </a:r>
                      <a:endParaRPr sz="11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25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 marR="233045">
                        <a:lnSpc>
                          <a:spcPts val="1270"/>
                        </a:lnSpc>
                        <a:spcBef>
                          <a:spcPts val="50"/>
                        </a:spcBef>
                      </a:pPr>
                      <a:r>
                        <a:rPr sz="1100" spc="-10" dirty="0">
                          <a:latin typeface="Times New Roman" panose="02020503050405090304"/>
                          <a:cs typeface="Times New Roman" panose="02020503050405090304"/>
                        </a:rPr>
                        <a:t>Partial understanding</a:t>
                      </a:r>
                      <a:endParaRPr sz="11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63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 marR="193675">
                        <a:lnSpc>
                          <a:spcPct val="96000"/>
                        </a:lnSpc>
                        <a:spcBef>
                          <a:spcPts val="20"/>
                        </a:spcBef>
                      </a:pPr>
                      <a:r>
                        <a:rPr sz="1100" dirty="0">
                          <a:latin typeface="Times New Roman" panose="02020503050405090304"/>
                          <a:cs typeface="Times New Roman" panose="02020503050405090304"/>
                        </a:rPr>
                        <a:t>Fails </a:t>
                      </a:r>
                      <a:r>
                        <a:rPr sz="1100" spc="-25" dirty="0">
                          <a:latin typeface="Times New Roman" panose="02020503050405090304"/>
                          <a:cs typeface="Times New Roman" panose="02020503050405090304"/>
                        </a:rPr>
                        <a:t>to </a:t>
                      </a:r>
                      <a:r>
                        <a:rPr sz="1100" spc="-10" dirty="0">
                          <a:latin typeface="Times New Roman" panose="02020503050405090304"/>
                          <a:cs typeface="Times New Roman" panose="02020503050405090304"/>
                        </a:rPr>
                        <a:t>understand</a:t>
                      </a:r>
                      <a:r>
                        <a:rPr sz="1100" spc="1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100" spc="-25" dirty="0">
                          <a:latin typeface="Times New Roman" panose="02020503050405090304"/>
                          <a:cs typeface="Times New Roman" panose="02020503050405090304"/>
                        </a:rPr>
                        <a:t>the </a:t>
                      </a:r>
                      <a:r>
                        <a:rPr sz="1100" spc="-10" dirty="0">
                          <a:latin typeface="Times New Roman" panose="02020503050405090304"/>
                          <a:cs typeface="Times New Roman" panose="02020503050405090304"/>
                        </a:rPr>
                        <a:t>scenario</a:t>
                      </a:r>
                      <a:endParaRPr sz="11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25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3395">
                <a:tc>
                  <a:txBody>
                    <a:bodyPr/>
                    <a:lstStyle/>
                    <a:p>
                      <a:pPr marL="73025" marR="116205">
                        <a:lnSpc>
                          <a:spcPts val="1260"/>
                        </a:lnSpc>
                        <a:spcBef>
                          <a:spcPts val="70"/>
                        </a:spcBef>
                      </a:pPr>
                      <a:r>
                        <a:rPr sz="1100" spc="-10" dirty="0">
                          <a:latin typeface="Times New Roman" panose="02020503050405090304"/>
                          <a:cs typeface="Times New Roman" panose="02020503050405090304"/>
                        </a:rPr>
                        <a:t>Identification</a:t>
                      </a:r>
                      <a:r>
                        <a:rPr sz="1100" spc="6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100" spc="-25" dirty="0">
                          <a:latin typeface="Times New Roman" panose="02020503050405090304"/>
                          <a:cs typeface="Times New Roman" panose="02020503050405090304"/>
                        </a:rPr>
                        <a:t>of </a:t>
                      </a:r>
                      <a:r>
                        <a:rPr sz="1100" dirty="0">
                          <a:latin typeface="Times New Roman" panose="02020503050405090304"/>
                          <a:cs typeface="Times New Roman" panose="02020503050405090304"/>
                        </a:rPr>
                        <a:t>Risks</a:t>
                      </a:r>
                      <a:r>
                        <a:rPr sz="1100" spc="-1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100" dirty="0">
                          <a:latin typeface="Times New Roman" panose="02020503050405090304"/>
                          <a:cs typeface="Times New Roman" panose="02020503050405090304"/>
                        </a:rPr>
                        <a:t>/</a:t>
                      </a:r>
                      <a:r>
                        <a:rPr sz="1100" spc="-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100" spc="-10" dirty="0">
                          <a:latin typeface="Times New Roman" panose="02020503050405090304"/>
                          <a:cs typeface="Times New Roman" panose="02020503050405090304"/>
                        </a:rPr>
                        <a:t>Issues</a:t>
                      </a:r>
                      <a:endParaRPr sz="11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90"/>
                        </a:lnSpc>
                      </a:pPr>
                      <a:r>
                        <a:rPr sz="1100" spc="-25" dirty="0">
                          <a:latin typeface="Times New Roman" panose="02020503050405090304"/>
                          <a:cs typeface="Times New Roman" panose="02020503050405090304"/>
                        </a:rPr>
                        <a:t>20%</a:t>
                      </a:r>
                      <a:endParaRPr sz="11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 marR="307975" algn="just">
                        <a:lnSpc>
                          <a:spcPts val="1260"/>
                        </a:lnSpc>
                        <a:spcBef>
                          <a:spcPts val="5"/>
                        </a:spcBef>
                      </a:pPr>
                      <a:r>
                        <a:rPr sz="1100" dirty="0">
                          <a:latin typeface="Times New Roman" panose="02020503050405090304"/>
                          <a:cs typeface="Times New Roman" panose="02020503050405090304"/>
                        </a:rPr>
                        <a:t>Identifies </a:t>
                      </a:r>
                      <a:r>
                        <a:rPr sz="1100" spc="-25" dirty="0">
                          <a:latin typeface="Times New Roman" panose="02020503050405090304"/>
                          <a:cs typeface="Times New Roman" panose="02020503050405090304"/>
                        </a:rPr>
                        <a:t>all </a:t>
                      </a:r>
                      <a:r>
                        <a:rPr sz="1100" dirty="0">
                          <a:latin typeface="Times New Roman" panose="02020503050405090304"/>
                          <a:cs typeface="Times New Roman" panose="02020503050405090304"/>
                        </a:rPr>
                        <a:t>major</a:t>
                      </a:r>
                      <a:r>
                        <a:rPr sz="1100" spc="6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100" spc="-10" dirty="0">
                          <a:latin typeface="Times New Roman" panose="02020503050405090304"/>
                          <a:cs typeface="Times New Roman" panose="02020503050405090304"/>
                        </a:rPr>
                        <a:t>issues correctly</a:t>
                      </a:r>
                      <a:endParaRPr sz="11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 marR="177165">
                        <a:lnSpc>
                          <a:spcPts val="1260"/>
                        </a:lnSpc>
                        <a:spcBef>
                          <a:spcPts val="70"/>
                        </a:spcBef>
                      </a:pPr>
                      <a:r>
                        <a:rPr sz="1100" dirty="0">
                          <a:latin typeface="Times New Roman" panose="02020503050405090304"/>
                          <a:cs typeface="Times New Roman" panose="02020503050405090304"/>
                        </a:rPr>
                        <a:t>Identifies</a:t>
                      </a:r>
                      <a:r>
                        <a:rPr sz="1100" spc="-7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100" spc="-20" dirty="0">
                          <a:latin typeface="Times New Roman" panose="02020503050405090304"/>
                          <a:cs typeface="Times New Roman" panose="02020503050405090304"/>
                        </a:rPr>
                        <a:t>most </a:t>
                      </a:r>
                      <a:r>
                        <a:rPr sz="1100" spc="-10" dirty="0">
                          <a:latin typeface="Times New Roman" panose="02020503050405090304"/>
                          <a:cs typeface="Times New Roman" panose="02020503050405090304"/>
                        </a:rPr>
                        <a:t>issues</a:t>
                      </a:r>
                      <a:endParaRPr sz="11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 marR="262255">
                        <a:lnSpc>
                          <a:spcPts val="1260"/>
                        </a:lnSpc>
                        <a:spcBef>
                          <a:spcPts val="70"/>
                        </a:spcBef>
                      </a:pPr>
                      <a:r>
                        <a:rPr sz="1100" spc="-10" dirty="0">
                          <a:latin typeface="Times New Roman" panose="02020503050405090304"/>
                          <a:cs typeface="Times New Roman" panose="02020503050405090304"/>
                        </a:rPr>
                        <a:t>Limited</a:t>
                      </a:r>
                      <a:r>
                        <a:rPr sz="1100" spc="-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100" spc="-10" dirty="0">
                          <a:latin typeface="Times New Roman" panose="02020503050405090304"/>
                          <a:cs typeface="Times New Roman" panose="02020503050405090304"/>
                        </a:rPr>
                        <a:t>issue identification</a:t>
                      </a:r>
                      <a:endParaRPr sz="11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 marR="262255">
                        <a:lnSpc>
                          <a:spcPts val="1260"/>
                        </a:lnSpc>
                        <a:spcBef>
                          <a:spcPts val="70"/>
                        </a:spcBef>
                      </a:pPr>
                      <a:r>
                        <a:rPr sz="1100" dirty="0">
                          <a:latin typeface="Times New Roman" panose="02020503050405090304"/>
                          <a:cs typeface="Times New Roman" panose="02020503050405090304"/>
                        </a:rPr>
                        <a:t>Misses</a:t>
                      </a:r>
                      <a:r>
                        <a:rPr sz="1100" spc="-7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100" spc="-10" dirty="0">
                          <a:latin typeface="Times New Roman" panose="02020503050405090304"/>
                          <a:cs typeface="Times New Roman" panose="02020503050405090304"/>
                        </a:rPr>
                        <a:t>major issues</a:t>
                      </a:r>
                      <a:endParaRPr sz="11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49605">
                <a:tc>
                  <a:txBody>
                    <a:bodyPr/>
                    <a:lstStyle/>
                    <a:p>
                      <a:pPr marL="73025" marR="208915">
                        <a:lnSpc>
                          <a:spcPts val="1270"/>
                        </a:lnSpc>
                        <a:spcBef>
                          <a:spcPts val="50"/>
                        </a:spcBef>
                      </a:pPr>
                      <a:r>
                        <a:rPr sz="1100" spc="-10" dirty="0">
                          <a:latin typeface="Times New Roman" panose="02020503050405090304"/>
                          <a:cs typeface="Times New Roman" panose="02020503050405090304"/>
                        </a:rPr>
                        <a:t>Application</a:t>
                      </a:r>
                      <a:r>
                        <a:rPr sz="1100" spc="2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100" spc="-35" dirty="0">
                          <a:latin typeface="Times New Roman" panose="02020503050405090304"/>
                          <a:cs typeface="Times New Roman" panose="02020503050405090304"/>
                        </a:rPr>
                        <a:t>of </a:t>
                      </a:r>
                      <a:r>
                        <a:rPr sz="1100" spc="-10" dirty="0">
                          <a:latin typeface="Times New Roman" panose="02020503050405090304"/>
                          <a:cs typeface="Times New Roman" panose="02020503050405090304"/>
                        </a:rPr>
                        <a:t>Concepts</a:t>
                      </a:r>
                      <a:endParaRPr sz="11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63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65"/>
                        </a:lnSpc>
                      </a:pPr>
                      <a:r>
                        <a:rPr sz="1100" spc="-25" dirty="0">
                          <a:latin typeface="Times New Roman" panose="02020503050405090304"/>
                          <a:cs typeface="Times New Roman" panose="02020503050405090304"/>
                        </a:rPr>
                        <a:t>25%</a:t>
                      </a:r>
                      <a:endParaRPr sz="11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 marR="281305">
                        <a:lnSpc>
                          <a:spcPct val="93000"/>
                        </a:lnSpc>
                        <a:spcBef>
                          <a:spcPts val="60"/>
                        </a:spcBef>
                      </a:pPr>
                      <a:r>
                        <a:rPr sz="1100" spc="-10" dirty="0">
                          <a:latin typeface="Times New Roman" panose="02020503050405090304"/>
                          <a:cs typeface="Times New Roman" panose="02020503050405090304"/>
                        </a:rPr>
                        <a:t>Applies virtualization concepts effectively</a:t>
                      </a:r>
                      <a:endParaRPr sz="11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 marR="154305">
                        <a:lnSpc>
                          <a:spcPct val="96000"/>
                        </a:lnSpc>
                        <a:spcBef>
                          <a:spcPts val="20"/>
                        </a:spcBef>
                      </a:pPr>
                      <a:r>
                        <a:rPr sz="1100" spc="-10" dirty="0">
                          <a:latin typeface="Times New Roman" panose="02020503050405090304"/>
                          <a:cs typeface="Times New Roman" panose="02020503050405090304"/>
                        </a:rPr>
                        <a:t>Applies </a:t>
                      </a:r>
                      <a:r>
                        <a:rPr sz="1100" dirty="0">
                          <a:latin typeface="Times New Roman" panose="02020503050405090304"/>
                          <a:cs typeface="Times New Roman" panose="02020503050405090304"/>
                        </a:rPr>
                        <a:t>concepts </a:t>
                      </a:r>
                      <a:r>
                        <a:rPr sz="1100" spc="-20" dirty="0">
                          <a:latin typeface="Times New Roman" panose="02020503050405090304"/>
                          <a:cs typeface="Times New Roman" panose="02020503050405090304"/>
                        </a:rPr>
                        <a:t>with </a:t>
                      </a:r>
                      <a:r>
                        <a:rPr sz="1100" spc="-10" dirty="0">
                          <a:latin typeface="Times New Roman" panose="02020503050405090304"/>
                          <a:cs typeface="Times New Roman" panose="02020503050405090304"/>
                        </a:rPr>
                        <a:t>minor</a:t>
                      </a:r>
                      <a:r>
                        <a:rPr sz="1100" spc="-3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100" spc="-10" dirty="0">
                          <a:latin typeface="Times New Roman" panose="02020503050405090304"/>
                          <a:cs typeface="Times New Roman" panose="02020503050405090304"/>
                        </a:rPr>
                        <a:t>mistakes</a:t>
                      </a:r>
                      <a:endParaRPr sz="11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25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 marR="124460">
                        <a:lnSpc>
                          <a:spcPts val="1270"/>
                        </a:lnSpc>
                        <a:spcBef>
                          <a:spcPts val="50"/>
                        </a:spcBef>
                      </a:pPr>
                      <a:r>
                        <a:rPr sz="1100" dirty="0">
                          <a:latin typeface="Times New Roman" panose="02020503050405090304"/>
                          <a:cs typeface="Times New Roman" panose="02020503050405090304"/>
                        </a:rPr>
                        <a:t>Partially</a:t>
                      </a:r>
                      <a:r>
                        <a:rPr sz="1100" spc="-8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100" spc="-10" dirty="0">
                          <a:latin typeface="Times New Roman" panose="02020503050405090304"/>
                          <a:cs typeface="Times New Roman" panose="02020503050405090304"/>
                        </a:rPr>
                        <a:t>correct application</a:t>
                      </a:r>
                      <a:endParaRPr sz="11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63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 marR="394335">
                        <a:lnSpc>
                          <a:spcPts val="1270"/>
                        </a:lnSpc>
                        <a:spcBef>
                          <a:spcPts val="50"/>
                        </a:spcBef>
                      </a:pPr>
                      <a:r>
                        <a:rPr sz="1100" spc="-20" dirty="0">
                          <a:latin typeface="Times New Roman" panose="02020503050405090304"/>
                          <a:cs typeface="Times New Roman" panose="02020503050405090304"/>
                        </a:rPr>
                        <a:t>Weak </a:t>
                      </a:r>
                      <a:r>
                        <a:rPr sz="1100" spc="-10" dirty="0">
                          <a:latin typeface="Times New Roman" panose="02020503050405090304"/>
                          <a:cs typeface="Times New Roman" panose="02020503050405090304"/>
                        </a:rPr>
                        <a:t>application</a:t>
                      </a:r>
                      <a:endParaRPr sz="11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63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52145">
                <a:tc>
                  <a:txBody>
                    <a:bodyPr/>
                    <a:lstStyle/>
                    <a:p>
                      <a:pPr marL="73025" marR="342900">
                        <a:lnSpc>
                          <a:spcPts val="1270"/>
                        </a:lnSpc>
                        <a:spcBef>
                          <a:spcPts val="50"/>
                        </a:spcBef>
                      </a:pPr>
                      <a:r>
                        <a:rPr sz="1100" spc="-10" dirty="0">
                          <a:latin typeface="Times New Roman" panose="02020503050405090304"/>
                          <a:cs typeface="Times New Roman" panose="02020503050405090304"/>
                        </a:rPr>
                        <a:t>Decision Justification</a:t>
                      </a:r>
                      <a:endParaRPr sz="11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63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75"/>
                        </a:lnSpc>
                      </a:pPr>
                      <a:r>
                        <a:rPr sz="1100" spc="-25" dirty="0">
                          <a:latin typeface="Times New Roman" panose="02020503050405090304"/>
                          <a:cs typeface="Times New Roman" panose="02020503050405090304"/>
                        </a:rPr>
                        <a:t>20%</a:t>
                      </a:r>
                      <a:endParaRPr sz="11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 marR="168910">
                        <a:lnSpc>
                          <a:spcPts val="1260"/>
                        </a:lnSpc>
                      </a:pPr>
                      <a:r>
                        <a:rPr sz="1100" dirty="0">
                          <a:latin typeface="Times New Roman" panose="02020503050405090304"/>
                          <a:cs typeface="Times New Roman" panose="02020503050405090304"/>
                        </a:rPr>
                        <a:t>Decisions</a:t>
                      </a:r>
                      <a:r>
                        <a:rPr sz="1100" spc="-4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100" spc="-25" dirty="0">
                          <a:latin typeface="Times New Roman" panose="02020503050405090304"/>
                          <a:cs typeface="Times New Roman" panose="02020503050405090304"/>
                        </a:rPr>
                        <a:t>are </a:t>
                      </a:r>
                      <a:r>
                        <a:rPr sz="1100" dirty="0">
                          <a:latin typeface="Times New Roman" panose="02020503050405090304"/>
                          <a:cs typeface="Times New Roman" panose="02020503050405090304"/>
                        </a:rPr>
                        <a:t>well</a:t>
                      </a:r>
                      <a:r>
                        <a:rPr sz="1100" spc="-10" dirty="0">
                          <a:latin typeface="Times New Roman" panose="02020503050405090304"/>
                          <a:cs typeface="Times New Roman" panose="02020503050405090304"/>
                        </a:rPr>
                        <a:t> justified </a:t>
                      </a:r>
                      <a:r>
                        <a:rPr sz="1100" dirty="0">
                          <a:latin typeface="Times New Roman" panose="02020503050405090304"/>
                          <a:cs typeface="Times New Roman" panose="02020503050405090304"/>
                        </a:rPr>
                        <a:t>and</a:t>
                      </a:r>
                      <a:r>
                        <a:rPr sz="1100" spc="-7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100" spc="-10" dirty="0">
                          <a:latin typeface="Times New Roman" panose="02020503050405090304"/>
                          <a:cs typeface="Times New Roman" panose="02020503050405090304"/>
                        </a:rPr>
                        <a:t>technically strong</a:t>
                      </a:r>
                      <a:endParaRPr sz="11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 marR="350520">
                        <a:lnSpc>
                          <a:spcPts val="1270"/>
                        </a:lnSpc>
                        <a:spcBef>
                          <a:spcPts val="50"/>
                        </a:spcBef>
                      </a:pPr>
                      <a:r>
                        <a:rPr sz="1100" spc="-10" dirty="0">
                          <a:latin typeface="Times New Roman" panose="02020503050405090304"/>
                          <a:cs typeface="Times New Roman" panose="02020503050405090304"/>
                        </a:rPr>
                        <a:t>Reasonable justification</a:t>
                      </a:r>
                      <a:endParaRPr sz="11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63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 marR="358140">
                        <a:lnSpc>
                          <a:spcPts val="1270"/>
                        </a:lnSpc>
                        <a:spcBef>
                          <a:spcPts val="50"/>
                        </a:spcBef>
                      </a:pPr>
                      <a:r>
                        <a:rPr sz="1100" spc="-20" dirty="0">
                          <a:latin typeface="Times New Roman" panose="02020503050405090304"/>
                          <a:cs typeface="Times New Roman" panose="02020503050405090304"/>
                        </a:rPr>
                        <a:t>Weak </a:t>
                      </a:r>
                      <a:r>
                        <a:rPr sz="1100" spc="-10" dirty="0">
                          <a:latin typeface="Times New Roman" panose="02020503050405090304"/>
                          <a:cs typeface="Times New Roman" panose="02020503050405090304"/>
                        </a:rPr>
                        <a:t>justification</a:t>
                      </a:r>
                      <a:endParaRPr sz="11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63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 marR="349885">
                        <a:lnSpc>
                          <a:spcPts val="1270"/>
                        </a:lnSpc>
                        <a:spcBef>
                          <a:spcPts val="50"/>
                        </a:spcBef>
                      </a:pPr>
                      <a:r>
                        <a:rPr sz="1100" dirty="0">
                          <a:latin typeface="Times New Roman" panose="02020503050405090304"/>
                          <a:cs typeface="Times New Roman" panose="02020503050405090304"/>
                        </a:rPr>
                        <a:t>No</a:t>
                      </a:r>
                      <a:r>
                        <a:rPr sz="1100" spc="-2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100" spc="-10" dirty="0">
                          <a:latin typeface="Times New Roman" panose="02020503050405090304"/>
                          <a:cs typeface="Times New Roman" panose="02020503050405090304"/>
                        </a:rPr>
                        <a:t>useful justification</a:t>
                      </a:r>
                      <a:endParaRPr sz="11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63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3395">
                <a:tc>
                  <a:txBody>
                    <a:bodyPr/>
                    <a:lstStyle/>
                    <a:p>
                      <a:pPr marL="73025">
                        <a:lnSpc>
                          <a:spcPts val="1275"/>
                        </a:lnSpc>
                      </a:pPr>
                      <a:r>
                        <a:rPr sz="1100" spc="-10" dirty="0">
                          <a:latin typeface="Times New Roman" panose="02020503050405090304"/>
                          <a:cs typeface="Times New Roman" panose="02020503050405090304"/>
                        </a:rPr>
                        <a:t>Clarity</a:t>
                      </a:r>
                      <a:endParaRPr sz="11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75"/>
                        </a:lnSpc>
                      </a:pPr>
                      <a:r>
                        <a:rPr sz="1100" spc="-25" dirty="0">
                          <a:latin typeface="Times New Roman" panose="02020503050405090304"/>
                          <a:cs typeface="Times New Roman" panose="02020503050405090304"/>
                        </a:rPr>
                        <a:t>15%</a:t>
                      </a:r>
                      <a:endParaRPr sz="11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ts val="1250"/>
                        </a:lnSpc>
                      </a:pPr>
                      <a:r>
                        <a:rPr sz="1100" dirty="0">
                          <a:latin typeface="Times New Roman" panose="02020503050405090304"/>
                          <a:cs typeface="Times New Roman" panose="02020503050405090304"/>
                        </a:rPr>
                        <a:t>Clear</a:t>
                      </a:r>
                      <a:r>
                        <a:rPr sz="1100" spc="-3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100" spc="-25" dirty="0">
                          <a:latin typeface="Times New Roman" panose="02020503050405090304"/>
                          <a:cs typeface="Times New Roman" panose="02020503050405090304"/>
                        </a:rPr>
                        <a:t>and</a:t>
                      </a:r>
                      <a:endParaRPr sz="1100">
                        <a:latin typeface="Times New Roman" panose="02020503050405090304"/>
                        <a:cs typeface="Times New Roman" panose="02020503050405090304"/>
                      </a:endParaRPr>
                    </a:p>
                    <a:p>
                      <a:pPr marL="73025" marR="188595">
                        <a:lnSpc>
                          <a:spcPts val="1270"/>
                        </a:lnSpc>
                      </a:pPr>
                      <a:r>
                        <a:rPr sz="1100" spc="-20" dirty="0">
                          <a:latin typeface="Times New Roman" panose="02020503050405090304"/>
                          <a:cs typeface="Times New Roman" panose="02020503050405090304"/>
                        </a:rPr>
                        <a:t>well-</a:t>
                      </a:r>
                      <a:r>
                        <a:rPr sz="1100" spc="-10" dirty="0">
                          <a:latin typeface="Times New Roman" panose="02020503050405090304"/>
                          <a:cs typeface="Times New Roman" panose="02020503050405090304"/>
                        </a:rPr>
                        <a:t>organized response</a:t>
                      </a:r>
                      <a:endParaRPr sz="11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75"/>
                        </a:lnSpc>
                      </a:pPr>
                      <a:r>
                        <a:rPr sz="1100" dirty="0">
                          <a:latin typeface="Times New Roman" panose="02020503050405090304"/>
                          <a:cs typeface="Times New Roman" panose="02020503050405090304"/>
                        </a:rPr>
                        <a:t>Generally</a:t>
                      </a:r>
                      <a:r>
                        <a:rPr sz="1100" spc="-70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100" spc="-20" dirty="0">
                          <a:latin typeface="Times New Roman" panose="02020503050405090304"/>
                          <a:cs typeface="Times New Roman" panose="02020503050405090304"/>
                        </a:rPr>
                        <a:t>clear</a:t>
                      </a:r>
                      <a:endParaRPr sz="11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 marR="430530">
                        <a:lnSpc>
                          <a:spcPts val="1260"/>
                        </a:lnSpc>
                        <a:spcBef>
                          <a:spcPts val="70"/>
                        </a:spcBef>
                      </a:pPr>
                      <a:r>
                        <a:rPr sz="1100" spc="-20" dirty="0">
                          <a:latin typeface="Times New Roman" panose="02020503050405090304"/>
                          <a:cs typeface="Times New Roman" panose="02020503050405090304"/>
                        </a:rPr>
                        <a:t>Somewhat </a:t>
                      </a:r>
                      <a:r>
                        <a:rPr sz="1100" spc="-10" dirty="0">
                          <a:latin typeface="Times New Roman" panose="02020503050405090304"/>
                          <a:cs typeface="Times New Roman" panose="02020503050405090304"/>
                        </a:rPr>
                        <a:t>unclear</a:t>
                      </a:r>
                      <a:endParaRPr sz="11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75"/>
                        </a:lnSpc>
                      </a:pPr>
                      <a:r>
                        <a:rPr sz="1100" dirty="0">
                          <a:latin typeface="Times New Roman" panose="02020503050405090304"/>
                          <a:cs typeface="Times New Roman" panose="02020503050405090304"/>
                        </a:rPr>
                        <a:t>Poorly</a:t>
                      </a:r>
                      <a:r>
                        <a:rPr sz="1100" spc="-45" dirty="0">
                          <a:latin typeface="Times New Roman" panose="02020503050405090304"/>
                          <a:cs typeface="Times New Roman" panose="02020503050405090304"/>
                        </a:rPr>
                        <a:t> </a:t>
                      </a:r>
                      <a:r>
                        <a:rPr sz="1100" spc="-10" dirty="0">
                          <a:latin typeface="Times New Roman" panose="02020503050405090304"/>
                          <a:cs typeface="Times New Roman" panose="02020503050405090304"/>
                        </a:rPr>
                        <a:t>presented</a:t>
                      </a:r>
                      <a:endParaRPr sz="1100">
                        <a:latin typeface="Times New Roman" panose="02020503050405090304"/>
                        <a:cs typeface="Times New Roman" panose="0202050305040509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15982</Words>
  <Application>WPS Presentation</Application>
  <PresentationFormat>On-screen Show (4:3)</PresentationFormat>
  <Paragraphs>236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Arial</vt:lpstr>
      <vt:lpstr>SimSun</vt:lpstr>
      <vt:lpstr>Wingdings</vt:lpstr>
      <vt:lpstr>Times New Roman</vt:lpstr>
      <vt:lpstr>Symbol</vt:lpstr>
      <vt:lpstr>Kingsoft Sign</vt:lpstr>
      <vt:lpstr>Microsoft YaHei</vt:lpstr>
      <vt:lpstr>汉仪旗黑</vt:lpstr>
      <vt:lpstr>Arial Unicode MS</vt:lpstr>
      <vt:lpstr>Calibri</vt:lpstr>
      <vt:lpstr>Helvetica Neue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CSA15_CO2_AT2 - Scenario-Based.docx</dc:title>
  <dc:creator>jasmitha R</dc:creator>
  <cp:lastModifiedBy>divya.k</cp:lastModifiedBy>
  <cp:revision>1</cp:revision>
  <dcterms:created xsi:type="dcterms:W3CDTF">2026-08-10T04:38:47Z</dcterms:created>
  <dcterms:modified xsi:type="dcterms:W3CDTF">2026-08-10T04:38:47Z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2026-08-05T05:30:00Z</vt:filetime>
  </property>
  <property fmtid="{D5CDD505-2E9C-101B-9397-08002B2CF9AE}" pid="4" name="Creator">
    <vt:lpwstr>Microsoft® Word 2024</vt:lpwstr>
  </property>
  <property fmtid="{D5CDD505-2E9C-101B-9397-08002B2CF9AE}" pid="5" name="LastSaved">
    <vt:filetime>2026-08-10T05:30:00Z</vt:filetime>
  </property>
  <property fmtid="{D5CDD505-2E9C-101B-9397-08002B2CF9AE}" pid="6" name="Producer">
    <vt:lpwstr>Microsoft® Word 2024</vt:lpwstr>
  </property>
  <property fmtid="{D5CDD505-2E9C-101B-9397-08002B2CF9AE}" pid="7" name="ICV">
    <vt:lpwstr>0D6C1B284807C5ACD755796A407583D8_43</vt:lpwstr>
  </property>
  <property fmtid="{D5CDD505-2E9C-101B-9397-08002B2CF9AE}" pid="8" name="KSOProductBuildVer">
    <vt:lpwstr>1033-12.1.26015.26015</vt:lpwstr>
  </property>
</Properties>
</file>