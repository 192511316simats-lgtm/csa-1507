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jpe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6" Type="http://schemas.openxmlformats.org/officeDocument/2006/relationships/slideLayout" Target="../slideLayouts/slideLayout5.xml"/><Relationship Id="rId25" Type="http://schemas.openxmlformats.org/officeDocument/2006/relationships/image" Target="../media/image33.png"/><Relationship Id="rId24" Type="http://schemas.openxmlformats.org/officeDocument/2006/relationships/image" Target="../media/image32.png"/><Relationship Id="rId23" Type="http://schemas.openxmlformats.org/officeDocument/2006/relationships/image" Target="../media/image31.png"/><Relationship Id="rId22" Type="http://schemas.openxmlformats.org/officeDocument/2006/relationships/image" Target="../media/image30.png"/><Relationship Id="rId21" Type="http://schemas.openxmlformats.org/officeDocument/2006/relationships/image" Target="../media/image29.png"/><Relationship Id="rId20" Type="http://schemas.openxmlformats.org/officeDocument/2006/relationships/image" Target="../media/image28.png"/><Relationship Id="rId2" Type="http://schemas.openxmlformats.org/officeDocument/2006/relationships/image" Target="../media/image10.png"/><Relationship Id="rId19" Type="http://schemas.openxmlformats.org/officeDocument/2006/relationships/image" Target="../media/image27.png"/><Relationship Id="rId18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24.jpeg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jpe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1491" y="889761"/>
            <a:ext cx="2768600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1435" algn="ctr">
              <a:lnSpc>
                <a:spcPts val="1770"/>
              </a:lnSpc>
              <a:spcBef>
                <a:spcPts val="100"/>
              </a:spcBef>
            </a:pPr>
            <a:r>
              <a:rPr sz="1500" b="1" dirty="0">
                <a:latin typeface="Times New Roman" panose="02020503050405090304"/>
                <a:cs typeface="Times New Roman" panose="02020503050405090304"/>
              </a:rPr>
              <a:t>SIMATS</a:t>
            </a:r>
            <a:r>
              <a:rPr sz="1500" b="1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500" b="1" spc="-10" dirty="0">
                <a:latin typeface="Times New Roman" panose="02020503050405090304"/>
                <a:cs typeface="Times New Roman" panose="02020503050405090304"/>
              </a:rPr>
              <a:t>ENGINEERING</a:t>
            </a: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R="52705" algn="ctr">
              <a:lnSpc>
                <a:spcPts val="1410"/>
              </a:lnSpc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ASSESSMENT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TOOL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1: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Experiments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algn="ctr">
              <a:lnSpc>
                <a:spcPts val="1355"/>
              </a:lnSpc>
              <a:spcBef>
                <a:spcPts val="1370"/>
              </a:spcBef>
              <a:tabLst>
                <a:tab pos="1627505" algn="l"/>
              </a:tabLst>
            </a:pPr>
            <a:r>
              <a:rPr sz="115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15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5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150" spc="-25" dirty="0">
                <a:latin typeface="Times New Roman" panose="02020503050405090304"/>
                <a:cs typeface="Times New Roman" panose="02020503050405090304"/>
              </a:rPr>
              <a:t> and</a:t>
            </a:r>
            <a:r>
              <a:rPr sz="11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15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15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50" b="1" spc="-20" dirty="0">
                <a:latin typeface="Times New Roman" panose="02020503050405090304"/>
                <a:cs typeface="Times New Roman" panose="02020503050405090304"/>
              </a:rPr>
              <a:t>CODE:</a:t>
            </a:r>
            <a:endParaRPr sz="11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355"/>
              </a:lnSpc>
            </a:pPr>
            <a:r>
              <a:rPr sz="1150" dirty="0">
                <a:latin typeface="Times New Roman" panose="02020503050405090304"/>
                <a:cs typeface="Times New Roman" panose="02020503050405090304"/>
              </a:rPr>
              <a:t>Big</a:t>
            </a:r>
            <a:r>
              <a:rPr sz="115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5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150" spc="-10" dirty="0">
                <a:latin typeface="Times New Roman" panose="02020503050405090304"/>
                <a:cs typeface="Times New Roman" panose="02020503050405090304"/>
              </a:rPr>
              <a:t> Analytics</a:t>
            </a:r>
            <a:endParaRPr sz="11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467358"/>
            <a:ext cx="11652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15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50" b="1" spc="-10" dirty="0">
                <a:latin typeface="Times New Roman" panose="02020503050405090304"/>
                <a:cs typeface="Times New Roman" panose="02020503050405090304"/>
              </a:rPr>
              <a:t>NAME:</a:t>
            </a:r>
            <a:endParaRPr sz="11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761" y="1467358"/>
            <a:ext cx="60198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latin typeface="Times New Roman" panose="02020503050405090304"/>
                <a:cs typeface="Times New Roman" panose="02020503050405090304"/>
              </a:rPr>
              <a:t>CSA1507</a:t>
            </a:r>
            <a:endParaRPr sz="11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8956" y="2290317"/>
            <a:ext cx="5535295" cy="582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6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OUTCOME</a:t>
            </a:r>
            <a:r>
              <a:rPr sz="16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COVERED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5240">
              <a:lnSpc>
                <a:spcPts val="1180"/>
              </a:lnSpc>
            </a:pPr>
            <a:r>
              <a:rPr sz="1000" b="1" dirty="0">
                <a:latin typeface="Times New Roman" panose="02020503050405090304"/>
                <a:cs typeface="Times New Roman" panose="02020503050405090304"/>
              </a:rPr>
              <a:t>CO3:</a:t>
            </a:r>
            <a:r>
              <a:rPr sz="10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Implement</a:t>
            </a:r>
            <a:r>
              <a:rPr sz="1000" i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000" i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solutions</a:t>
            </a:r>
            <a:r>
              <a:rPr sz="1000" i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000" i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000" i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storage,</a:t>
            </a:r>
            <a:r>
              <a:rPr sz="1000" i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000" i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APIs,</a:t>
            </a:r>
            <a:r>
              <a:rPr sz="1000" i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000" i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000" i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000" i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000" i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real-</a:t>
            </a:r>
            <a:r>
              <a:rPr sz="1000" i="1" spc="-10" dirty="0">
                <a:latin typeface="Times New Roman" panose="02020503050405090304"/>
                <a:cs typeface="Times New Roman" panose="02020503050405090304"/>
              </a:rPr>
              <a:t>world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000" i="1" dirty="0">
                <a:latin typeface="Times New Roman" panose="02020503050405090304"/>
                <a:cs typeface="Times New Roman" panose="02020503050405090304"/>
              </a:rPr>
              <a:t>applications.</a:t>
            </a:r>
            <a:r>
              <a:rPr sz="1000" i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(BL3)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860" y="3115182"/>
            <a:ext cx="1986914" cy="3346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60"/>
              </a:spcBef>
            </a:pPr>
            <a:r>
              <a:rPr sz="1000" dirty="0">
                <a:latin typeface="Times New Roman" panose="02020503050405090304"/>
                <a:cs typeface="Times New Roman" panose="02020503050405090304"/>
              </a:rPr>
              <a:t>Dave's</a:t>
            </a:r>
            <a:r>
              <a:rPr sz="10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Taxonomy:</a:t>
            </a:r>
            <a:r>
              <a:rPr sz="10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Precision</a:t>
            </a:r>
            <a:r>
              <a:rPr sz="10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(Level</a:t>
            </a:r>
            <a:r>
              <a:rPr sz="10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3)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Question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Count: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50" dirty="0">
                <a:latin typeface="Times New Roman" panose="02020503050405090304"/>
                <a:cs typeface="Times New Roman" panose="02020503050405090304"/>
              </a:rPr>
              <a:t>4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62650" y="3115182"/>
            <a:ext cx="908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Times New Roman" panose="02020503050405090304"/>
                <a:cs typeface="Times New Roman" panose="02020503050405090304"/>
              </a:rPr>
              <a:t>Total</a:t>
            </a:r>
            <a:r>
              <a:rPr sz="10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dirty="0">
                <a:latin typeface="Times New Roman" panose="02020503050405090304"/>
                <a:cs typeface="Times New Roman" panose="02020503050405090304"/>
              </a:rPr>
              <a:t>Marks:</a:t>
            </a:r>
            <a:r>
              <a:rPr sz="10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spc="-25" dirty="0">
                <a:latin typeface="Times New Roman" panose="02020503050405090304"/>
                <a:cs typeface="Times New Roman" panose="02020503050405090304"/>
              </a:rPr>
              <a:t>40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860" y="4026535"/>
            <a:ext cx="594550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>
              <a:lnSpc>
                <a:spcPts val="1900"/>
              </a:lnSpc>
              <a:spcBef>
                <a:spcPts val="9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6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6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Conduct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8415" marR="5080" indent="-6350">
              <a:lnSpc>
                <a:spcPts val="1200"/>
              </a:lnSpc>
              <a:spcBef>
                <a:spcPts val="20"/>
              </a:spcBef>
              <a:tabLst>
                <a:tab pos="405765" algn="l"/>
                <a:tab pos="2182495" algn="l"/>
              </a:tabLst>
            </a:pPr>
            <a:r>
              <a:rPr sz="1000" dirty="0">
                <a:latin typeface="Times New Roman" panose="02020503050405090304"/>
                <a:cs typeface="Times New Roman" panose="02020503050405090304"/>
              </a:rPr>
              <a:t>I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r>
              <a:rPr lang="en-US" altLang="" sz="1000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DIVYA.K 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(1925</a:t>
            </a:r>
            <a:r>
              <a:rPr lang="en-US" altLang="" sz="1000" spc="-10" dirty="0">
                <a:latin typeface="Times New Roman" panose="02020503050405090304"/>
                <a:cs typeface="Times New Roman" panose="02020503050405090304"/>
              </a:rPr>
              <a:t>11316)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(Name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Reg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No)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certify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submission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my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original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work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that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have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adhered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0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guidelines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specified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assessment.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18415" marR="1308735" indent="-6350">
              <a:lnSpc>
                <a:spcPts val="1200"/>
              </a:lnSpc>
              <a:spcBef>
                <a:spcPts val="35"/>
              </a:spcBef>
              <a:tabLst>
                <a:tab pos="1487805" algn="l"/>
                <a:tab pos="2513330" algn="l"/>
              </a:tabLst>
            </a:pPr>
            <a:r>
              <a:rPr sz="10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understand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violation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academic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integrity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rules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will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result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disciplinary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action.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Signature</a:t>
            </a:r>
            <a:r>
              <a:rPr sz="10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0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student: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r>
              <a:rPr lang="en-US" altLang="" sz="1000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DIVYA.K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	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8956" y="5038725"/>
            <a:ext cx="1791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Experiments</a:t>
            </a:r>
            <a:r>
              <a:rPr sz="1600" b="1" spc="-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Rubric</a:t>
            </a:r>
            <a:endParaRPr sz="16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44600" y="5298313"/>
          <a:ext cx="6605270" cy="2957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835"/>
                <a:gridCol w="1079500"/>
                <a:gridCol w="1092835"/>
                <a:gridCol w="1078864"/>
                <a:gridCol w="1092835"/>
                <a:gridCol w="1078865"/>
              </a:tblGrid>
              <a:tr h="3409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Criteria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Weightage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417195">
                        <a:lnSpc>
                          <a:spcPts val="1150"/>
                        </a:lnSpc>
                        <a:spcBef>
                          <a:spcPts val="285"/>
                        </a:spcBef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0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4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50" dirty="0">
                          <a:latin typeface="Times New Roman" panose="02020503050405090304"/>
                          <a:cs typeface="Times New Roman" panose="02020503050405090304"/>
                        </a:rPr>
                        <a:t>-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Exemplary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474980">
                        <a:lnSpc>
                          <a:spcPts val="1150"/>
                        </a:lnSpc>
                        <a:spcBef>
                          <a:spcPts val="285"/>
                        </a:spcBef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0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3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50" dirty="0">
                          <a:latin typeface="Times New Roman" panose="02020503050405090304"/>
                          <a:cs typeface="Times New Roman" panose="02020503050405090304"/>
                        </a:rPr>
                        <a:t>-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Proficient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409575">
                        <a:lnSpc>
                          <a:spcPts val="1150"/>
                        </a:lnSpc>
                        <a:spcBef>
                          <a:spcPts val="285"/>
                        </a:spcBef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0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2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50" dirty="0">
                          <a:latin typeface="Times New Roman" panose="02020503050405090304"/>
                          <a:cs typeface="Times New Roman" panose="02020503050405090304"/>
                        </a:rPr>
                        <a:t>-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Developing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457835">
                        <a:lnSpc>
                          <a:spcPts val="1150"/>
                        </a:lnSpc>
                        <a:spcBef>
                          <a:spcPts val="285"/>
                        </a:spcBef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Level</a:t>
                      </a:r>
                      <a:r>
                        <a:rPr sz="1000" b="1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1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50" dirty="0">
                          <a:latin typeface="Times New Roman" panose="02020503050405090304"/>
                          <a:cs typeface="Times New Roman" panose="02020503050405090304"/>
                        </a:rPr>
                        <a:t>-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Beginning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marL="69850" marR="329565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Experimental Design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25%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08585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Design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is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systematic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and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technically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strong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6289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Mostly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correct design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1430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Basic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design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with gaps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6055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Poorly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designed activity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marL="69850" marR="30353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Use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of</a:t>
                      </a:r>
                      <a:r>
                        <a:rPr sz="10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Tools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5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Platforms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20%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86055">
                        <a:lnSpc>
                          <a:spcPts val="1150"/>
                        </a:lnSpc>
                        <a:spcBef>
                          <a:spcPts val="31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Appropriate</a:t>
                      </a:r>
                      <a:r>
                        <a:rPr sz="10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and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effective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 use</a:t>
                      </a:r>
                      <a:r>
                        <a:rPr sz="1000" spc="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of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cloud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tools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176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Good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tool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usage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with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minor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issues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Limited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tool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usage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223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Incorrect</a:t>
                      </a:r>
                      <a:r>
                        <a:rPr sz="1000" spc="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or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missing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tool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usage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marL="69850" marR="27686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Application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of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Concepts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20%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88265">
                        <a:lnSpc>
                          <a:spcPts val="1150"/>
                        </a:lnSpc>
                        <a:spcBef>
                          <a:spcPts val="31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Concepts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are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applied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accurately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to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practical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tasks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9304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Mostly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accurate application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Partial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application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Weak</a:t>
                      </a:r>
                      <a:r>
                        <a:rPr sz="10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application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255">
                <a:tc>
                  <a:txBody>
                    <a:bodyPr/>
                    <a:lstStyle/>
                    <a:p>
                      <a:pPr marL="69850" marR="356235">
                        <a:lnSpc>
                          <a:spcPts val="1160"/>
                        </a:lnSpc>
                        <a:spcBef>
                          <a:spcPts val="320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Analysis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and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Output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20%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20345">
                        <a:lnSpc>
                          <a:spcPct val="97000"/>
                        </a:lnSpc>
                        <a:spcBef>
                          <a:spcPts val="26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Strong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analysis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and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meaningful outcome interpretation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1610">
                        <a:lnSpc>
                          <a:spcPts val="1160"/>
                        </a:lnSpc>
                        <a:spcBef>
                          <a:spcPts val="320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Good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analysis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with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minor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gaps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Basic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analysis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36245">
                        <a:lnSpc>
                          <a:spcPts val="1160"/>
                        </a:lnSpc>
                        <a:spcBef>
                          <a:spcPts val="320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Little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or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no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analysis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Documentation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15%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42875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Clear,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structured,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and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complete documentation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986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Mostly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complete documentation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Partially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complete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52730">
                        <a:lnSpc>
                          <a:spcPts val="1150"/>
                        </a:lnSpc>
                        <a:spcBef>
                          <a:spcPts val="325"/>
                        </a:spcBef>
                      </a:pP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Poor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documentation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017389" y="8532114"/>
            <a:ext cx="1183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 panose="02020503050405090304"/>
                <a:cs typeface="Times New Roman" panose="02020503050405090304"/>
              </a:rPr>
              <a:t>Total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Marks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Awarded: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2106167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4400" y="3875404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5189"/>
            <a:ext cx="5970905" cy="537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 panose="02020503050405090304"/>
                <a:cs typeface="Times New Roman" panose="02020503050405090304"/>
              </a:rPr>
              <a:t>Experiments</a:t>
            </a:r>
            <a:endParaRPr sz="2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Times New Roman" panose="02020503050405090304"/>
              <a:cs typeface="Times New Roman" panose="02020503050405090304"/>
            </a:endParaRPr>
          </a:p>
          <a:p>
            <a:pPr marL="12700" marR="10795" algn="just">
              <a:lnSpc>
                <a:spcPct val="96000"/>
              </a:lnSpc>
              <a:spcBef>
                <a:spcPts val="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1:</a:t>
            </a:r>
            <a:r>
              <a:rPr sz="1600" b="1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simple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6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6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6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Hospital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information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SIMATS</a:t>
            </a:r>
            <a:r>
              <a:rPr sz="1600" spc="4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1600" spc="4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Service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6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demonstrate</a:t>
            </a:r>
            <a:r>
              <a:rPr sz="16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6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6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fields</a:t>
            </a:r>
            <a:r>
              <a:rPr sz="16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6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16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name,</a:t>
            </a:r>
            <a:r>
              <a:rPr sz="16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age,</a:t>
            </a:r>
            <a:r>
              <a:rPr sz="16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address,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phone,</a:t>
            </a:r>
            <a:r>
              <a:rPr sz="16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email,</a:t>
            </a:r>
            <a:r>
              <a:rPr sz="16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Attender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name,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attender</a:t>
            </a:r>
            <a:r>
              <a:rPr sz="16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phone,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doctor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name,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diseases,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0" dirty="0">
                <a:latin typeface="Times New Roman" panose="02020503050405090304"/>
                <a:cs typeface="Times New Roman" panose="02020503050405090304"/>
              </a:rPr>
              <a:t>etc.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2700" marR="9525" algn="just">
              <a:lnSpc>
                <a:spcPct val="96000"/>
              </a:lnSpc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2:</a:t>
            </a:r>
            <a:r>
              <a:rPr sz="1600" b="1" spc="25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6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simple</a:t>
            </a:r>
            <a:r>
              <a:rPr sz="16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6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6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6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6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online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super</a:t>
            </a:r>
            <a:r>
              <a:rPr sz="16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market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6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6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6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demonstrate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6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0" dirty="0">
                <a:latin typeface="Times New Roman" panose="02020503050405090304"/>
                <a:cs typeface="Times New Roman" panose="02020503050405090304"/>
              </a:rPr>
              <a:t>with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6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template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name,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address,</a:t>
            </a:r>
            <a:r>
              <a:rPr sz="16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phone,</a:t>
            </a:r>
            <a:r>
              <a:rPr sz="16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email,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items,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quantity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0" dirty="0">
                <a:latin typeface="Times New Roman" panose="02020503050405090304"/>
                <a:cs typeface="Times New Roman" panose="02020503050405090304"/>
              </a:rPr>
              <a:t>etc.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16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classification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0" dirty="0">
                <a:latin typeface="Times New Roman" panose="02020503050405090304"/>
                <a:cs typeface="Times New Roman" panose="02020503050405090304"/>
              </a:rPr>
              <a:t>form.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2700" marR="5080" indent="50165" algn="just">
              <a:lnSpc>
                <a:spcPct val="96000"/>
              </a:lnSpc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24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3:</a:t>
            </a:r>
            <a:r>
              <a:rPr sz="1600" b="1" spc="25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Demonstrate</a:t>
            </a:r>
            <a:r>
              <a:rPr sz="1600" spc="23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600" spc="24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600" spc="24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Installing</a:t>
            </a:r>
            <a:r>
              <a:rPr sz="1600" spc="24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2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Hypervisor</a:t>
            </a:r>
            <a:r>
              <a:rPr sz="16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6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your</a:t>
            </a:r>
            <a:r>
              <a:rPr sz="16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device,</a:t>
            </a:r>
            <a:r>
              <a:rPr sz="16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6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6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configure</a:t>
            </a:r>
            <a:r>
              <a:rPr sz="16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6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image</a:t>
            </a:r>
            <a:r>
              <a:rPr sz="16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6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0" dirty="0">
                <a:latin typeface="Times New Roman" panose="02020503050405090304"/>
                <a:cs typeface="Times New Roman" panose="02020503050405090304"/>
              </a:rPr>
              <a:t>Host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6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6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(Either</a:t>
            </a:r>
            <a:r>
              <a:rPr sz="1600" spc="2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Windows/Linux).</a:t>
            </a:r>
            <a:r>
              <a:rPr sz="1600" spc="2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600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600" spc="3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Machine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CPU,</a:t>
            </a:r>
            <a:r>
              <a:rPr sz="1600" spc="4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10GB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RAM</a:t>
            </a:r>
            <a:r>
              <a:rPr sz="1600" spc="4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10GB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disk</a:t>
            </a:r>
            <a:r>
              <a:rPr sz="1600" spc="4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600" spc="4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48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Type</a:t>
            </a:r>
            <a:r>
              <a:rPr sz="1600" spc="4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2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600" spc="-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Software.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2700" marR="6350" algn="just">
              <a:lnSpc>
                <a:spcPct val="96000"/>
              </a:lnSpc>
              <a:spcBef>
                <a:spcPts val="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27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4:</a:t>
            </a:r>
            <a:r>
              <a:rPr sz="1600" b="1" spc="28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Demonstrate</a:t>
            </a:r>
            <a:r>
              <a:rPr sz="1600" spc="27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600" spc="26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600" spc="27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Installing</a:t>
            </a:r>
            <a:r>
              <a:rPr sz="1600" spc="27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6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600" spc="-50" dirty="0">
                <a:latin typeface="Times New Roman" panose="02020503050405090304"/>
                <a:cs typeface="Times New Roman" panose="02020503050405090304"/>
              </a:rPr>
              <a:t>2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Hypervisor</a:t>
            </a:r>
            <a:r>
              <a:rPr sz="16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6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your</a:t>
            </a:r>
            <a:r>
              <a:rPr sz="16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device,</a:t>
            </a:r>
            <a:r>
              <a:rPr sz="16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6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6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configure</a:t>
            </a:r>
            <a:r>
              <a:rPr sz="16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6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image</a:t>
            </a:r>
            <a:r>
              <a:rPr sz="16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6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0" dirty="0">
                <a:latin typeface="Times New Roman" panose="02020503050405090304"/>
                <a:cs typeface="Times New Roman" panose="02020503050405090304"/>
              </a:rPr>
              <a:t>Host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6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(Either</a:t>
            </a:r>
            <a:r>
              <a:rPr sz="16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Windows/Linux).</a:t>
            </a:r>
            <a:r>
              <a:rPr sz="16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6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5" dirty="0">
                <a:latin typeface="Times New Roman" panose="02020503050405090304"/>
                <a:cs typeface="Times New Roman" panose="02020503050405090304"/>
              </a:rPr>
              <a:t>VM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Test</a:t>
            </a:r>
            <a:r>
              <a:rPr sz="16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6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loading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Previous</a:t>
            </a:r>
            <a:r>
              <a:rPr sz="16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dirty="0">
                <a:latin typeface="Times New Roman" panose="02020503050405090304"/>
                <a:cs typeface="Times New Roman" panose="02020503050405090304"/>
              </a:rPr>
              <a:t>Version/Cloned</a:t>
            </a:r>
            <a:r>
              <a:rPr sz="16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spc="-25" dirty="0">
                <a:latin typeface="Times New Roman" panose="02020503050405090304"/>
                <a:cs typeface="Times New Roman" panose="02020503050405090304"/>
              </a:rPr>
              <a:t>VM.</a:t>
            </a:r>
            <a:endParaRPr sz="16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2"/>
            <a:ext cx="5970905" cy="3704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1:</a:t>
            </a:r>
            <a:r>
              <a:rPr sz="16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16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Information</a:t>
            </a:r>
            <a:r>
              <a:rPr sz="16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6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(SaaS)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300" b="1" spc="-25" dirty="0">
                <a:latin typeface="Times New Roman" panose="02020503050405090304"/>
                <a:cs typeface="Times New Roman" panose="02020503050405090304"/>
              </a:rPr>
              <a:t>Aim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715" algn="just">
              <a:lnSpc>
                <a:spcPts val="1380"/>
              </a:lnSpc>
              <a:spcBef>
                <a:spcPts val="62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simple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(SaaS)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Information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SIMATS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Provider,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enabling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registration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record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management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details,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attender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details,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doctor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assigned,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diagnosed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disease,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accessible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internet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browser.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3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3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3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Resources</a:t>
            </a:r>
            <a:r>
              <a:rPr sz="13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Required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marR="5080" indent="-228600">
              <a:lnSpc>
                <a:spcPts val="1380"/>
              </a:lnSpc>
              <a:spcBef>
                <a:spcPts val="615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account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Microsoft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Google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Free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Tier)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985" indent="-228600">
              <a:lnSpc>
                <a:spcPts val="1380"/>
              </a:lnSpc>
              <a:spcBef>
                <a:spcPts val="305"/>
              </a:spcBef>
              <a:buChar char="•"/>
              <a:tabLst>
                <a:tab pos="46926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(Amazon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S3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Website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Apps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Firebase Hosting)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7620" indent="-228600">
              <a:lnSpc>
                <a:spcPts val="1380"/>
              </a:lnSpc>
              <a:spcBef>
                <a:spcPts val="300"/>
              </a:spcBef>
              <a:buChar char="•"/>
              <a:tabLst>
                <a:tab pos="46926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Serverless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backend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Lambda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Gateway,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Functions,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Firebase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 Functions)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200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(Amazon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DynamoDB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Cosmos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Firebase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Firestore)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browser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text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editor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(VS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Code)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3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Fields</a:t>
            </a:r>
            <a:r>
              <a:rPr sz="13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3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13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Record</a:t>
            </a:r>
            <a:r>
              <a:rPr sz="13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Table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4659502"/>
          <a:ext cx="6027420" cy="1980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2972435"/>
              </a:tblGrid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Field</a:t>
                      </a:r>
                      <a:r>
                        <a:rPr sz="1000" b="1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20" dirty="0">
                          <a:latin typeface="Times New Roman" panose="02020503050405090304"/>
                          <a:cs typeface="Times New Roman" panose="02020503050405090304"/>
                        </a:rPr>
                        <a:t>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Data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Type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Description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Patient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ID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(Primary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Key,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auto-generated)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Patient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Age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Number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Address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Phone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Email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Attender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Attender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Phone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Doctor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Disease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Diagnosis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Date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of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Admission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Date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Status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—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Admitted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Under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Treatment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Discharged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6704530"/>
            <a:ext cx="5967730" cy="23272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Procedure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marR="6985" indent="-228600">
              <a:lnSpc>
                <a:spcPts val="1380"/>
              </a:lnSpc>
              <a:spcBef>
                <a:spcPts val="63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free-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tier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account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chosen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(this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document</a:t>
            </a:r>
            <a:r>
              <a:rPr sz="12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uses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illustration).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350" indent="-228600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table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named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'HospitalPatients'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'PatientID'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key,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attributes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listed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field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table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above.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715" indent="-228600">
              <a:lnSpc>
                <a:spcPts val="1380"/>
              </a:lnSpc>
              <a:spcBef>
                <a:spcPts val="40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Write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serverless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exposes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CRUD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operations</a:t>
            </a:r>
            <a:r>
              <a:rPr sz="12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Register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Patient,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Search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Patient,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Assign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Doctor,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Status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(Admitted/Under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Treatment/Discharged).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080" indent="-228600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Expose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Gateway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equivalent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HTTP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trigger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Azure/GCP)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obtain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endpoint.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080" indent="-228600">
              <a:lnSpc>
                <a:spcPts val="1380"/>
              </a:lnSpc>
              <a:spcBef>
                <a:spcPts val="40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Develop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front-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page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(HTML/CSS/JavaScript)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shown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below,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calls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fetch().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5967730" cy="82289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69265" marR="5080" indent="-228600" algn="just">
              <a:lnSpc>
                <a:spcPts val="1380"/>
              </a:lnSpc>
              <a:spcBef>
                <a:spcPts val="195"/>
              </a:spcBef>
              <a:buAutoNum type="arabicPeriod" startAt="6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Upload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front-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S3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bucket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enable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Website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Firebase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Hosting).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350" indent="-228600" algn="just">
              <a:lnSpc>
                <a:spcPts val="1380"/>
              </a:lnSpc>
              <a:spcBef>
                <a:spcPts val="395"/>
              </a:spcBef>
              <a:buAutoNum type="arabicPeriod" startAt="6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Set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bucket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policy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permissions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public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reachable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URL.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8255" indent="-228600" algn="just">
              <a:lnSpc>
                <a:spcPts val="1380"/>
              </a:lnSpc>
              <a:spcBef>
                <a:spcPts val="410"/>
              </a:spcBef>
              <a:buAutoNum type="arabicPeriod" startAt="6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Open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hosted URL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browser,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register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sample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records,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verify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doctor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assignment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status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reflect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correctly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database.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080" indent="-228600" algn="just">
              <a:lnSpc>
                <a:spcPts val="1380"/>
              </a:lnSpc>
              <a:spcBef>
                <a:spcPts val="395"/>
              </a:spcBef>
              <a:buAutoNum type="arabicPeriod" startAt="6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confirms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delivery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model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information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entirely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provider's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accessed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browser,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2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installation.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Sample</a:t>
            </a:r>
            <a:r>
              <a:rPr sz="13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Front-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3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3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(index.html)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60"/>
              </a:lnSpc>
              <a:spcBef>
                <a:spcPts val="560"/>
              </a:spcBef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&lt;!DOCTYPE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html&gt;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&lt;html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lang="en"&gt;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&lt;head&gt;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&lt;meta</a:t>
            </a:r>
            <a:r>
              <a:rPr sz="9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charset="UTF-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8"&gt;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&lt;title&gt;SIMATS</a:t>
            </a:r>
            <a:r>
              <a:rPr sz="9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9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Information</a:t>
            </a:r>
            <a:r>
              <a:rPr sz="9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System&lt;/title&gt;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&lt;style&gt;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 marR="2418715">
              <a:lnSpc>
                <a:spcPts val="1030"/>
              </a:lnSpc>
              <a:spcBef>
                <a:spcPts val="5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body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font-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family: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Arial,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sans-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serif;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margin: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30px;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background:#f4f6f8;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h2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color:#1f4e78;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99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table {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border-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collapse: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collapse;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width:100%;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background:#fff;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 marR="3065145">
              <a:lnSpc>
                <a:spcPts val="1030"/>
              </a:lnSpc>
              <a:spcBef>
                <a:spcPts val="6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th,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td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border:1px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solid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#ccc;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padding:8px;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text-align:left;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th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background:#1f4e78;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color:#fff;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985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input,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select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padding:6px;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margin:4px;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button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 padding:6px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14px;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background:#1f4e78;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color:#fff;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border:none; cursor:pointer;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&lt;/style&gt;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&lt;/head&gt;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&lt;body&gt;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&lt;h2&gt;SIMATS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-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Registration&lt;/h2&gt;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&lt;div&gt;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id="pname"</a:t>
            </a:r>
            <a:r>
              <a:rPr sz="9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placeholder="Patient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Name"&gt;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id="age"</a:t>
            </a:r>
            <a:r>
              <a:rPr sz="9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placeholder="Age"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type="number"&gt;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id="address"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placeholder="Address"&gt;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id="phone"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placeholder="Phone"&gt;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id="email"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placeholder="Email"&gt;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id="attName"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placeholder="Attender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Name"&gt;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id="attPhone"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placeholder="Attender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Phone"&gt;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id="doctor"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placeholder="Doctor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Name"&gt;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&lt;input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id="disease"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placeholder="Disease"&gt;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&lt;button</a:t>
            </a:r>
            <a:r>
              <a:rPr sz="9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onclick="addPatient()"&gt;Register</a:t>
            </a:r>
            <a:r>
              <a:rPr sz="9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Patient&lt;/button&gt;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&lt;/div&gt;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&lt;table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id="patientTable"&gt;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&lt;tr&gt;&lt;th&gt;Name&lt;/th&gt;&lt;th&gt;Age&lt;/th&gt;&lt;th&gt;Phone&lt;/th&gt;&lt;th&gt;Attender&lt;/th&gt;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>
              <a:lnSpc>
                <a:spcPts val="103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&lt;th&gt;Doctor&lt;/th&gt;&lt;th&gt;Disease&lt;/th&gt;&lt;th&gt;Status&lt;/th&gt;&lt;th&gt;Action&lt;/th&gt;&lt;/tr&gt;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3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&lt;/table&gt;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&lt;script&gt;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6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const</a:t>
            </a:r>
            <a:r>
              <a:rPr sz="9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9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"https://&lt;your-api-id&gt;.execute-api.&lt;region&gt;.amazonaws.com/patients";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 marR="4292600" indent="-58420">
              <a:lnSpc>
                <a:spcPct val="96000"/>
              </a:lnSpc>
              <a:spcBef>
                <a:spcPts val="102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async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loadPatients()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const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res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await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fetch(API);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const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patients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await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res.json();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4785" marR="3161665" indent="1270">
              <a:lnSpc>
                <a:spcPts val="1030"/>
              </a:lnSpc>
              <a:spcBef>
                <a:spcPts val="3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const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table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document.getElementById("patientTable"); table.innerHTML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table.rows[0].outerHTML;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patients.forEach(pt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=&gt;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>
              <a:lnSpc>
                <a:spcPts val="100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const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row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table.insertRow();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row.innerHTML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`&lt;td&gt;${pt.name}&lt;/td&gt;&lt;td&gt;${pt.age}&lt;/td&gt;&lt;td&gt;${pt.phone}&lt;/td&gt;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300355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&lt;td&gt;${pt.attName}&lt;/td&gt;&lt;td&gt;${pt.doctor}&lt;/td&gt;&lt;td&gt;${pt.disease}&lt;/td&gt;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300355">
              <a:lnSpc>
                <a:spcPts val="105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&lt;td&gt;${pt.status}&lt;/td&gt;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3"/>
            <a:ext cx="4670425" cy="3527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>
              <a:lnSpc>
                <a:spcPts val="1055"/>
              </a:lnSpc>
              <a:spcBef>
                <a:spcPts val="10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&lt;td&gt;&lt;button</a:t>
            </a:r>
            <a:r>
              <a:rPr sz="9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onclick="updateStatus('${pt.patientId}')"&gt;Update</a:t>
            </a:r>
            <a:r>
              <a:rPr sz="900" spc="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Status&lt;/button&gt;&lt;/td&gt;`;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>
              <a:lnSpc>
                <a:spcPts val="1030"/>
              </a:lnSpc>
            </a:pPr>
            <a:r>
              <a:rPr sz="900" spc="-25" dirty="0">
                <a:latin typeface="Times New Roman" panose="02020503050405090304"/>
                <a:cs typeface="Times New Roman" panose="02020503050405090304"/>
              </a:rPr>
              <a:t>});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55"/>
              </a:lnSpc>
            </a:pP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 marR="3194050" indent="-5842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async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addPatient()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const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>
              <a:lnSpc>
                <a:spcPts val="99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name: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pname.value,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age: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age.value,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address: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address.value,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 marR="1226185">
              <a:lnSpc>
                <a:spcPts val="1030"/>
              </a:lnSpc>
              <a:spcBef>
                <a:spcPts val="6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phone:</a:t>
            </a:r>
            <a:r>
              <a:rPr sz="9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phone.value,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email: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email.value,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attName: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attName.value,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attPhone: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attPhone.value,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doctor: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doctor.value,</a:t>
            </a:r>
            <a:r>
              <a:rPr sz="9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disease: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disease.value,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status: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"Admitted"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>
              <a:lnSpc>
                <a:spcPts val="990"/>
              </a:lnSpc>
            </a:pPr>
            <a:r>
              <a:rPr sz="900" spc="-25" dirty="0">
                <a:latin typeface="Times New Roman" panose="02020503050405090304"/>
                <a:cs typeface="Times New Roman" panose="02020503050405090304"/>
              </a:rPr>
              <a:t>};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4785" marR="1259840" indent="1270">
              <a:lnSpc>
                <a:spcPts val="1030"/>
              </a:lnSpc>
              <a:spcBef>
                <a:spcPts val="5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await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fetch(API,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method: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"POST",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body: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JSON.stringify(patient)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});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loadPatients();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10"/>
              </a:lnSpc>
            </a:pP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55"/>
              </a:lnSpc>
              <a:spcBef>
                <a:spcPts val="100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async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updateStatus(id)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4785" marR="5080" indent="1270">
              <a:lnSpc>
                <a:spcPts val="1030"/>
              </a:lnSpc>
              <a:spcBef>
                <a:spcPts val="5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await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fetch(`${API}/${id}`,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{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method: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"PUT",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body: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JSON.stringify({ status: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"Discharged"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})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});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loadPatients();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10"/>
              </a:lnSpc>
            </a:pP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55"/>
              </a:lnSpc>
              <a:spcBef>
                <a:spcPts val="995"/>
              </a:spcBef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loadPatients();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&lt;/script&gt;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4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&lt;/body&gt;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7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&lt;/html&gt;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Output</a:t>
            </a:r>
            <a:r>
              <a:rPr sz="1300" spc="-45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Screenshot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23975" y="4487290"/>
            <a:ext cx="51206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030851"/>
            <a:ext cx="5968365" cy="1278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Fig</a:t>
            </a:r>
            <a:r>
              <a:rPr sz="900" i="1" spc="-2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1.1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900" i="1" spc="-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records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output</a:t>
            </a:r>
            <a:r>
              <a:rPr sz="900" i="1" spc="-2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(Zoho</a:t>
            </a:r>
            <a:r>
              <a:rPr sz="900" i="1" spc="-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Creator)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Result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ts val="1380"/>
              </a:lnSpc>
              <a:spcBef>
                <a:spcPts val="62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hosted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Hospital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Information System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SIMATS Hospital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successfully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created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application.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registering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records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attender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doctor</a:t>
            </a:r>
            <a:r>
              <a:rPr sz="1200" spc="2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details,</a:t>
            </a:r>
            <a:r>
              <a:rPr sz="1200" spc="2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updating</a:t>
            </a:r>
            <a:r>
              <a:rPr sz="1200" spc="2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patient</a:t>
            </a:r>
            <a:r>
              <a:rPr sz="1200" spc="2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status</a:t>
            </a:r>
            <a:r>
              <a:rPr sz="1200" spc="2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(Admitted/Under</a:t>
            </a:r>
            <a:r>
              <a:rPr sz="1200" spc="2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Treatment/Discharged),</a:t>
            </a:r>
            <a:r>
              <a:rPr sz="1200" spc="2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all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public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URL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installation.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4400" y="914400"/>
            <a:ext cx="5943600" cy="40881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8238"/>
            <a:ext cx="5968365" cy="3141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2:</a:t>
            </a:r>
            <a:r>
              <a:rPr sz="16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6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Super</a:t>
            </a:r>
            <a:r>
              <a:rPr sz="16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Market</a:t>
            </a:r>
            <a:r>
              <a:rPr sz="16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6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(SaaS)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300" b="1" spc="-25" dirty="0">
                <a:latin typeface="Times New Roman" panose="02020503050405090304"/>
                <a:cs typeface="Times New Roman" panose="02020503050405090304"/>
              </a:rPr>
              <a:t>Aim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ts val="1380"/>
              </a:lnSpc>
              <a:spcBef>
                <a:spcPts val="63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simple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(SaaS)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Super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Market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allowing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customers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register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their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details,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browse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categories,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place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quantities,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accessible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internet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browser.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3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3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3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Resources</a:t>
            </a:r>
            <a:r>
              <a:rPr sz="13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Required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520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account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GCP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Free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Tier)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(Amazon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S3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Firebase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Hosting)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325120" indent="-228600">
              <a:lnSpc>
                <a:spcPts val="1380"/>
              </a:lnSpc>
              <a:spcBef>
                <a:spcPts val="335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Serverless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backend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Lambda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Firebase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Functions)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285750" indent="-228600">
              <a:lnSpc>
                <a:spcPts val="1380"/>
              </a:lnSpc>
              <a:spcBef>
                <a:spcPts val="305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order/item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records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(DynamoDB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Cosmos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/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Firestore)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3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Fields</a:t>
            </a:r>
            <a:r>
              <a:rPr sz="13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3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3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13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20" dirty="0">
                <a:latin typeface="Times New Roman" panose="02020503050405090304"/>
                <a:cs typeface="Times New Roman" panose="02020503050405090304"/>
              </a:rPr>
              <a:t>Table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4095622"/>
          <a:ext cx="602742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2972435"/>
              </a:tblGrid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Field</a:t>
                      </a:r>
                      <a:r>
                        <a:rPr sz="1000" b="1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20" dirty="0">
                          <a:latin typeface="Times New Roman" panose="02020503050405090304"/>
                          <a:cs typeface="Times New Roman" panose="02020503050405090304"/>
                        </a:rPr>
                        <a:t>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Data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Type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Description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Order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ID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(Primary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Key,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auto-generated)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Customer</a:t>
                      </a:r>
                      <a:r>
                        <a:rPr sz="10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Address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Phone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Email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Item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Quantity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Number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Order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Date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Date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604129"/>
            <a:ext cx="24555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13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Classification</a:t>
            </a:r>
            <a:r>
              <a:rPr sz="13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Form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3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Fields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5892672"/>
          <a:ext cx="6027420" cy="121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2972435"/>
              </a:tblGrid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Field</a:t>
                      </a:r>
                      <a:r>
                        <a:rPr sz="1000" b="1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20" dirty="0">
                          <a:latin typeface="Times New Roman" panose="02020503050405090304"/>
                          <a:cs typeface="Times New Roman" panose="02020503050405090304"/>
                        </a:rPr>
                        <a:t>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Data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Type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10" dirty="0">
                          <a:latin typeface="Times New Roman" panose="02020503050405090304"/>
                          <a:cs typeface="Times New Roman" panose="02020503050405090304"/>
                        </a:rPr>
                        <a:t>Description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Item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Code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(Primary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Key)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Item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Name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Category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530860">
                        <a:lnSpc>
                          <a:spcPts val="114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r>
                        <a:rPr sz="10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—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Grocery</a:t>
                      </a:r>
                      <a:r>
                        <a:rPr sz="10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Dairy</a:t>
                      </a:r>
                      <a:r>
                        <a:rPr sz="10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Vegetables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Fruits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5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 Household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Beverages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Unit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Price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Number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(₹)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Unit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of</a:t>
                      </a:r>
                      <a:r>
                        <a:rPr sz="10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Measure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String</a:t>
                      </a:r>
                      <a:r>
                        <a:rPr sz="10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—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kg</a:t>
                      </a:r>
                      <a:r>
                        <a:rPr sz="10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litre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piece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packet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marL="5715">
                        <a:lnSpc>
                          <a:spcPts val="111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Stock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Available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1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Number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7171376"/>
            <a:ext cx="5970270" cy="169735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Procedure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indent="-227965" algn="just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free-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account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chosen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Provider.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080" indent="-228600" algn="just">
              <a:lnSpc>
                <a:spcPts val="1380"/>
              </a:lnSpc>
              <a:spcBef>
                <a:spcPts val="43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tables: 'Items'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(item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classification,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primary key)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'Orders'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(customer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orders,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key)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attributes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listed above.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8255" indent="-228600" algn="just">
              <a:lnSpc>
                <a:spcPts val="1380"/>
              </a:lnSpc>
              <a:spcBef>
                <a:spcPts val="40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Write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serverless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adding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items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category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(item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classification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form),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listing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items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category,</a:t>
            </a:r>
            <a:r>
              <a:rPr sz="1200" spc="3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placing</a:t>
            </a:r>
            <a:r>
              <a:rPr sz="1200" spc="3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3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3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reduces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stock accordingly.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1285"/>
            <a:ext cx="5969635" cy="81051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69265" marR="5080" indent="-228600" algn="just">
              <a:lnSpc>
                <a:spcPts val="1380"/>
              </a:lnSpc>
              <a:spcBef>
                <a:spcPts val="195"/>
              </a:spcBef>
              <a:buAutoNum type="arabicPeriod" startAt="4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Expose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endpoints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Gateway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equivalent)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one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endpoint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orders.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715" indent="-228600" algn="just">
              <a:lnSpc>
                <a:spcPts val="1380"/>
              </a:lnSpc>
              <a:spcBef>
                <a:spcPts val="395"/>
              </a:spcBef>
              <a:buAutoNum type="arabicPeriod" startAt="4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Build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front-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shown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below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sections: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Classification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form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admin,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shoppers.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350" indent="-228600" algn="just">
              <a:lnSpc>
                <a:spcPts val="1380"/>
              </a:lnSpc>
              <a:spcBef>
                <a:spcPts val="410"/>
              </a:spcBef>
              <a:buAutoNum type="arabicPeriod" startAt="4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front-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S3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Website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Azure/Firebase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Hosting)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enable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public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access.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8255" indent="-228600" algn="just">
              <a:lnSpc>
                <a:spcPts val="1380"/>
              </a:lnSpc>
              <a:spcBef>
                <a:spcPts val="395"/>
              </a:spcBef>
              <a:buAutoNum type="arabicPeriod" startAt="4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URL,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sample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items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categories,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then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place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test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 verify that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 details,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 quantity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 correctly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database.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985" indent="-228600" algn="just">
              <a:lnSpc>
                <a:spcPts val="1380"/>
              </a:lnSpc>
              <a:spcBef>
                <a:spcPts val="395"/>
              </a:spcBef>
              <a:buAutoNum type="arabicPeriod" startAt="4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confirms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delivery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model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super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market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are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entirely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reachable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browser.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30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Sample</a:t>
            </a:r>
            <a:r>
              <a:rPr sz="1300" spc="-2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Front-</a:t>
            </a:r>
            <a:r>
              <a:rPr sz="130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300" spc="-1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300" spc="-2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(market.html)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55"/>
              </a:lnSpc>
              <a:spcBef>
                <a:spcPts val="555"/>
              </a:spcBef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&lt;!DOCTYPE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html&gt;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&lt;html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lang="en"&gt;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&lt;head&gt;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&lt;meta</a:t>
            </a:r>
            <a:r>
              <a:rPr sz="9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charset="UTF-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8"&gt;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&lt;title&gt;Online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Super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Market&lt;/title&gt;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&lt;style&gt;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 marR="2505710">
              <a:lnSpc>
                <a:spcPts val="1030"/>
              </a:lnSpc>
              <a:spcBef>
                <a:spcPts val="5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body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font-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family: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Arial,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sans-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serif;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margin:30px;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background:#f4f6f8;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h2,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h3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color:#1f4e78;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 marR="1247140">
              <a:lnSpc>
                <a:spcPts val="1030"/>
              </a:lnSpc>
              <a:spcBef>
                <a:spcPts val="1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.card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background:#fff;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padding:20px;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border-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radius:6px;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max-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width:520px;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margin-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bottom:20px;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label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display:block;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margin-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top:10px;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font-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weight:bold;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985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input,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select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width:100%;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padding:6px;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box-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sizing:border-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box;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button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margin-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top:16px;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padding:8px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16px;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background:#1f4e78;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color:#fff;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border:none;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&lt;/style&gt;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&lt;/head&gt;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&lt;body&gt;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55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&lt;h2&gt;Online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Super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Market&lt;/h2&gt;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55"/>
              </a:lnSpc>
              <a:spcBef>
                <a:spcPts val="99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&lt;div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class="card"&gt;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&lt;h3&gt;Item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Classification</a:t>
            </a:r>
            <a:r>
              <a:rPr sz="9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Form&lt;/h3&gt;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&lt;label&gt;Item</a:t>
            </a:r>
            <a:r>
              <a:rPr sz="9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Code&lt;/label&gt;&lt;input</a:t>
            </a:r>
            <a:r>
              <a:rPr sz="9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id="itemCode"&gt;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&lt;label&gt;Item</a:t>
            </a:r>
            <a:r>
              <a:rPr sz="9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Name&lt;/label&gt;&lt;input</a:t>
            </a:r>
            <a:r>
              <a:rPr sz="9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id="itemName"&gt;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&lt;label&gt;Category&lt;/label&gt;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&lt;select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id="category"&gt;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&lt;option&gt;Grocery&lt;/option&gt;&lt;option&gt;Dairy&lt;/option&gt;&lt;option&gt;Vegetables&lt;/option&gt;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&lt;option&gt;Fruits&lt;/option&gt;&lt;option&gt;Household&lt;/option&gt;&lt;option&gt;Beverages&lt;/option&gt;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&lt;/select&gt;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&lt;label&gt;Unit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Price</a:t>
            </a:r>
            <a:r>
              <a:rPr sz="9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(₹)&lt;/label&gt;&lt;input</a:t>
            </a:r>
            <a:r>
              <a:rPr sz="9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id="price"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type="number"&gt;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&lt;label&gt;Unit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Measure&lt;/label&gt;&lt;input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id="unit"</a:t>
            </a:r>
            <a:r>
              <a:rPr sz="9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placeholder="kg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litre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piece"&gt;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&lt;label&gt;Stock</a:t>
            </a:r>
            <a:r>
              <a:rPr sz="9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Available&lt;/label&gt;&lt;input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id="stock"</a:t>
            </a:r>
            <a:r>
              <a:rPr sz="9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type="number"&gt;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5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&lt;button</a:t>
            </a:r>
            <a:r>
              <a:rPr sz="9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onclick="addItem()"&gt;Add</a:t>
            </a:r>
            <a:r>
              <a:rPr sz="9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Item&lt;/button&gt;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5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&lt;/div&gt;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55"/>
              </a:lnSpc>
              <a:spcBef>
                <a:spcPts val="99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&lt;div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class="card"&gt;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&lt;h3&gt;Customer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9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Form&lt;/h3&gt;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&lt;label&gt;Customer</a:t>
            </a:r>
            <a:r>
              <a:rPr sz="9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Name&lt;/label&gt;&lt;input</a:t>
            </a:r>
            <a:r>
              <a:rPr sz="9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id="custName"&gt;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&lt;label&gt;Address&lt;/label&gt;&lt;input</a:t>
            </a:r>
            <a:r>
              <a:rPr sz="900" spc="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id="address"&gt;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&lt;label&gt;Phone&lt;/label&gt;&lt;input</a:t>
            </a:r>
            <a:r>
              <a:rPr sz="9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id="phone"&gt;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&lt;label&gt;Email&lt;/label&gt;&lt;input</a:t>
            </a:r>
            <a:r>
              <a:rPr sz="900" spc="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id="email"&gt;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3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&lt;label&gt;Item</a:t>
            </a:r>
            <a:r>
              <a:rPr sz="9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Name&lt;/label&gt;&lt;input</a:t>
            </a:r>
            <a:r>
              <a:rPr sz="9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id="orderItem"&gt;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&lt;label&gt;Quantity&lt;/label&gt;&lt;input</a:t>
            </a:r>
            <a:r>
              <a:rPr sz="9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id="qty"</a:t>
            </a:r>
            <a:r>
              <a:rPr sz="9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type="number"&gt;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4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&lt;button</a:t>
            </a:r>
            <a:r>
              <a:rPr sz="9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onclick="placeOrder()"&gt;Place</a:t>
            </a:r>
            <a:r>
              <a:rPr sz="9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Order&lt;/button&gt;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5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&lt;/div&gt;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3"/>
            <a:ext cx="4355465" cy="365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>
              <a:lnSpc>
                <a:spcPts val="1055"/>
              </a:lnSpc>
              <a:spcBef>
                <a:spcPts val="100"/>
              </a:spcBef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&lt;script&gt;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 marR="5080">
              <a:lnSpc>
                <a:spcPts val="1030"/>
              </a:lnSpc>
              <a:spcBef>
                <a:spcPts val="5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const</a:t>
            </a:r>
            <a:r>
              <a:rPr sz="9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ITEM_API</a:t>
            </a:r>
            <a:r>
              <a:rPr sz="9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"https://&lt;your-api-id&gt;.execute-api.&lt;region&gt;.amazonaws.com/items";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const</a:t>
            </a:r>
            <a:r>
              <a:rPr sz="9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ORDER_API</a:t>
            </a:r>
            <a:r>
              <a:rPr sz="9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"https://&lt;your-api-id&gt;.execute-api.&lt;region&gt;.amazonaws.com/orders";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 marR="2988310" indent="-58420">
              <a:lnSpc>
                <a:spcPts val="103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async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addItem()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const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>
              <a:lnSpc>
                <a:spcPts val="990"/>
              </a:lnSpc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itemCode: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itemCode.value,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itemName: itemName.value,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 marR="1552575">
              <a:lnSpc>
                <a:spcPts val="1030"/>
              </a:lnSpc>
              <a:spcBef>
                <a:spcPts val="5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category: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category.value,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price:</a:t>
            </a:r>
            <a:r>
              <a:rPr sz="9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parseFloat(price.value),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unit: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unit.value,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stock: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parseInt(stock.value)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>
              <a:lnSpc>
                <a:spcPts val="985"/>
              </a:lnSpc>
            </a:pPr>
            <a:r>
              <a:rPr sz="900" spc="-25" dirty="0">
                <a:latin typeface="Times New Roman" panose="02020503050405090304"/>
                <a:cs typeface="Times New Roman" panose="02020503050405090304"/>
              </a:rPr>
              <a:t>};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 marR="716280">
              <a:lnSpc>
                <a:spcPts val="1040"/>
              </a:lnSpc>
              <a:spcBef>
                <a:spcPts val="4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await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fetch(ITEM_API,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method: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"POST",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body: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JSON.stringify(item)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});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alert("Item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added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under category: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"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item.category);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1010"/>
              </a:lnSpc>
            </a:pP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 marR="2854325" indent="-58420">
              <a:lnSpc>
                <a:spcPts val="1040"/>
              </a:lnSpc>
              <a:spcBef>
                <a:spcPts val="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async function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placeOrder()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 const</a:t>
            </a:r>
            <a:r>
              <a:rPr sz="9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50" dirty="0">
                <a:latin typeface="Times New Roman" panose="02020503050405090304"/>
                <a:cs typeface="Times New Roman" panose="02020503050405090304"/>
              </a:rPr>
              <a:t>{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242570" marR="584200">
              <a:lnSpc>
                <a:spcPts val="1030"/>
              </a:lnSpc>
              <a:spcBef>
                <a:spcPts val="5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custName: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custName.value,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address: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address.value,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phone: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phone.value,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email: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email.value,</a:t>
            </a:r>
            <a:r>
              <a:rPr sz="9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itemName:</a:t>
            </a:r>
            <a:r>
              <a:rPr sz="9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orderItem.value,</a:t>
            </a:r>
            <a:r>
              <a:rPr sz="9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quantity:</a:t>
            </a:r>
            <a:r>
              <a:rPr sz="9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parseInt(qty.value)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>
              <a:lnSpc>
                <a:spcPts val="990"/>
              </a:lnSpc>
            </a:pPr>
            <a:r>
              <a:rPr sz="900" spc="-25" dirty="0">
                <a:latin typeface="Times New Roman" panose="02020503050405090304"/>
                <a:cs typeface="Times New Roman" panose="02020503050405090304"/>
              </a:rPr>
              <a:t>};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86055" marR="571500">
              <a:lnSpc>
                <a:spcPts val="1030"/>
              </a:lnSpc>
              <a:spcBef>
                <a:spcPts val="60"/>
              </a:spcBef>
            </a:pPr>
            <a:r>
              <a:rPr sz="900" dirty="0">
                <a:latin typeface="Times New Roman" panose="02020503050405090304"/>
                <a:cs typeface="Times New Roman" panose="02020503050405090304"/>
              </a:rPr>
              <a:t>await</a:t>
            </a:r>
            <a:r>
              <a:rPr sz="9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fetch(ORDER_API,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{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method: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"POST",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body:</a:t>
            </a:r>
            <a:r>
              <a:rPr sz="9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JSON.stringify(order) </a:t>
            </a:r>
            <a:r>
              <a:rPr sz="900" spc="-25" dirty="0">
                <a:latin typeface="Times New Roman" panose="02020503050405090304"/>
                <a:cs typeface="Times New Roman" panose="02020503050405090304"/>
              </a:rPr>
              <a:t>});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 alert("Order</a:t>
            </a:r>
            <a:r>
              <a:rPr sz="9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dirty="0">
                <a:latin typeface="Times New Roman" panose="02020503050405090304"/>
                <a:cs typeface="Times New Roman" panose="02020503050405090304"/>
              </a:rPr>
              <a:t>placed</a:t>
            </a:r>
            <a:r>
              <a:rPr sz="9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spc="-10" dirty="0">
                <a:latin typeface="Times New Roman" panose="02020503050405090304"/>
                <a:cs typeface="Times New Roman" panose="02020503050405090304"/>
              </a:rPr>
              <a:t>successfully!");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8270">
              <a:lnSpc>
                <a:spcPts val="985"/>
              </a:lnSpc>
            </a:pPr>
            <a:r>
              <a:rPr sz="900" spc="-50" dirty="0">
                <a:latin typeface="Times New Roman" panose="02020503050405090304"/>
                <a:cs typeface="Times New Roman" panose="02020503050405090304"/>
              </a:rPr>
              <a:t>}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70485">
              <a:lnSpc>
                <a:spcPts val="104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&lt;/script&gt;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45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&lt;/body&gt;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060"/>
              </a:lnSpc>
            </a:pPr>
            <a:r>
              <a:rPr sz="900" spc="-10" dirty="0">
                <a:latin typeface="Times New Roman" panose="02020503050405090304"/>
                <a:cs typeface="Times New Roman" panose="02020503050405090304"/>
              </a:rPr>
              <a:t>&lt;/html&gt;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Output</a:t>
            </a:r>
            <a:r>
              <a:rPr sz="1300" spc="-45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spc="-10" dirty="0">
                <a:solidFill>
                  <a:srgbClr val="2D74B5"/>
                </a:solidFill>
                <a:latin typeface="Times New Roman" panose="02020503050405090304"/>
                <a:cs typeface="Times New Roman" panose="02020503050405090304"/>
              </a:rPr>
              <a:t>Screenshot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4400" y="4619244"/>
            <a:ext cx="5943600" cy="25306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4400" y="914400"/>
            <a:ext cx="5943600" cy="22948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285490"/>
            <a:ext cx="5943600" cy="31857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547484"/>
            <a:ext cx="5943600" cy="2483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5857"/>
            <a:ext cx="5970270" cy="128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Fig</a:t>
            </a:r>
            <a:r>
              <a:rPr sz="900" i="1" spc="-2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2.1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classification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900" i="1" spc="-2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order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output</a:t>
            </a:r>
            <a:r>
              <a:rPr sz="900" i="1" spc="-2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900" i="1" spc="-2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900" i="1" spc="-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900" i="1" spc="-2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(Zoho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spc="-10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Creator)</a:t>
            </a:r>
            <a:endParaRPr sz="9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Result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ts val="1380"/>
              </a:lnSpc>
              <a:spcBef>
                <a:spcPts val="62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Market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successfully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SaaS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application.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Items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could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classified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category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Classification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form,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could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place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orders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item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quantity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details,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public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URL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installation.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8238"/>
            <a:ext cx="5969000" cy="82086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912495">
              <a:lnSpc>
                <a:spcPts val="1840"/>
              </a:lnSpc>
              <a:spcBef>
                <a:spcPts val="225"/>
              </a:spcBef>
            </a:pPr>
            <a:r>
              <a:rPr sz="1600" b="1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3:</a:t>
            </a:r>
            <a:r>
              <a:rPr sz="16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Creating</a:t>
            </a:r>
            <a:r>
              <a:rPr sz="16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6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6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6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600" b="1" spc="-50" dirty="0">
                <a:latin typeface="Times New Roman" panose="02020503050405090304"/>
                <a:cs typeface="Times New Roman" panose="02020503050405090304"/>
              </a:rPr>
              <a:t>2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Hypervisor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00" b="1" spc="-25" dirty="0">
                <a:latin typeface="Times New Roman" panose="02020503050405090304"/>
                <a:cs typeface="Times New Roman" panose="02020503050405090304"/>
              </a:rPr>
              <a:t>Aim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ts val="1380"/>
              </a:lnSpc>
              <a:spcBef>
                <a:spcPts val="63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demonstrate virtualization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Hypervisor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creating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vCPUs,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RAM,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configured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guest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(Windows/Linux).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3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Required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marR="5715" indent="-228600">
              <a:lnSpc>
                <a:spcPts val="1380"/>
              </a:lnSpc>
              <a:spcBef>
                <a:spcPts val="630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(Intel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x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AMD-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V)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enabled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BIOS/UEFI,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least 4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physical/logical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CPU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cores and 12 GB+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RAM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available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205"/>
              </a:spcBef>
              <a:buChar char="•"/>
              <a:tabLst>
                <a:tab pos="46926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Hypervisor: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Oracle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VirtualBox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7.x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VMware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Workstation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Player)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image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Ubuntu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Desktop/Server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ISO,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Windows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10/11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ISO)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240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least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12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free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space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host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Procedure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marR="6350" indent="-228600">
              <a:lnSpc>
                <a:spcPts val="1380"/>
              </a:lnSpc>
              <a:spcBef>
                <a:spcPts val="61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Enable</a:t>
            </a:r>
            <a:r>
              <a:rPr sz="1200" spc="3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200" spc="3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support</a:t>
            </a:r>
            <a:r>
              <a:rPr sz="1200" spc="3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(Intel</a:t>
            </a:r>
            <a:r>
              <a:rPr sz="1200" spc="3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VT-x/AMD-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V)</a:t>
            </a:r>
            <a:r>
              <a:rPr sz="1200" spc="3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3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3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system's</a:t>
            </a:r>
            <a:r>
              <a:rPr sz="1200" spc="3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BIOS/UEFI settings.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350" indent="-228600">
              <a:lnSpc>
                <a:spcPts val="1380"/>
              </a:lnSpc>
              <a:spcBef>
                <a:spcPts val="41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Download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Oracle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VirtualBox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Hypervisor)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along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VirtualBox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Extension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Pack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8255" indent="-228600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Download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desired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image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Ubuntu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Desktop)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save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host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machine.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Open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VirtualBox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click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'New'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machine.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985" indent="-228600">
              <a:lnSpc>
                <a:spcPts val="1380"/>
              </a:lnSpc>
              <a:spcBef>
                <a:spcPts val="44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Enter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name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'SIMATS-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VM2'),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select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Type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(Linux/Windows)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matching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chosen.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350" indent="-228600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Set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Memory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Size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10240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MB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(10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required,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enough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free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remaining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itself.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080" indent="-228600">
              <a:lnSpc>
                <a:spcPts val="1380"/>
              </a:lnSpc>
              <a:spcBef>
                <a:spcPts val="40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Choose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'Create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Now',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select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VDI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format,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Dynamically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Allocated,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size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GB.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8255" indent="-228600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Select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newly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created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VM,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Settings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Processor,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set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number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3.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Go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Settings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attach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downloaded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optical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drive.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080" indent="-228600" algn="just">
              <a:lnSpc>
                <a:spcPts val="1380"/>
              </a:lnSpc>
              <a:spcBef>
                <a:spcPts val="43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Start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VM;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installer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boots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attached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ISO.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Follow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screen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steps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disk.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350" indent="-228600" algn="just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After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installation completes, remove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 ISO from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drive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 reboot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 VM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boot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directly.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5715" indent="-228600" algn="just">
              <a:lnSpc>
                <a:spcPts val="1380"/>
              </a:lnSpc>
              <a:spcBef>
                <a:spcPts val="41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Verify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configuration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(System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Info)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confirming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CPUs,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10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RAM,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1200" spc="4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disk,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4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VirtualBox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Additions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4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better performance/integration.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Configuration</a:t>
            </a:r>
            <a:r>
              <a:rPr sz="1300" b="1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Summary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914400"/>
          <a:ext cx="602742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2972435"/>
              </a:tblGrid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Parameter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Configured</a:t>
                      </a:r>
                      <a:r>
                        <a:rPr sz="1000" b="1" spc="-55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Value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Hypervisor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Type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Type-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2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(Hosted)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—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Oracle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VirtualBox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Host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OS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Windows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Linux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(as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installed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on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physical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machine)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Guest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OS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Ubuntu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Linux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Windows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(as</a:t>
                      </a:r>
                      <a:r>
                        <a:rPr sz="10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selected)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vCPU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Times New Roman" panose="02020503050405090304"/>
                          <a:cs typeface="Times New Roman" panose="02020503050405090304"/>
                        </a:rPr>
                        <a:t>3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RAM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10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GB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(10240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MB)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Storage</a:t>
                      </a:r>
                      <a:r>
                        <a:rPr sz="10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Disk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10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GB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(VDI,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Dynamically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Allocated)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2118105"/>
            <a:ext cx="13493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Output</a:t>
            </a:r>
            <a:r>
              <a:rPr sz="13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Screenshot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91589" y="2406395"/>
            <a:ext cx="5189220" cy="26436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6439" y="5364988"/>
            <a:ext cx="3779520" cy="19202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35807" y="5785103"/>
            <a:ext cx="219456" cy="6705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938272" y="5334000"/>
            <a:ext cx="378460" cy="91440"/>
          </a:xfrm>
          <a:custGeom>
            <a:avLst/>
            <a:gdLst/>
            <a:ahLst/>
            <a:cxnLst/>
            <a:rect l="l" t="t" r="r" b="b"/>
            <a:pathLst>
              <a:path w="378460" h="91439">
                <a:moveTo>
                  <a:pt x="377952" y="91440"/>
                </a:moveTo>
                <a:lnTo>
                  <a:pt x="0" y="91440"/>
                </a:lnTo>
                <a:lnTo>
                  <a:pt x="0" y="0"/>
                </a:lnTo>
                <a:lnTo>
                  <a:pt x="377952" y="0"/>
                </a:lnTo>
                <a:lnTo>
                  <a:pt x="377952" y="9144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2208" y="4757928"/>
            <a:ext cx="243839" cy="548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7528" y="4757928"/>
            <a:ext cx="237744" cy="5486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987039" y="6188964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>
                <a:moveTo>
                  <a:pt x="0" y="0"/>
                </a:moveTo>
                <a:lnTo>
                  <a:pt x="234696" y="0"/>
                </a:lnTo>
              </a:path>
            </a:pathLst>
          </a:custGeom>
          <a:ln w="9144">
            <a:solidFill>
              <a:srgbClr val="6B6B6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55520" y="5356859"/>
            <a:ext cx="265430" cy="0"/>
          </a:xfrm>
          <a:custGeom>
            <a:avLst/>
            <a:gdLst/>
            <a:ahLst/>
            <a:cxnLst/>
            <a:rect l="l" t="t" r="r" b="b"/>
            <a:pathLst>
              <a:path w="265430">
                <a:moveTo>
                  <a:pt x="0" y="0"/>
                </a:moveTo>
                <a:lnTo>
                  <a:pt x="265176" y="0"/>
                </a:lnTo>
              </a:path>
            </a:pathLst>
          </a:custGeom>
          <a:ln w="9144">
            <a:solidFill>
              <a:srgbClr val="3F5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42032" y="1650492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144">
            <a:solidFill>
              <a:srgbClr val="6464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1247" y="4139184"/>
            <a:ext cx="298704" cy="853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5311" y="4142232"/>
            <a:ext cx="316992" cy="822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87696" y="3974591"/>
            <a:ext cx="353567" cy="7315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65064" y="987552"/>
            <a:ext cx="60960" cy="6705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36064" y="5303520"/>
            <a:ext cx="2770632" cy="33527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15711" y="7735823"/>
            <a:ext cx="262127" cy="8534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66232" y="3066288"/>
            <a:ext cx="60960" cy="7010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77439" y="1444752"/>
            <a:ext cx="2346960" cy="792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83535" y="1633727"/>
            <a:ext cx="1530096" cy="853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29967" y="6394703"/>
            <a:ext cx="615695" cy="1524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45207" y="5843015"/>
            <a:ext cx="472440" cy="17373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324855" y="5090159"/>
            <a:ext cx="350520" cy="609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16296" y="5928359"/>
            <a:ext cx="243839" cy="2286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316479" y="2069592"/>
            <a:ext cx="207263" cy="7010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64608" y="2069592"/>
            <a:ext cx="249936" cy="7010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370832" y="2621279"/>
            <a:ext cx="597407" cy="17678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169408" y="2670048"/>
            <a:ext cx="243839" cy="73151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51048" y="5983223"/>
            <a:ext cx="182879" cy="762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64991" y="5974079"/>
            <a:ext cx="195072" cy="7924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029967" y="6583680"/>
            <a:ext cx="152400" cy="14630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243327" y="6620256"/>
            <a:ext cx="152400" cy="7924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547615" y="7671816"/>
            <a:ext cx="576072" cy="21031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313017" y="965454"/>
            <a:ext cx="953135" cy="347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0E0E0E"/>
                </a:solidFill>
                <a:latin typeface="Cambria"/>
                <a:cs typeface="Cambria"/>
              </a:rPr>
              <a:t>Create</a:t>
            </a:r>
            <a:r>
              <a:rPr sz="650" spc="4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650" spc="-20" dirty="0">
                <a:solidFill>
                  <a:srgbClr val="2A2A2A"/>
                </a:solidFill>
                <a:latin typeface="Cambria"/>
                <a:cs typeface="Cambria"/>
              </a:rPr>
              <a:t>Y•rtval</a:t>
            </a:r>
            <a:r>
              <a:rPr sz="650" spc="10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650" spc="-10" dirty="0">
                <a:solidFill>
                  <a:srgbClr val="2F2F2F"/>
                </a:solidFill>
                <a:latin typeface="Cambria"/>
                <a:cs typeface="Cambria"/>
              </a:rPr>
              <a:t>Machine</a:t>
            </a:r>
            <a:endParaRPr sz="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rgbClr val="565B80"/>
                </a:solidFill>
                <a:latin typeface="Cambria"/>
                <a:cs typeface="Cambria"/>
              </a:rPr>
              <a:t>Processor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18676" y="3037840"/>
            <a:ext cx="346710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945" algn="l"/>
              </a:tabLst>
            </a:pPr>
            <a:r>
              <a:rPr sz="700" dirty="0">
                <a:solidFill>
                  <a:srgbClr val="313131"/>
                </a:solidFill>
                <a:latin typeface="Cambria"/>
                <a:cs typeface="Cambria"/>
              </a:rPr>
              <a:t>-	</a:t>
            </a:r>
            <a:r>
              <a:rPr sz="700" spc="-10" dirty="0">
                <a:solidFill>
                  <a:srgbClr val="464646"/>
                </a:solidFill>
                <a:latin typeface="Cambria"/>
                <a:cs typeface="Cambria"/>
              </a:rPr>
              <a:t>Create</a:t>
            </a:r>
            <a:r>
              <a:rPr sz="700" spc="45" dirty="0">
                <a:solidFill>
                  <a:srgbClr val="464646"/>
                </a:solidFill>
                <a:latin typeface="Cambria"/>
                <a:cs typeface="Cambria"/>
              </a:rPr>
              <a:t> </a:t>
            </a:r>
            <a:r>
              <a:rPr sz="700" spc="-45" dirty="0">
                <a:solidFill>
                  <a:srgbClr val="1D1D1D"/>
                </a:solidFill>
                <a:latin typeface="Cambria"/>
                <a:cs typeface="Cambria"/>
              </a:rPr>
              <a:t>Virtual</a:t>
            </a:r>
            <a:r>
              <a:rPr sz="700" spc="30" dirty="0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sz="700" spc="-50" dirty="0">
                <a:solidFill>
                  <a:srgbClr val="414141"/>
                </a:solidFill>
                <a:latin typeface="Cambria"/>
                <a:cs typeface="Cambria"/>
              </a:rPr>
              <a:t>I•Ia‹d</a:t>
            </a:r>
            <a:r>
              <a:rPr sz="700" spc="30" dirty="0">
                <a:solidFill>
                  <a:srgbClr val="414141"/>
                </a:solidFill>
                <a:latin typeface="Cambria"/>
                <a:cs typeface="Cambria"/>
              </a:rPr>
              <a:t> </a:t>
            </a:r>
            <a:r>
              <a:rPr sz="700" spc="-20" dirty="0">
                <a:solidFill>
                  <a:srgbClr val="3B3B3B"/>
                </a:solidFill>
                <a:latin typeface="Cambria"/>
                <a:cs typeface="Cambria"/>
              </a:rPr>
              <a:t>Disk</a:t>
            </a:r>
            <a:endParaRPr sz="700">
              <a:latin typeface="Cambria"/>
              <a:cs typeface="Cambria"/>
            </a:endParaRPr>
          </a:p>
          <a:p>
            <a:pPr marL="102235">
              <a:lnSpc>
                <a:spcPct val="100000"/>
              </a:lnSpc>
              <a:spcBef>
                <a:spcPts val="760"/>
              </a:spcBef>
            </a:pPr>
            <a:r>
              <a:rPr sz="850" spc="-40" dirty="0">
                <a:solidFill>
                  <a:srgbClr val="575B7E"/>
                </a:solidFill>
                <a:latin typeface="Cambria"/>
                <a:cs typeface="Cambria"/>
              </a:rPr>
              <a:t>File</a:t>
            </a:r>
            <a:r>
              <a:rPr sz="850" spc="20" dirty="0">
                <a:solidFill>
                  <a:srgbClr val="575B7E"/>
                </a:solidFill>
                <a:latin typeface="Cambria"/>
                <a:cs typeface="Cambria"/>
              </a:rPr>
              <a:t> </a:t>
            </a:r>
            <a:r>
              <a:rPr sz="850" spc="-20" dirty="0">
                <a:solidFill>
                  <a:srgbClr val="808CAF"/>
                </a:solidFill>
                <a:latin typeface="Cambria"/>
                <a:cs typeface="Cambria"/>
              </a:rPr>
              <a:t>size</a:t>
            </a:r>
            <a:endParaRPr sz="850">
              <a:latin typeface="Cambria"/>
              <a:cs typeface="Cambria"/>
            </a:endParaRPr>
          </a:p>
          <a:p>
            <a:pPr marL="158115">
              <a:lnSpc>
                <a:spcPts val="805"/>
              </a:lnSpc>
              <a:spcBef>
                <a:spcPts val="810"/>
              </a:spcBef>
            </a:pPr>
            <a:r>
              <a:rPr sz="700" spc="-40" dirty="0">
                <a:solidFill>
                  <a:srgbClr val="5B5B5B"/>
                </a:solidFill>
                <a:latin typeface="Cambria"/>
                <a:cs typeface="Cambria"/>
              </a:rPr>
              <a:t>Please</a:t>
            </a:r>
            <a:r>
              <a:rPr sz="700" spc="-10" dirty="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sz="700" spc="-40" dirty="0">
                <a:solidFill>
                  <a:srgbClr val="757575"/>
                </a:solidFill>
                <a:latin typeface="Cambria"/>
                <a:cs typeface="Cambria"/>
              </a:rPr>
              <a:t>&lt;nocce</a:t>
            </a:r>
            <a:r>
              <a:rPr sz="700" dirty="0">
                <a:solidFill>
                  <a:srgbClr val="757575"/>
                </a:solidFill>
                <a:latin typeface="Cambria"/>
                <a:cs typeface="Cambria"/>
              </a:rPr>
              <a:t> </a:t>
            </a:r>
            <a:r>
              <a:rPr sz="700" spc="-25" dirty="0">
                <a:solidFill>
                  <a:srgbClr val="838383"/>
                </a:solidFill>
                <a:latin typeface="Cambria"/>
                <a:cs typeface="Cambria"/>
              </a:rPr>
              <a:t>the</a:t>
            </a:r>
            <a:r>
              <a:rPr sz="700" spc="-10" dirty="0">
                <a:solidFill>
                  <a:srgbClr val="838383"/>
                </a:solidFill>
                <a:latin typeface="Cambria"/>
                <a:cs typeface="Cambria"/>
              </a:rPr>
              <a:t> </a:t>
            </a:r>
            <a:r>
              <a:rPr sz="700" spc="-25" dirty="0">
                <a:solidFill>
                  <a:srgbClr val="5B5B5B"/>
                </a:solidFill>
                <a:latin typeface="Cambria"/>
                <a:cs typeface="Cambria"/>
              </a:rPr>
              <a:t>site</a:t>
            </a:r>
            <a:r>
              <a:rPr sz="700" spc="-15" dirty="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sz="700" spc="-5" dirty="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sz="700" spc="-20" dirty="0">
                <a:solidFill>
                  <a:srgbClr val="343434"/>
                </a:solidFill>
                <a:latin typeface="Cambria"/>
                <a:cs typeface="Cambria"/>
              </a:rPr>
              <a:t>the</a:t>
            </a:r>
            <a:r>
              <a:rPr sz="700" spc="-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5B5B5B"/>
                </a:solidFill>
                <a:latin typeface="Cambria"/>
                <a:cs typeface="Cambria"/>
              </a:rPr>
              <a:t>w‹ual</a:t>
            </a:r>
            <a:r>
              <a:rPr sz="700" spc="40" dirty="0">
                <a:solidFill>
                  <a:srgbClr val="5B5B5B"/>
                </a:solidFill>
                <a:latin typeface="Cambria"/>
                <a:cs typeface="Cambria"/>
              </a:rPr>
              <a:t> </a:t>
            </a:r>
            <a:r>
              <a:rPr sz="700" spc="-60" dirty="0">
                <a:solidFill>
                  <a:srgbClr val="4D4D4D"/>
                </a:solidFill>
                <a:latin typeface="Cambria"/>
                <a:cs typeface="Cambria"/>
              </a:rPr>
              <a:t>hard</a:t>
            </a:r>
            <a:r>
              <a:rPr sz="700" spc="30" dirty="0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727272"/>
                </a:solidFill>
                <a:latin typeface="Cambria"/>
                <a:cs typeface="Cambria"/>
              </a:rPr>
              <a:t>au‹</a:t>
            </a:r>
            <a:r>
              <a:rPr sz="700" spc="195" dirty="0">
                <a:solidFill>
                  <a:srgbClr val="727272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111111"/>
                </a:solidFill>
                <a:latin typeface="Cambria"/>
                <a:cs typeface="Cambria"/>
              </a:rPr>
              <a:t>flk</a:t>
            </a:r>
            <a:r>
              <a:rPr sz="700" spc="26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700" spc="-85" dirty="0">
                <a:solidFill>
                  <a:srgbClr val="808080"/>
                </a:solidFill>
                <a:latin typeface="Cambria"/>
                <a:cs typeface="Cambria"/>
              </a:rPr>
              <a:t>The</a:t>
            </a:r>
            <a:r>
              <a:rPr sz="700" spc="45" dirty="0">
                <a:solidFill>
                  <a:srgbClr val="808080"/>
                </a:solidFill>
                <a:latin typeface="Cambria"/>
                <a:cs typeface="Cambria"/>
              </a:rPr>
              <a:t> </a:t>
            </a:r>
            <a:r>
              <a:rPr sz="700" spc="-30" dirty="0">
                <a:solidFill>
                  <a:srgbClr val="565656"/>
                </a:solidFill>
                <a:latin typeface="Cambria"/>
                <a:cs typeface="Cambria"/>
              </a:rPr>
              <a:t>size</a:t>
            </a:r>
            <a:r>
              <a:rPr sz="700" spc="-20" dirty="0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sz="700" spc="-30" dirty="0">
                <a:solidFill>
                  <a:srgbClr val="828282"/>
                </a:solidFill>
                <a:latin typeface="Cambria"/>
                <a:cs typeface="Cambria"/>
              </a:rPr>
              <a:t>of</a:t>
            </a:r>
            <a:r>
              <a:rPr sz="700" spc="60" dirty="0">
                <a:solidFill>
                  <a:srgbClr val="828282"/>
                </a:solidFill>
                <a:latin typeface="Cambria"/>
                <a:cs typeface="Cambria"/>
              </a:rPr>
              <a:t> </a:t>
            </a:r>
            <a:r>
              <a:rPr sz="700" spc="-114" dirty="0">
                <a:solidFill>
                  <a:srgbClr val="777777"/>
                </a:solidFill>
                <a:latin typeface="Cambria"/>
                <a:cs typeface="Cambria"/>
              </a:rPr>
              <a:t>Line</a:t>
            </a:r>
            <a:r>
              <a:rPr sz="700" spc="75" dirty="0">
                <a:solidFill>
                  <a:srgbClr val="777777"/>
                </a:solidFill>
                <a:latin typeface="Cambria"/>
                <a:cs typeface="Cambria"/>
              </a:rPr>
              <a:t> </a:t>
            </a:r>
            <a:r>
              <a:rPr sz="700" spc="-40" dirty="0">
                <a:solidFill>
                  <a:srgbClr val="282828"/>
                </a:solidFill>
                <a:latin typeface="Cambria"/>
                <a:cs typeface="Cambria"/>
              </a:rPr>
              <a:t>file</a:t>
            </a:r>
            <a:r>
              <a:rPr sz="700" spc="2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747474"/>
                </a:solidFill>
                <a:latin typeface="Cambria"/>
                <a:cs typeface="Cambria"/>
              </a:rPr>
              <a:t>a&lt;</a:t>
            </a:r>
            <a:r>
              <a:rPr sz="700" spc="25" dirty="0">
                <a:solidFill>
                  <a:srgbClr val="747474"/>
                </a:solidFill>
                <a:latin typeface="Cambria"/>
                <a:cs typeface="Cambria"/>
              </a:rPr>
              <a:t> </a:t>
            </a:r>
            <a:r>
              <a:rPr sz="700" spc="-55" dirty="0">
                <a:solidFill>
                  <a:srgbClr val="606060"/>
                </a:solidFill>
                <a:latin typeface="Cambria"/>
                <a:cs typeface="Cambria"/>
              </a:rPr>
              <a:t>your</a:t>
            </a:r>
            <a:r>
              <a:rPr sz="700" spc="90" dirty="0">
                <a:solidFill>
                  <a:srgbClr val="606060"/>
                </a:solidFill>
                <a:latin typeface="Cambria"/>
                <a:cs typeface="Cambria"/>
              </a:rPr>
              <a:t> </a:t>
            </a:r>
            <a:r>
              <a:rPr sz="700" spc="-55" dirty="0">
                <a:solidFill>
                  <a:srgbClr val="1A1A1A"/>
                </a:solidFill>
                <a:latin typeface="Cambria"/>
                <a:cs typeface="Cambria"/>
              </a:rPr>
              <a:t>bard</a:t>
            </a:r>
            <a:r>
              <a:rPr sz="700" spc="25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700" spc="-55" dirty="0">
                <a:solidFill>
                  <a:srgbClr val="6B6B6B"/>
                </a:solidFill>
                <a:latin typeface="Cambria"/>
                <a:cs typeface="Cambria"/>
              </a:rPr>
              <a:t>disk</a:t>
            </a:r>
            <a:r>
              <a:rPr sz="700" spc="25" dirty="0">
                <a:solidFill>
                  <a:srgbClr val="6B6B6B"/>
                </a:solidFill>
                <a:latin typeface="Cambria"/>
                <a:cs typeface="Cambria"/>
              </a:rPr>
              <a:t> </a:t>
            </a:r>
            <a:r>
              <a:rPr sz="700" spc="-20" dirty="0">
                <a:solidFill>
                  <a:srgbClr val="646464"/>
                </a:solidFill>
                <a:latin typeface="Cambria"/>
                <a:cs typeface="Cambria"/>
              </a:rPr>
              <a:t>w•ii</a:t>
            </a:r>
            <a:endParaRPr sz="700">
              <a:latin typeface="Cambria"/>
              <a:cs typeface="Cambria"/>
            </a:endParaRPr>
          </a:p>
          <a:p>
            <a:pPr marL="160655" marR="5080" indent="-635">
              <a:lnSpc>
                <a:spcPts val="790"/>
              </a:lnSpc>
              <a:spcBef>
                <a:spcPts val="30"/>
              </a:spcBef>
            </a:pPr>
            <a:r>
              <a:rPr sz="700" spc="-85" dirty="0">
                <a:solidFill>
                  <a:srgbClr val="2B2B2B"/>
                </a:solidFill>
                <a:latin typeface="Cambria"/>
                <a:cs typeface="Cambria"/>
              </a:rPr>
              <a:t>uary</a:t>
            </a:r>
            <a:r>
              <a:rPr sz="700" spc="15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700" spc="-85" dirty="0">
                <a:solidFill>
                  <a:srgbClr val="727272"/>
                </a:solidFill>
                <a:latin typeface="Cambria"/>
                <a:cs typeface="Cambria"/>
              </a:rPr>
              <a:t>cbpendñ&gt;g</a:t>
            </a:r>
            <a:r>
              <a:rPr sz="700" spc="60" dirty="0">
                <a:solidFill>
                  <a:srgbClr val="727272"/>
                </a:solidFill>
                <a:latin typeface="Cambria"/>
                <a:cs typeface="Cambria"/>
              </a:rPr>
              <a:t> </a:t>
            </a:r>
            <a:r>
              <a:rPr sz="700" spc="-35" dirty="0">
                <a:solidFill>
                  <a:srgbClr val="757575"/>
                </a:solidFill>
                <a:latin typeface="Cambria"/>
                <a:cs typeface="Cambria"/>
              </a:rPr>
              <a:t>on</a:t>
            </a:r>
            <a:r>
              <a:rPr sz="700" spc="15" dirty="0">
                <a:solidFill>
                  <a:srgbClr val="757575"/>
                </a:solidFill>
                <a:latin typeface="Cambria"/>
                <a:cs typeface="Cambria"/>
              </a:rPr>
              <a:t> </a:t>
            </a:r>
            <a:r>
              <a:rPr sz="700" spc="-40" dirty="0">
                <a:solidFill>
                  <a:srgbClr val="898989"/>
                </a:solidFill>
                <a:latin typeface="Cambria"/>
                <a:cs typeface="Cambria"/>
              </a:rPr>
              <a:t>tf›e</a:t>
            </a:r>
            <a:r>
              <a:rPr sz="700" spc="-5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313131"/>
                </a:solidFill>
                <a:latin typeface="Cambria"/>
                <a:cs typeface="Cambria"/>
              </a:rPr>
              <a:t>we</a:t>
            </a:r>
            <a:r>
              <a:rPr sz="700" spc="36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700" spc="-50" dirty="0">
                <a:solidFill>
                  <a:srgbClr val="909090"/>
                </a:solidFill>
                <a:latin typeface="Cambria"/>
                <a:cs typeface="Cambria"/>
              </a:rPr>
              <a:t>or</a:t>
            </a:r>
            <a:r>
              <a:rPr sz="700" spc="-5" dirty="0">
                <a:solidFill>
                  <a:srgbClr val="909090"/>
                </a:solidFill>
                <a:latin typeface="Cambria"/>
                <a:cs typeface="Cambria"/>
              </a:rPr>
              <a:t> </a:t>
            </a:r>
            <a:r>
              <a:rPr sz="700" spc="-60" dirty="0">
                <a:solidFill>
                  <a:srgbClr val="545454"/>
                </a:solidFill>
                <a:latin typeface="Cambria"/>
                <a:cs typeface="Cambria"/>
              </a:rPr>
              <a:t>hard</a:t>
            </a:r>
            <a:r>
              <a:rPr sz="700" spc="65" dirty="0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282828"/>
                </a:solidFill>
                <a:latin typeface="Cambria"/>
                <a:cs typeface="Cambria"/>
              </a:rPr>
              <a:t>ask</a:t>
            </a:r>
            <a:r>
              <a:rPr sz="700" spc="7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700" spc="-55" dirty="0">
                <a:solidFill>
                  <a:srgbClr val="4F4F4F"/>
                </a:solidFill>
                <a:latin typeface="Cambria"/>
                <a:cs typeface="Cambria"/>
              </a:rPr>
              <a:t>fde</a:t>
            </a:r>
            <a:r>
              <a:rPr sz="700" spc="5" dirty="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sz="700" spc="-55" dirty="0">
                <a:solidFill>
                  <a:srgbClr val="3B3B3B"/>
                </a:solidFill>
                <a:latin typeface="Cambria"/>
                <a:cs typeface="Cambria"/>
              </a:rPr>
              <a:t>format</a:t>
            </a:r>
            <a:r>
              <a:rPr sz="700" spc="70" dirty="0">
                <a:solidFill>
                  <a:srgbClr val="3B3B3B"/>
                </a:solidFill>
                <a:latin typeface="Cambria"/>
                <a:cs typeface="Cambria"/>
              </a:rPr>
              <a:t> </a:t>
            </a:r>
            <a:r>
              <a:rPr sz="700" spc="-35" dirty="0">
                <a:solidFill>
                  <a:srgbClr val="262626"/>
                </a:solidFill>
                <a:latin typeface="Cambria"/>
                <a:cs typeface="Cambria"/>
              </a:rPr>
              <a:t>that</a:t>
            </a:r>
            <a:r>
              <a:rPr sz="700" spc="7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700" spc="-55" dirty="0">
                <a:solidFill>
                  <a:srgbClr val="4B4B4B"/>
                </a:solidFill>
                <a:latin typeface="Cambria"/>
                <a:cs typeface="Cambria"/>
              </a:rPr>
              <a:t>rou</a:t>
            </a:r>
            <a:r>
              <a:rPr sz="700" spc="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700" dirty="0">
                <a:solidFill>
                  <a:srgbClr val="505050"/>
                </a:solidFill>
                <a:latin typeface="Cambria"/>
                <a:cs typeface="Cambria"/>
              </a:rPr>
              <a:t>dxx</a:t>
            </a:r>
            <a:r>
              <a:rPr sz="700" spc="-65" dirty="0">
                <a:solidFill>
                  <a:srgbClr val="505050"/>
                </a:solidFill>
                <a:latin typeface="Cambria"/>
                <a:cs typeface="Cambria"/>
              </a:rPr>
              <a:t> </a:t>
            </a:r>
            <a:r>
              <a:rPr sz="700" spc="-30" dirty="0">
                <a:solidFill>
                  <a:srgbClr val="505050"/>
                </a:solidFill>
                <a:latin typeface="Cambria"/>
                <a:cs typeface="Cambria"/>
              </a:rPr>
              <a:t>se </a:t>
            </a:r>
            <a:r>
              <a:rPr sz="700" spc="-75" dirty="0">
                <a:solidFill>
                  <a:srgbClr val="626262"/>
                </a:solidFill>
                <a:latin typeface="Cambria"/>
                <a:cs typeface="Cambria"/>
              </a:rPr>
              <a:t>ar&lt;I</a:t>
            </a:r>
            <a:r>
              <a:rPr sz="700" spc="-10" dirty="0">
                <a:solidFill>
                  <a:srgbClr val="626262"/>
                </a:solidFill>
                <a:latin typeface="Cambria"/>
                <a:cs typeface="Cambria"/>
              </a:rPr>
              <a:t> </a:t>
            </a:r>
            <a:r>
              <a:rPr sz="700" spc="-20" dirty="0">
                <a:solidFill>
                  <a:srgbClr val="575757"/>
                </a:solidFill>
                <a:latin typeface="Cambria"/>
                <a:cs typeface="Cambria"/>
              </a:rPr>
              <a:t>d›e</a:t>
            </a:r>
            <a:r>
              <a:rPr sz="700" spc="-5" dirty="0">
                <a:solidFill>
                  <a:srgbClr val="575757"/>
                </a:solidFill>
                <a:latin typeface="Cambria"/>
                <a:cs typeface="Cambria"/>
              </a:rPr>
              <a:t> </a:t>
            </a:r>
            <a:r>
              <a:rPr sz="700" spc="-80" dirty="0">
                <a:solidFill>
                  <a:srgbClr val="4F4F4F"/>
                </a:solidFill>
                <a:latin typeface="Cambria"/>
                <a:cs typeface="Cambria"/>
              </a:rPr>
              <a:t>way</a:t>
            </a:r>
            <a:r>
              <a:rPr sz="700" spc="35" dirty="0">
                <a:solidFill>
                  <a:srgbClr val="4F4F4F"/>
                </a:solidFill>
                <a:latin typeface="Cambria"/>
                <a:cs typeface="Cambria"/>
              </a:rPr>
              <a:t> </a:t>
            </a:r>
            <a:r>
              <a:rPr sz="700" spc="-65" dirty="0">
                <a:solidFill>
                  <a:srgbClr val="444444"/>
                </a:solidFill>
                <a:latin typeface="Cambria"/>
                <a:cs typeface="Cambria"/>
              </a:rPr>
              <a:t>you</a:t>
            </a:r>
            <a:r>
              <a:rPr sz="700" spc="50" dirty="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sz="700" spc="-50" dirty="0">
                <a:solidFill>
                  <a:srgbClr val="4F4F4F"/>
                </a:solidFill>
                <a:latin typeface="Cambria"/>
                <a:cs typeface="Cambria"/>
              </a:rPr>
              <a:t>use </a:t>
            </a:r>
            <a:r>
              <a:rPr sz="700" dirty="0">
                <a:solidFill>
                  <a:srgbClr val="424242"/>
                </a:solidFill>
                <a:latin typeface="Cambria"/>
                <a:cs typeface="Cambria"/>
              </a:rPr>
              <a:t>tfe</a:t>
            </a:r>
            <a:r>
              <a:rPr sz="700" spc="60" dirty="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sz="700" spc="-10" dirty="0">
                <a:solidFill>
                  <a:srgbClr val="3D3D3D"/>
                </a:solidFill>
                <a:latin typeface="Cambria"/>
                <a:cs typeface="Cambria"/>
              </a:rPr>
              <a:t>vinud</a:t>
            </a:r>
            <a:r>
              <a:rPr sz="700" spc="500" dirty="0">
                <a:solidFill>
                  <a:srgbClr val="3D3D3D"/>
                </a:solidFill>
                <a:latin typeface="Cambria"/>
                <a:cs typeface="Cambria"/>
              </a:rPr>
              <a:t> </a:t>
            </a:r>
            <a:r>
              <a:rPr sz="700" spc="-45" dirty="0">
                <a:solidFill>
                  <a:srgbClr val="4D4D4D"/>
                </a:solidFill>
                <a:latin typeface="Cambria"/>
                <a:cs typeface="Cambria"/>
              </a:rPr>
              <a:t>hera</a:t>
            </a:r>
            <a:r>
              <a:rPr sz="700" spc="30" dirty="0">
                <a:solidFill>
                  <a:srgbClr val="4D4D4D"/>
                </a:solidFill>
                <a:latin typeface="Cambria"/>
                <a:cs typeface="Cambria"/>
              </a:rPr>
              <a:t> </a:t>
            </a:r>
            <a:r>
              <a:rPr sz="700" spc="-25" dirty="0">
                <a:solidFill>
                  <a:srgbClr val="5B5B5B"/>
                </a:solidFill>
                <a:latin typeface="Cambria"/>
                <a:cs typeface="Cambria"/>
              </a:rPr>
              <a:t>W.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26415" y="5052821"/>
            <a:ext cx="85788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525252"/>
                </a:solidFill>
                <a:latin typeface="Cambria"/>
                <a:cs typeface="Cambria"/>
              </a:rPr>
              <a:t>UbuAtu</a:t>
            </a:r>
            <a:r>
              <a:rPr sz="650" spc="220" dirty="0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sz="650" dirty="0">
                <a:solidFill>
                  <a:srgbClr val="262626"/>
                </a:solidFill>
                <a:latin typeface="Cambria"/>
                <a:cs typeface="Cambria"/>
              </a:rPr>
              <a:t>VM</a:t>
            </a:r>
            <a:r>
              <a:rPr sz="650" spc="8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650" spc="-40" dirty="0">
                <a:solidFill>
                  <a:srgbClr val="979797"/>
                </a:solidFill>
                <a:latin typeface="Cambria"/>
                <a:cs typeface="Cambria"/>
              </a:rPr>
              <a:t>•</a:t>
            </a:r>
            <a:r>
              <a:rPr sz="650" spc="95" dirty="0">
                <a:solidFill>
                  <a:srgbClr val="979797"/>
                </a:solidFill>
                <a:latin typeface="Cambria"/>
                <a:cs typeface="Cambria"/>
              </a:rPr>
              <a:t> </a:t>
            </a:r>
            <a:r>
              <a:rPr sz="650" spc="-40" dirty="0">
                <a:solidFill>
                  <a:srgbClr val="494949"/>
                </a:solidFill>
                <a:latin typeface="Cambria"/>
                <a:cs typeface="Cambria"/>
              </a:rPr>
              <a:t>Sd•ItiPiqS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31514" y="5668264"/>
            <a:ext cx="26924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45" dirty="0">
                <a:solidFill>
                  <a:srgbClr val="464646"/>
                </a:solidFill>
                <a:latin typeface="Cambria"/>
                <a:cs typeface="Cambria"/>
              </a:rPr>
              <a:t>Display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43861" y="6037071"/>
            <a:ext cx="402590" cy="31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4B4B4B"/>
                </a:solidFill>
                <a:latin typeface="Courier New" panose="02070409020205090404"/>
                <a:cs typeface="Courier New" panose="02070409020205090404"/>
              </a:rPr>
              <a:t>Audña</a:t>
            </a:r>
            <a:endParaRPr sz="700">
              <a:latin typeface="Courier New" panose="02070409020205090404"/>
              <a:cs typeface="Courier New" panose="02070409020205090404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600" i="1" dirty="0">
                <a:solidFill>
                  <a:srgbClr val="A1A1A1"/>
                </a:solidFill>
                <a:latin typeface="Cambria"/>
                <a:cs typeface="Cambria"/>
              </a:rPr>
              <a:t>'</a:t>
            </a:r>
            <a:r>
              <a:rPr sz="600" i="1" spc="445" dirty="0">
                <a:solidFill>
                  <a:srgbClr val="A1A1A1"/>
                </a:solidFill>
                <a:latin typeface="Cambria"/>
                <a:cs typeface="Cambria"/>
              </a:rPr>
              <a:t> </a:t>
            </a:r>
            <a:r>
              <a:rPr sz="600" spc="-10" dirty="0">
                <a:solidFill>
                  <a:srgbClr val="2F2F2F"/>
                </a:solidFill>
                <a:latin typeface="Cambria"/>
                <a:cs typeface="Cambria"/>
              </a:rPr>
              <a:t>Network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31862" y="6762495"/>
            <a:ext cx="545465" cy="31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35" dirty="0">
                <a:solidFill>
                  <a:srgbClr val="3F3F3F"/>
                </a:solidFill>
                <a:latin typeface="Cambria"/>
                <a:cs typeface="Cambria"/>
              </a:rPr>
              <a:t>Shared</a:t>
            </a:r>
            <a:r>
              <a:rPr sz="700" spc="45" dirty="0">
                <a:solidFill>
                  <a:srgbClr val="3F3F3F"/>
                </a:solidFill>
                <a:latin typeface="Cambria"/>
                <a:cs typeface="Cambria"/>
              </a:rPr>
              <a:t> </a:t>
            </a:r>
            <a:r>
              <a:rPr sz="700" spc="-35" dirty="0">
                <a:solidFill>
                  <a:srgbClr val="484848"/>
                </a:solidFill>
                <a:latin typeface="Cambria"/>
                <a:cs typeface="Cambria"/>
              </a:rPr>
              <a:t>Folders</a:t>
            </a:r>
            <a:endParaRPr sz="700">
              <a:latin typeface="Cambria"/>
              <a:cs typeface="Cambria"/>
            </a:endParaRPr>
          </a:p>
          <a:p>
            <a:pPr marL="13970">
              <a:lnSpc>
                <a:spcPct val="100000"/>
              </a:lnSpc>
              <a:spcBef>
                <a:spcPts val="700"/>
              </a:spcBef>
            </a:pPr>
            <a:r>
              <a:rPr sz="600" dirty="0">
                <a:solidFill>
                  <a:srgbClr val="4B4B4B"/>
                </a:solidFill>
                <a:latin typeface="Cambria"/>
                <a:cs typeface="Cambria"/>
              </a:rPr>
              <a:t>User</a:t>
            </a:r>
            <a:r>
              <a:rPr sz="600" spc="345" dirty="0">
                <a:solidFill>
                  <a:srgbClr val="4B4B4B"/>
                </a:solidFill>
                <a:latin typeface="Cambria"/>
                <a:cs typeface="Cambria"/>
              </a:rPr>
              <a:t> </a:t>
            </a:r>
            <a:r>
              <a:rPr sz="600" spc="-10" dirty="0">
                <a:solidFill>
                  <a:srgbClr val="242424"/>
                </a:solidFill>
                <a:latin typeface="Cambria"/>
                <a:cs typeface="Cambria"/>
              </a:rPr>
              <a:t>nterfaEe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54759" y="5747765"/>
            <a:ext cx="438784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444444"/>
                </a:solidFill>
                <a:latin typeface="Cambria"/>
                <a:cs typeface="Cambria"/>
              </a:rPr>
              <a:t>Ubuntu,VN</a:t>
            </a:r>
            <a:endParaRPr sz="65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56142" y="6134861"/>
            <a:ext cx="99568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845" algn="l"/>
              </a:tabLst>
            </a:pPr>
            <a:r>
              <a:rPr sz="650" dirty="0">
                <a:solidFill>
                  <a:srgbClr val="525252"/>
                </a:solidFill>
                <a:latin typeface="Cambria"/>
                <a:cs typeface="Cambria"/>
              </a:rPr>
              <a:t>•w</a:t>
            </a:r>
            <a:r>
              <a:rPr sz="650" spc="305" dirty="0">
                <a:solidFill>
                  <a:srgbClr val="525252"/>
                </a:solidFill>
                <a:latin typeface="Cambria"/>
                <a:cs typeface="Cambria"/>
              </a:rPr>
              <a:t>  </a:t>
            </a:r>
            <a:r>
              <a:rPr sz="650" spc="-50" dirty="0">
                <a:solidFill>
                  <a:srgbClr val="777777"/>
                </a:solidFill>
                <a:latin typeface="Cambria"/>
                <a:cs typeface="Cambria"/>
              </a:rPr>
              <a:t>•</a:t>
            </a:r>
            <a:r>
              <a:rPr sz="650" dirty="0">
                <a:solidFill>
                  <a:srgbClr val="777777"/>
                </a:solidFill>
                <a:latin typeface="Cambria"/>
                <a:cs typeface="Cambria"/>
              </a:rPr>
              <a:t>	</a:t>
            </a:r>
            <a:r>
              <a:rPr sz="650" dirty="0">
                <a:solidFill>
                  <a:srgbClr val="525252"/>
                </a:solidFill>
                <a:latin typeface="Cambria"/>
                <a:cs typeface="Cambria"/>
              </a:rPr>
              <a:t>Ubuntu</a:t>
            </a:r>
            <a:r>
              <a:rPr sz="650" spc="20" dirty="0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sz="650" spc="-20" dirty="0">
                <a:solidFill>
                  <a:srgbClr val="262626"/>
                </a:solidFill>
                <a:latin typeface="Cambria"/>
                <a:cs typeface="Cambria"/>
              </a:rPr>
              <a:t>{64</a:t>
            </a:r>
            <a:r>
              <a:rPr sz="650" spc="-7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650" spc="-10" dirty="0">
                <a:solidFill>
                  <a:srgbClr val="2B2B2B"/>
                </a:solidFill>
                <a:latin typeface="Cambria"/>
                <a:cs typeface="Cambria"/>
              </a:rPr>
              <a:t>-</a:t>
            </a:r>
            <a:r>
              <a:rPr sz="650" spc="-20" dirty="0">
                <a:solidFill>
                  <a:srgbClr val="2B2B2B"/>
                </a:solidFill>
                <a:latin typeface="Cambria"/>
                <a:cs typeface="Cambria"/>
              </a:rPr>
              <a:t>bit)</a:t>
            </a:r>
            <a:endParaRPr sz="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343600"/>
            <a:ext cx="5969000" cy="10731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Result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ct val="96000"/>
              </a:lnSpc>
              <a:spcBef>
                <a:spcPts val="59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Hypervisor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(Oracle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VirtualBox)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was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successfully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installed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machine,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CPUs,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RAM,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10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GB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with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demonstrating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virtualization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higher-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resource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allocation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platform.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8700" y="914400"/>
            <a:ext cx="5715000" cy="3368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8238"/>
            <a:ext cx="5966460" cy="6920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600" b="1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4:</a:t>
            </a:r>
            <a:r>
              <a:rPr sz="16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Creating</a:t>
            </a:r>
            <a:r>
              <a:rPr sz="16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6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Testing</a:t>
            </a:r>
            <a:r>
              <a:rPr sz="16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6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600" b="1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6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6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Machine</a:t>
            </a:r>
            <a:endParaRPr sz="16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300" b="1" spc="-25" dirty="0">
                <a:latin typeface="Times New Roman" panose="02020503050405090304"/>
                <a:cs typeface="Times New Roman" panose="02020503050405090304"/>
              </a:rPr>
              <a:t>Aim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080">
              <a:lnSpc>
                <a:spcPts val="1380"/>
              </a:lnSpc>
              <a:spcBef>
                <a:spcPts val="63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demonstrate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creating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existing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(created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using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Hypervisor)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testing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previous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saved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version/state.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Software</a:t>
            </a:r>
            <a:r>
              <a:rPr sz="13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Required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marR="120650" indent="-228600">
              <a:lnSpc>
                <a:spcPts val="1380"/>
              </a:lnSpc>
              <a:spcBef>
                <a:spcPts val="615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Oracle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VirtualBox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Hypervisor)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source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Experiment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3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already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installed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205"/>
              </a:spcBef>
              <a:buChar char="•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Sufficient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free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space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files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Procedure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469265" marR="88265" indent="-228600">
              <a:lnSpc>
                <a:spcPts val="1380"/>
              </a:lnSpc>
              <a:spcBef>
                <a:spcPts val="62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Start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source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'SIMATS-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VM2')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boot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operating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known,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state.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274955" indent="-228600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VirtualBox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Manager,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select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'Snapshots'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Take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window).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123825" indent="-228600" algn="just">
              <a:lnSpc>
                <a:spcPts val="1380"/>
              </a:lnSpc>
              <a:spcBef>
                <a:spcPts val="41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Click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'Take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Snapshot',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enter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name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'Base-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State')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optional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description,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then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click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'OK'.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captures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current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memory,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point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time.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63500" indent="-228600">
              <a:lnSpc>
                <a:spcPts val="1380"/>
              </a:lnSpc>
              <a:spcBef>
                <a:spcPts val="39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Make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noticeable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change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inside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after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example,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create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install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small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change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desktop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background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change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verify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rollback.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157480" indent="-228600">
              <a:lnSpc>
                <a:spcPts val="1380"/>
              </a:lnSpc>
              <a:spcBef>
                <a:spcPts val="40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Optionally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take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second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'After-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Change')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represent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modified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state,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versions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compare.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31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shut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(Machine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Close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→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Power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Off).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302895" indent="-228600">
              <a:lnSpc>
                <a:spcPts val="1380"/>
              </a:lnSpc>
              <a:spcBef>
                <a:spcPts val="43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tab,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right-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click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earlier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('Base-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State')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select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'Restore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Snapshot'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roll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saved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version.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indent="-2279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Confirm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prompted,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start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298450" indent="-228600">
              <a:lnSpc>
                <a:spcPts val="1380"/>
              </a:lnSpc>
              <a:spcBef>
                <a:spcPts val="43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Verify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change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made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Step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4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(the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file/application/setting)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longer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present,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confirming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successfully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reverted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previous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snapshot's state.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265" marR="285750" indent="-228600">
              <a:lnSpc>
                <a:spcPts val="1380"/>
              </a:lnSpc>
              <a:spcBef>
                <a:spcPts val="40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demonstrates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capability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hypervisors,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quick save-and-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VM's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reinstall.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Observation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20" dirty="0">
                <a:latin typeface="Times New Roman" panose="02020503050405090304"/>
                <a:cs typeface="Times New Roman" panose="02020503050405090304"/>
              </a:rPr>
              <a:t>Table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7874253"/>
          <a:ext cx="6027420" cy="749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835"/>
                <a:gridCol w="1981835"/>
                <a:gridCol w="1981835"/>
              </a:tblGrid>
              <a:tr h="152400"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Snapshot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State</a:t>
                      </a:r>
                      <a:r>
                        <a:rPr sz="1000" b="1" spc="-25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Captured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00"/>
                        </a:lnSpc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Verification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After</a:t>
                      </a:r>
                      <a:r>
                        <a:rPr sz="1000" b="1" spc="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Restore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Base-State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Clean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guest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OS,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before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any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change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79375">
                        <a:lnSpc>
                          <a:spcPts val="115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Restored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VM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does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not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show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the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later change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5715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After-Change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698500">
                        <a:lnSpc>
                          <a:spcPts val="115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Guest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OS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with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the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added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file/application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286385">
                        <a:lnSpc>
                          <a:spcPts val="1150"/>
                        </a:lnSpc>
                      </a:pP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Change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is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present</a:t>
                      </a:r>
                      <a:r>
                        <a:rPr sz="10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only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when</a:t>
                      </a:r>
                      <a:r>
                        <a:rPr sz="10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this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snapshot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dirty="0">
                          <a:latin typeface="Times New Roman" panose="02020503050405090304"/>
                          <a:cs typeface="Times New Roman" panose="02020503050405090304"/>
                        </a:rPr>
                        <a:t>is</a:t>
                      </a:r>
                      <a:r>
                        <a:rPr sz="10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000" spc="-10" dirty="0">
                          <a:latin typeface="Times New Roman" panose="02020503050405090304"/>
                          <a:cs typeface="Times New Roman" panose="02020503050405090304"/>
                        </a:rPr>
                        <a:t>active</a:t>
                      </a: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8760662"/>
            <a:ext cx="13493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 panose="02020503050405090304"/>
                <a:cs typeface="Times New Roman" panose="02020503050405090304"/>
              </a:rPr>
              <a:t>Output</a:t>
            </a:r>
            <a:r>
              <a:rPr sz="13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Screenshot</a:t>
            </a:r>
            <a:endParaRPr sz="13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8019" y="2934969"/>
            <a:ext cx="356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Fig</a:t>
            </a:r>
            <a:r>
              <a:rPr sz="900" i="1" spc="-1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i="1" spc="-25" dirty="0">
                <a:solidFill>
                  <a:srgbClr val="545454"/>
                </a:solidFill>
                <a:latin typeface="Times New Roman" panose="02020503050405090304"/>
                <a:cs typeface="Times New Roman" panose="02020503050405090304"/>
              </a:rPr>
              <a:t>4.1</a:t>
            </a:r>
            <a:endParaRPr sz="9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44089" y="914400"/>
            <a:ext cx="3284220" cy="19964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2650" y="3211195"/>
            <a:ext cx="3467100" cy="20650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6020" y="5403215"/>
            <a:ext cx="2880360" cy="19964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946829"/>
            <a:ext cx="5970270" cy="10731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Result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 marR="5080" algn="just">
              <a:lnSpc>
                <a:spcPts val="1380"/>
              </a:lnSpc>
              <a:spcBef>
                <a:spcPts val="63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existing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was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successfully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created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Type-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Hypervisor's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feature.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VM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was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tested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restoring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previously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saved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snapshot,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guest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OS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reverted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correctly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earlier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state,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demonstrating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save-and-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restore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(rollback)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capability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platforms.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63139" y="914400"/>
            <a:ext cx="3246119" cy="18821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4589" y="2927604"/>
            <a:ext cx="2903219" cy="19580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18405</Words>
  <Application>WPS Presentation</Application>
  <PresentationFormat>On-screen Show (4:3)</PresentationFormat>
  <Paragraphs>522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Cambria</vt:lpstr>
      <vt:lpstr>Thonburi</vt:lpstr>
      <vt:lpstr>Courier New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Un-named</dc:creator>
  <cp:lastModifiedBy>divya.k</cp:lastModifiedBy>
  <cp:revision>1</cp:revision>
  <dcterms:created xsi:type="dcterms:W3CDTF">2026-08-11T14:26:05Z</dcterms:created>
  <dcterms:modified xsi:type="dcterms:W3CDTF">2026-08-11T14:26:05Z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2026-08-11T05:30:00Z</vt:filetime>
  </property>
  <property fmtid="{D5CDD505-2E9C-101B-9397-08002B2CF9AE}" pid="4" name="Creator">
    <vt:lpwstr>Microsoft® Word 2024</vt:lpwstr>
  </property>
  <property fmtid="{D5CDD505-2E9C-101B-9397-08002B2CF9AE}" pid="5" name="LastSaved">
    <vt:filetime>2026-08-11T05:30:00Z</vt:filetime>
  </property>
  <property fmtid="{D5CDD505-2E9C-101B-9397-08002B2CF9AE}" pid="6" name="Producer">
    <vt:lpwstr>Microsoft® Word 2024</vt:lpwstr>
  </property>
  <property fmtid="{D5CDD505-2E9C-101B-9397-08002B2CF9AE}" pid="7" name="KSOProductBuildVer">
    <vt:lpwstr>1033-12.1.26015.26015</vt:lpwstr>
  </property>
  <property fmtid="{D5CDD505-2E9C-101B-9397-08002B2CF9AE}" pid="8" name="ICV">
    <vt:lpwstr>51C6B9ACC83FCDF6FD307B6A51571E8F_43</vt:lpwstr>
  </property>
</Properties>
</file>