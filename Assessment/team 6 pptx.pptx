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I'm presenting on Multi-Cloud and Hybrid Cloud Strategies for Enterprise IT. Cloud computing has moved past the question of 'if' enterprises adopt the cloud, to 'how many clouds, and how do we connect them.' My objective is to walk through the architecture, the business case, the real challenges, and a concrete industry example, so we come away with a practical understanding of how large organizations actually run their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definitions, because these two terms get used interchangeably but they mean different things. Multi-cloud means using two or more public cloud providers — say AWS for compute and Google Cloud for AI/ML — chosen independently, often loosely coupled. Hybrid cloud means integrating private, on-premises infrastructure with public cloud into one coordinated system, connected by networking and data pipelines. In the real world, these aren't mutually exclusive — most large enterprises run both at once: a hybrid backbone that also spans multiple public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architecture most enterprises converge on. At the top, applications and workloads are what the business actually runs — ERP systems, customer apps, analytics. Underneath that sits a Cloud Management Platform — this is the control plane: orchestration tools like Kubernetes or Terraform, identity and access management, security policy, and FinOps for cost governance. That single control plane is what makes the architecture manageable — it talks down to four infrastructure targets: the private on-premises environment for sensitive or legacy workloads, and three public clouds, each often used for what it's best at — AWS for elastic compute, Azure for enterprise identity and Microsoft ecosystem integration, and Google Cloud for data and AI workloads. The key idea: one policy, applied consistently, across many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enterprises take on this complexity deliberately? Six main drivers. Resilience — no single point of failure, so a provider outage doesn't take the whole business down. Cost optimization — workloads go wherever price and performance are best, and having multiple providers gives real negotiating leverage. Avoiding vendor lock-in protects the business from one company's pricing or roadmap decisions. Compliance and data residency — regulated industries like banking and healthcare often must keep certain data on private infrastructure or within national borders. Best-of-breed lets teams pick each provider's strongest service — for example Google Cloud for AI/ML. And legacy integration lets existing on-premises investments stay useful while the organization migrates gradually, instead of a risky big-bang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comes for free — there are real trade-offs. Operational complexity goes up: different consoles, APIs and tools per provider mean IT teams need broader skill sets. Security and governance gets harder — enforcing one consistent identity and encryption policy across heterogeneous environments is a genuine engineering problem, not just a checkbox. Data integration and latency: moving data between providers or sites adds network cost and sync delay. Cost visibility suffers because every provider bills differently, so without centralized FinOps tracking, spend creeps up unnoticed. There's a real skills gap — engineers who are fluent across AWS, Azure, GCP and on-prem are scarce and expensive. And interoperability is limited — proprietary managed services don't always port cleanly from one cloud to another, so 'true' workload portability is often more aspiration than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niche architecture choice — recent industry data makes that clear. Flexera's 2026 State of the Cloud report finds 73 percent of organizations now run a hybrid cloud estate, and a third of those hybrid adopters combine multiple public clouds with multiple private clouds at the same time. Looking at market share, the field is genuinely split across three major providers — AWS, Microsoft Azure, and Google Cloud — which is exactly why 'multi-cloud' is a practical reality rather than a buzzword. Why does this matter for us as computer science graduates? Because outages, tightening data protection regulation like India's DPDP Act, and AI workloads that need specialized hardware are pushing IT leaders to treat this architecture as risk management. And that's creating real demand for cloud engineers, SREs, cloud security specialists, and FinOps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this in a concrete example. One of the world's largest retailers runs a deliberate multi-cloud strategy across Microsoft Azure and Google Cloud, while notably avoiding its primary online-retail competitor's cloud platform for strategic reasons. Azure handles core enterprise workloads and hybrid integration with in-store systems, while Google Cloud is used heavily for data analytics and machine-learning-based demand forecasting. Underneath both, a private on-premises layer continues to run point-of-sale and inventory systems across thousands of physical stores, integrated with both public clouds. This is a textbook case of choosing providers for both technical fit and business strategy — reducing vendor dependence, keeping distance from a competitor, and matching each workload to the platform that suits it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multi-cloud and hybrid cloud are no longer advanced options reserved for the biggest tech companies — they are the default architecture for enterprise IT, as the adoption numbers showed us. The strategy trades simplicity for resilience, compliance, and vendor leverage — but it comes at the cost of real operational and security complexity, which is why governance matters so much. My key takeaway is this: success in a multi-cloud or hybrid environment depends less on which specific clouds an enterprise picks, and much more on the governance layer that unifies them — consistent identity, security, and cost control across every environment. That's the difference between a well-run multi-cloud estate and expensive, unmanaged sprawl.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flipV="1">
            <a:off x="9509760" y="640080"/>
            <a:ext cx="1097280" cy="274320"/>
          </a:xfrm>
          <a:prstGeom prst="line">
            <a:avLst/>
          </a:prstGeom>
          <a:noFill/>
          <a:ln w="15875">
            <a:solidFill>
              <a:srgbClr val="2E4A63"/>
            </a:solidFill>
            <a:prstDash val="solid"/>
          </a:ln>
        </p:spPr>
      </p:sp>
      <p:sp>
        <p:nvSpPr>
          <p:cNvPr id="3" name="Shape 1"/>
          <p:cNvSpPr/>
          <p:nvPr/>
        </p:nvSpPr>
        <p:spPr>
          <a:xfrm>
            <a:off x="10607040" y="640080"/>
            <a:ext cx="731520" cy="822960"/>
          </a:xfrm>
          <a:prstGeom prst="line">
            <a:avLst/>
          </a:prstGeom>
          <a:noFill/>
          <a:ln w="15875">
            <a:solidFill>
              <a:srgbClr val="2E4A63"/>
            </a:solidFill>
            <a:prstDash val="solid"/>
          </a:ln>
        </p:spPr>
      </p:sp>
      <p:sp>
        <p:nvSpPr>
          <p:cNvPr id="4" name="Shape 2"/>
          <p:cNvSpPr/>
          <p:nvPr/>
        </p:nvSpPr>
        <p:spPr>
          <a:xfrm>
            <a:off x="9509760" y="914400"/>
            <a:ext cx="457200" cy="1005840"/>
          </a:xfrm>
          <a:prstGeom prst="line">
            <a:avLst/>
          </a:prstGeom>
          <a:noFill/>
          <a:ln w="15875">
            <a:solidFill>
              <a:srgbClr val="2E4A63"/>
            </a:solidFill>
            <a:prstDash val="solid"/>
          </a:ln>
        </p:spPr>
      </p:sp>
      <p:sp>
        <p:nvSpPr>
          <p:cNvPr id="5" name="Shape 3"/>
          <p:cNvSpPr/>
          <p:nvPr/>
        </p:nvSpPr>
        <p:spPr>
          <a:xfrm>
            <a:off x="9966960" y="1920240"/>
            <a:ext cx="1005840" cy="548640"/>
          </a:xfrm>
          <a:prstGeom prst="line">
            <a:avLst/>
          </a:prstGeom>
          <a:noFill/>
          <a:ln w="15875">
            <a:solidFill>
              <a:srgbClr val="2E4A63"/>
            </a:solidFill>
            <a:prstDash val="solid"/>
          </a:ln>
        </p:spPr>
      </p:sp>
      <p:sp>
        <p:nvSpPr>
          <p:cNvPr id="6" name="Shape 4"/>
          <p:cNvSpPr/>
          <p:nvPr/>
        </p:nvSpPr>
        <p:spPr>
          <a:xfrm flipH="1">
            <a:off x="10972800" y="1463040"/>
            <a:ext cx="365760" cy="1005840"/>
          </a:xfrm>
          <a:prstGeom prst="line">
            <a:avLst/>
          </a:prstGeom>
          <a:noFill/>
          <a:ln w="15875">
            <a:solidFill>
              <a:srgbClr val="2E4A63"/>
            </a:solidFill>
            <a:prstDash val="solid"/>
          </a:ln>
        </p:spPr>
      </p:sp>
      <p:sp>
        <p:nvSpPr>
          <p:cNvPr id="7" name="Shape 5"/>
          <p:cNvSpPr/>
          <p:nvPr/>
        </p:nvSpPr>
        <p:spPr>
          <a:xfrm flipH="1">
            <a:off x="9326880" y="1920240"/>
            <a:ext cx="640080" cy="457200"/>
          </a:xfrm>
          <a:prstGeom prst="line">
            <a:avLst/>
          </a:prstGeom>
          <a:noFill/>
          <a:ln w="15875">
            <a:solidFill>
              <a:srgbClr val="2E4A63"/>
            </a:solidFill>
            <a:prstDash val="solid"/>
          </a:ln>
        </p:spPr>
      </p:sp>
      <p:sp>
        <p:nvSpPr>
          <p:cNvPr id="8" name="Shape 6"/>
          <p:cNvSpPr/>
          <p:nvPr/>
        </p:nvSpPr>
        <p:spPr>
          <a:xfrm>
            <a:off x="9454896" y="859536"/>
            <a:ext cx="109728" cy="109728"/>
          </a:xfrm>
          <a:prstGeom prst="ellipse">
            <a:avLst/>
          </a:prstGeom>
          <a:solidFill>
            <a:srgbClr val="4FD3C4"/>
          </a:solidFill>
        </p:spPr>
      </p:sp>
      <p:sp>
        <p:nvSpPr>
          <p:cNvPr id="9" name="Shape 7"/>
          <p:cNvSpPr/>
          <p:nvPr/>
        </p:nvSpPr>
        <p:spPr>
          <a:xfrm>
            <a:off x="10552176" y="585216"/>
            <a:ext cx="109728" cy="109728"/>
          </a:xfrm>
          <a:prstGeom prst="ellipse">
            <a:avLst/>
          </a:prstGeom>
          <a:solidFill>
            <a:srgbClr val="1C7293"/>
          </a:solidFill>
        </p:spPr>
      </p:sp>
      <p:sp>
        <p:nvSpPr>
          <p:cNvPr id="10" name="Shape 8"/>
          <p:cNvSpPr/>
          <p:nvPr/>
        </p:nvSpPr>
        <p:spPr>
          <a:xfrm>
            <a:off x="11283696" y="1408176"/>
            <a:ext cx="109728" cy="109728"/>
          </a:xfrm>
          <a:prstGeom prst="ellipse">
            <a:avLst/>
          </a:prstGeom>
          <a:solidFill>
            <a:srgbClr val="4FD3C4"/>
          </a:solidFill>
        </p:spPr>
      </p:sp>
      <p:sp>
        <p:nvSpPr>
          <p:cNvPr id="11" name="Shape 9"/>
          <p:cNvSpPr/>
          <p:nvPr/>
        </p:nvSpPr>
        <p:spPr>
          <a:xfrm>
            <a:off x="9912096" y="1865376"/>
            <a:ext cx="109728" cy="109728"/>
          </a:xfrm>
          <a:prstGeom prst="ellipse">
            <a:avLst/>
          </a:prstGeom>
          <a:solidFill>
            <a:srgbClr val="1C7293"/>
          </a:solidFill>
        </p:spPr>
      </p:sp>
      <p:sp>
        <p:nvSpPr>
          <p:cNvPr id="12" name="Shape 10"/>
          <p:cNvSpPr/>
          <p:nvPr/>
        </p:nvSpPr>
        <p:spPr>
          <a:xfrm>
            <a:off x="10917936" y="2414016"/>
            <a:ext cx="109728" cy="109728"/>
          </a:xfrm>
          <a:prstGeom prst="ellipse">
            <a:avLst/>
          </a:prstGeom>
          <a:solidFill>
            <a:srgbClr val="4FD3C4"/>
          </a:solidFill>
        </p:spPr>
      </p:sp>
      <p:sp>
        <p:nvSpPr>
          <p:cNvPr id="13" name="Shape 11"/>
          <p:cNvSpPr/>
          <p:nvPr/>
        </p:nvSpPr>
        <p:spPr>
          <a:xfrm>
            <a:off x="9272016" y="2322576"/>
            <a:ext cx="109728" cy="109728"/>
          </a:xfrm>
          <a:prstGeom prst="ellipse">
            <a:avLst/>
          </a:prstGeom>
          <a:solidFill>
            <a:srgbClr val="1C7293"/>
          </a:solidFill>
        </p:spPr>
      </p:sp>
      <p:sp>
        <p:nvSpPr>
          <p:cNvPr id="15" name="Text 13"/>
          <p:cNvSpPr/>
          <p:nvPr/>
        </p:nvSpPr>
        <p:spPr>
          <a:xfrm>
            <a:off x="1151890" y="640080"/>
            <a:ext cx="9875520" cy="1828800"/>
          </a:xfrm>
          <a:prstGeom prst="rect">
            <a:avLst/>
          </a:prstGeom>
          <a:noFill/>
        </p:spPr>
        <p:txBody>
          <a:bodyPr wrap="square" rtlCol="0" anchor="ctr"/>
          <a:lstStyle/>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Multi-Cloud &amp; Hybrid Cloud</a:t>
            </a:r>
            <a:endParaRPr lang="en-US" sz="4000" dirty="0"/>
          </a:p>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Strategies for Enterprise IT</a:t>
            </a:r>
            <a:endParaRPr lang="en-US" sz="4000" dirty="0"/>
          </a:p>
        </p:txBody>
      </p:sp>
      <p:sp>
        <p:nvSpPr>
          <p:cNvPr id="20" name="Text Box 19"/>
          <p:cNvSpPr txBox="1"/>
          <p:nvPr/>
        </p:nvSpPr>
        <p:spPr>
          <a:xfrm>
            <a:off x="8567420" y="4495165"/>
            <a:ext cx="2688590" cy="1014730"/>
          </a:xfrm>
          <a:prstGeom prst="rect">
            <a:avLst/>
          </a:prstGeom>
          <a:noFill/>
        </p:spPr>
        <p:txBody>
          <a:bodyPr wrap="square" rtlCol="0">
            <a:spAutoFit/>
          </a:bodyPr>
          <a:p>
            <a:r>
              <a:rPr lang="en-US" sz="2000">
                <a:solidFill>
                  <a:schemeClr val="bg1"/>
                </a:solidFill>
              </a:rPr>
              <a:t>Prtesented by:</a:t>
            </a:r>
            <a:endParaRPr lang="en-US" sz="2000">
              <a:solidFill>
                <a:schemeClr val="bg1"/>
              </a:solidFill>
            </a:endParaRPr>
          </a:p>
          <a:p>
            <a:r>
              <a:rPr lang="en-US" sz="2000">
                <a:solidFill>
                  <a:schemeClr val="bg1"/>
                </a:solidFill>
              </a:rPr>
              <a:t>K.Divya(192511316)</a:t>
            </a:r>
            <a:endParaRPr lang="en-US" sz="2000">
              <a:solidFill>
                <a:schemeClr val="bg1"/>
              </a:solidFill>
            </a:endParaRPr>
          </a:p>
          <a:p>
            <a:r>
              <a:rPr lang="en-US" sz="2000">
                <a:solidFill>
                  <a:schemeClr val="bg1"/>
                </a:solidFill>
              </a:rPr>
              <a:t>S.Lekha(192511104</a:t>
            </a:r>
            <a:r>
              <a:rPr lang="en-US">
                <a:solidFill>
                  <a:schemeClr val="bg1"/>
                </a:solidFill>
              </a:rPr>
              <a:t>)</a:t>
            </a:r>
            <a:endParaRPr lang="en-US">
              <a:solidFill>
                <a:schemeClr val="bg1"/>
              </a:solidFill>
            </a:endParaRPr>
          </a:p>
        </p:txBody>
      </p:sp>
      <p:sp>
        <p:nvSpPr>
          <p:cNvPr id="21" name="Text Box 20"/>
          <p:cNvSpPr txBox="1"/>
          <p:nvPr/>
        </p:nvSpPr>
        <p:spPr>
          <a:xfrm>
            <a:off x="1273810" y="4495165"/>
            <a:ext cx="4064000" cy="706755"/>
          </a:xfrm>
          <a:prstGeom prst="rect">
            <a:avLst/>
          </a:prstGeom>
          <a:noFill/>
        </p:spPr>
        <p:txBody>
          <a:bodyPr wrap="square" rtlCol="0">
            <a:spAutoFit/>
          </a:bodyPr>
          <a:p>
            <a:r>
              <a:rPr lang="en-US" sz="2000">
                <a:solidFill>
                  <a:schemeClr val="bg1"/>
                </a:solidFill>
              </a:rPr>
              <a:t>Under the guideness of:</a:t>
            </a:r>
            <a:endParaRPr lang="en-US" sz="2000">
              <a:solidFill>
                <a:schemeClr val="bg1"/>
              </a:solidFill>
            </a:endParaRPr>
          </a:p>
          <a:p>
            <a:r>
              <a:rPr lang="en-US" sz="2000">
                <a:solidFill>
                  <a:schemeClr val="bg1"/>
                </a:solidFill>
              </a:rPr>
              <a:t>DR.Anuradha.C</a:t>
            </a:r>
            <a:endParaRPr lang="en-US" sz="20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457200"/>
          </a:xfrm>
          <a:prstGeom prst="rect">
            <a:avLst/>
          </a:prstGeom>
          <a:noFill/>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Core Concepts</a:t>
            </a:r>
            <a:endParaRPr lang="en-US" sz="3000" dirty="0"/>
          </a:p>
        </p:txBody>
      </p:sp>
      <p:sp>
        <p:nvSpPr>
          <p:cNvPr id="4" name="Shape 2"/>
          <p:cNvSpPr/>
          <p:nvPr/>
        </p:nvSpPr>
        <p:spPr>
          <a:xfrm>
            <a:off x="548640" y="1508760"/>
            <a:ext cx="5257800" cy="4160520"/>
          </a:xfrm>
          <a:prstGeom prst="roundRect">
            <a:avLst>
              <a:gd name="adj" fmla="val 1758"/>
            </a:avLst>
          </a:prstGeom>
          <a:solidFill>
            <a:srgbClr val="FFFFFF"/>
          </a:solidFill>
          <a:ln w="12700">
            <a:solidFill>
              <a:srgbClr val="DCE6EA"/>
            </a:solidFill>
            <a:prstDash val="solid"/>
          </a:ln>
          <a:effectLst>
            <a:outerShdw blurRad="127000" dist="38100" dir="5400000" algn="bl" rotWithShape="0">
              <a:srgbClr val="9AAAB4">
                <a:alpha val="28000"/>
              </a:srgbClr>
            </a:outerShdw>
          </a:effectLst>
        </p:spPr>
      </p:sp>
      <p:sp>
        <p:nvSpPr>
          <p:cNvPr id="5" name="Shape 3"/>
          <p:cNvSpPr/>
          <p:nvPr/>
        </p:nvSpPr>
        <p:spPr>
          <a:xfrm>
            <a:off x="548640" y="1508760"/>
            <a:ext cx="5257800" cy="777240"/>
          </a:xfrm>
          <a:prstGeom prst="roundRect">
            <a:avLst>
              <a:gd name="adj" fmla="val 9412"/>
            </a:avLst>
          </a:prstGeom>
          <a:solidFill>
            <a:srgbClr val="065A82"/>
          </a:solidFill>
        </p:spPr>
      </p:sp>
      <p:sp>
        <p:nvSpPr>
          <p:cNvPr id="6" name="Shape 4"/>
          <p:cNvSpPr/>
          <p:nvPr/>
        </p:nvSpPr>
        <p:spPr>
          <a:xfrm>
            <a:off x="548640" y="1920240"/>
            <a:ext cx="5257800" cy="365760"/>
          </a:xfrm>
          <a:prstGeom prst="rect">
            <a:avLst/>
          </a:prstGeom>
          <a:solidFill>
            <a:srgbClr val="065A82"/>
          </a:solidFill>
        </p:spPr>
      </p:sp>
      <p:sp>
        <p:nvSpPr>
          <p:cNvPr id="7" name="Text 5"/>
          <p:cNvSpPr/>
          <p:nvPr/>
        </p:nvSpPr>
        <p:spPr>
          <a:xfrm>
            <a:off x="868680" y="1508760"/>
            <a:ext cx="4617720" cy="777240"/>
          </a:xfrm>
          <a:prstGeom prst="rect">
            <a:avLst/>
          </a:prstGeom>
          <a:noFill/>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Multi-Cloud</a:t>
            </a:r>
            <a:endParaRPr lang="en-US" sz="2200" dirty="0"/>
          </a:p>
        </p:txBody>
      </p:sp>
      <p:sp>
        <p:nvSpPr>
          <p:cNvPr id="8" name="Text 6"/>
          <p:cNvSpPr/>
          <p:nvPr/>
        </p:nvSpPr>
        <p:spPr>
          <a:xfrm>
            <a:off x="868680" y="2468880"/>
            <a:ext cx="4617720" cy="1188720"/>
          </a:xfrm>
          <a:prstGeom prst="rect">
            <a:avLst/>
          </a:prstGeom>
          <a:noFill/>
        </p:spPr>
        <p:txBody>
          <a:bodyPr wrap="square" rtlCol="0" anchor="ctr"/>
          <a:lstStyle/>
          <a:p>
            <a:pPr marL="0" indent="0" algn="just">
              <a:lnSpc>
                <a:spcPts val="1900"/>
              </a:lnSpc>
              <a:buNone/>
            </a:pPr>
            <a:r>
              <a:rPr lang="en-US" sz="2000" dirty="0">
                <a:solidFill>
                  <a:srgbClr val="1F2A33"/>
                </a:solidFill>
                <a:latin typeface="Times New Roman Regular" panose="02020503050405090304" charset="0"/>
                <a:ea typeface="Calibri" pitchFamily="34" charset="-122"/>
                <a:cs typeface="Times New Roman Regular" panose="02020503050405090304" charset="0"/>
              </a:rPr>
              <a:t>The use of two or more public cloud providers (e.g., AWS, Azure, GCP) to run different workloads  chosen independently for cost, features, or resilience.</a:t>
            </a:r>
            <a:endParaRPr lang="en-US" sz="2000" dirty="0">
              <a:latin typeface="Times New Roman Regular" panose="02020503050405090304" charset="0"/>
              <a:cs typeface="Times New Roman Regular" panose="02020503050405090304" charset="0"/>
            </a:endParaRPr>
          </a:p>
        </p:txBody>
      </p:sp>
      <p:sp>
        <p:nvSpPr>
          <p:cNvPr id="9" name="Shape 7"/>
          <p:cNvSpPr/>
          <p:nvPr/>
        </p:nvSpPr>
        <p:spPr>
          <a:xfrm>
            <a:off x="868680" y="3877056"/>
            <a:ext cx="82296" cy="82296"/>
          </a:xfrm>
          <a:prstGeom prst="ellipse">
            <a:avLst/>
          </a:prstGeom>
          <a:solidFill>
            <a:srgbClr val="065A82"/>
          </a:solidFill>
        </p:spPr>
      </p:sp>
      <p:sp>
        <p:nvSpPr>
          <p:cNvPr id="10" name="Text 8"/>
          <p:cNvSpPr/>
          <p:nvPr/>
        </p:nvSpPr>
        <p:spPr>
          <a:xfrm>
            <a:off x="1078992" y="3739896"/>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Distributes workloads across providers</a:t>
            </a:r>
            <a:endParaRPr lang="en-US" dirty="0">
              <a:latin typeface="Times New Roman Regular" panose="02020503050405090304" charset="0"/>
              <a:cs typeface="Times New Roman Regular" panose="02020503050405090304" charset="0"/>
            </a:endParaRPr>
          </a:p>
        </p:txBody>
      </p:sp>
      <p:sp>
        <p:nvSpPr>
          <p:cNvPr id="11" name="Shape 9"/>
          <p:cNvSpPr/>
          <p:nvPr/>
        </p:nvSpPr>
        <p:spPr>
          <a:xfrm>
            <a:off x="868680" y="4443984"/>
            <a:ext cx="82296" cy="82296"/>
          </a:xfrm>
          <a:prstGeom prst="ellipse">
            <a:avLst/>
          </a:prstGeom>
          <a:solidFill>
            <a:srgbClr val="065A82"/>
          </a:solidFill>
        </p:spPr>
      </p:sp>
      <p:sp>
        <p:nvSpPr>
          <p:cNvPr id="12" name="Text 10"/>
          <p:cNvSpPr/>
          <p:nvPr/>
        </p:nvSpPr>
        <p:spPr>
          <a:xfrm>
            <a:off x="1078992" y="4306824"/>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Each cloud typically stands alone (loosely coupled)</a:t>
            </a:r>
            <a:endParaRPr lang="en-US" dirty="0">
              <a:latin typeface="Times New Roman Regular" panose="02020503050405090304" charset="0"/>
              <a:cs typeface="Times New Roman Regular" panose="02020503050405090304" charset="0"/>
            </a:endParaRPr>
          </a:p>
        </p:txBody>
      </p:sp>
      <p:sp>
        <p:nvSpPr>
          <p:cNvPr id="13" name="Shape 11"/>
          <p:cNvSpPr/>
          <p:nvPr/>
        </p:nvSpPr>
        <p:spPr>
          <a:xfrm>
            <a:off x="868680" y="5010912"/>
            <a:ext cx="82296" cy="82296"/>
          </a:xfrm>
          <a:prstGeom prst="ellipse">
            <a:avLst/>
          </a:prstGeom>
          <a:solidFill>
            <a:srgbClr val="065A82"/>
          </a:solidFill>
        </p:spPr>
      </p:sp>
      <p:sp>
        <p:nvSpPr>
          <p:cNvPr id="14" name="Text 12"/>
          <p:cNvSpPr/>
          <p:nvPr/>
        </p:nvSpPr>
        <p:spPr>
          <a:xfrm>
            <a:off x="1078992" y="4873752"/>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Driven by: best-of-breed services, avoiding lock-in</a:t>
            </a:r>
            <a:endParaRPr lang="en-US" dirty="0">
              <a:latin typeface="Times New Roman Regular" panose="02020503050405090304" charset="0"/>
              <a:cs typeface="Times New Roman Regular" panose="02020503050405090304" charset="0"/>
            </a:endParaRPr>
          </a:p>
        </p:txBody>
      </p:sp>
      <p:sp>
        <p:nvSpPr>
          <p:cNvPr id="15" name="Shape 13"/>
          <p:cNvSpPr/>
          <p:nvPr/>
        </p:nvSpPr>
        <p:spPr>
          <a:xfrm>
            <a:off x="6263640" y="1508760"/>
            <a:ext cx="5257800" cy="4160520"/>
          </a:xfrm>
          <a:prstGeom prst="roundRect">
            <a:avLst>
              <a:gd name="adj" fmla="val 1758"/>
            </a:avLst>
          </a:prstGeom>
          <a:solidFill>
            <a:srgbClr val="FFFFFF"/>
          </a:solidFill>
          <a:ln w="12700">
            <a:solidFill>
              <a:srgbClr val="DCE6EA"/>
            </a:solidFill>
            <a:prstDash val="solid"/>
          </a:ln>
          <a:effectLst>
            <a:outerShdw blurRad="127000" dist="38100" dir="5400000" algn="bl" rotWithShape="0">
              <a:srgbClr val="9AAAB4">
                <a:alpha val="28000"/>
              </a:srgbClr>
            </a:outerShdw>
          </a:effectLst>
        </p:spPr>
      </p:sp>
      <p:sp>
        <p:nvSpPr>
          <p:cNvPr id="16" name="Shape 14"/>
          <p:cNvSpPr/>
          <p:nvPr/>
        </p:nvSpPr>
        <p:spPr>
          <a:xfrm>
            <a:off x="6263640" y="1508760"/>
            <a:ext cx="5257800" cy="777240"/>
          </a:xfrm>
          <a:prstGeom prst="roundRect">
            <a:avLst>
              <a:gd name="adj" fmla="val 9412"/>
            </a:avLst>
          </a:prstGeom>
          <a:solidFill>
            <a:srgbClr val="1C7293"/>
          </a:solidFill>
        </p:spPr>
      </p:sp>
      <p:sp>
        <p:nvSpPr>
          <p:cNvPr id="17" name="Shape 15"/>
          <p:cNvSpPr/>
          <p:nvPr/>
        </p:nvSpPr>
        <p:spPr>
          <a:xfrm>
            <a:off x="6263640" y="1920240"/>
            <a:ext cx="5257800" cy="365760"/>
          </a:xfrm>
          <a:prstGeom prst="rect">
            <a:avLst/>
          </a:prstGeom>
          <a:solidFill>
            <a:srgbClr val="1C7293"/>
          </a:solidFill>
        </p:spPr>
      </p:sp>
      <p:sp>
        <p:nvSpPr>
          <p:cNvPr id="18" name="Text 16"/>
          <p:cNvSpPr/>
          <p:nvPr/>
        </p:nvSpPr>
        <p:spPr>
          <a:xfrm>
            <a:off x="6583680" y="1508760"/>
            <a:ext cx="4617720" cy="777240"/>
          </a:xfrm>
          <a:prstGeom prst="rect">
            <a:avLst/>
          </a:prstGeom>
          <a:noFill/>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Hybrid Cloud</a:t>
            </a:r>
            <a:endParaRPr lang="en-US" sz="2200" dirty="0"/>
          </a:p>
        </p:txBody>
      </p:sp>
      <p:sp>
        <p:nvSpPr>
          <p:cNvPr id="19" name="Text 17"/>
          <p:cNvSpPr/>
          <p:nvPr/>
        </p:nvSpPr>
        <p:spPr>
          <a:xfrm>
            <a:off x="6583680" y="2468880"/>
            <a:ext cx="4617720" cy="1188720"/>
          </a:xfrm>
          <a:prstGeom prst="rect">
            <a:avLst/>
          </a:prstGeom>
          <a:noFill/>
        </p:spPr>
        <p:txBody>
          <a:bodyPr wrap="square" rtlCol="0" anchor="ctr"/>
          <a:lstStyle/>
          <a:p>
            <a:pPr marL="0" indent="0" algn="just">
              <a:lnSpc>
                <a:spcPts val="1900"/>
              </a:lnSpc>
              <a:buNone/>
            </a:pPr>
            <a:r>
              <a:rPr lang="en-US" sz="2000" dirty="0">
                <a:solidFill>
                  <a:srgbClr val="1F2A33"/>
                </a:solidFill>
                <a:latin typeface="Times New Roman Regular" panose="02020503050405090304" charset="0"/>
                <a:ea typeface="Calibri" pitchFamily="34" charset="-122"/>
                <a:cs typeface="Times New Roman Regular" panose="02020503050405090304" charset="0"/>
              </a:rPr>
              <a:t>An architecture that integrates private infrastructure (on-premises or private cloud) with public cloud, connected as one coordinated environment.</a:t>
            </a:r>
            <a:endParaRPr lang="en-US" sz="2000" dirty="0">
              <a:latin typeface="Times New Roman Regular" panose="02020503050405090304" charset="0"/>
              <a:cs typeface="Times New Roman Regular" panose="02020503050405090304" charset="0"/>
            </a:endParaRPr>
          </a:p>
        </p:txBody>
      </p:sp>
      <p:sp>
        <p:nvSpPr>
          <p:cNvPr id="20" name="Shape 18"/>
          <p:cNvSpPr/>
          <p:nvPr/>
        </p:nvSpPr>
        <p:spPr>
          <a:xfrm>
            <a:off x="6583680" y="3877056"/>
            <a:ext cx="82296" cy="82296"/>
          </a:xfrm>
          <a:prstGeom prst="ellipse">
            <a:avLst/>
          </a:prstGeom>
          <a:solidFill>
            <a:srgbClr val="1C7293"/>
          </a:solidFill>
        </p:spPr>
      </p:sp>
      <p:sp>
        <p:nvSpPr>
          <p:cNvPr id="21" name="Text 19"/>
          <p:cNvSpPr/>
          <p:nvPr/>
        </p:nvSpPr>
        <p:spPr>
          <a:xfrm>
            <a:off x="6793992" y="3739896"/>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Blends private + public into a single system</a:t>
            </a:r>
            <a:endParaRPr lang="en-US" dirty="0">
              <a:latin typeface="Times New Roman Regular" panose="02020503050405090304" charset="0"/>
              <a:cs typeface="Times New Roman Regular" panose="02020503050405090304" charset="0"/>
            </a:endParaRPr>
          </a:p>
        </p:txBody>
      </p:sp>
      <p:sp>
        <p:nvSpPr>
          <p:cNvPr id="22" name="Shape 20"/>
          <p:cNvSpPr/>
          <p:nvPr/>
        </p:nvSpPr>
        <p:spPr>
          <a:xfrm>
            <a:off x="6583680" y="4443984"/>
            <a:ext cx="82296" cy="82296"/>
          </a:xfrm>
          <a:prstGeom prst="ellipse">
            <a:avLst/>
          </a:prstGeom>
          <a:solidFill>
            <a:srgbClr val="1C7293"/>
          </a:solidFill>
        </p:spPr>
      </p:sp>
      <p:sp>
        <p:nvSpPr>
          <p:cNvPr id="23" name="Text 21"/>
          <p:cNvSpPr/>
          <p:nvPr/>
        </p:nvSpPr>
        <p:spPr>
          <a:xfrm>
            <a:off x="6793992" y="4306824"/>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Requires networking &amp; data integration between the two</a:t>
            </a:r>
            <a:endParaRPr lang="en-US" dirty="0">
              <a:latin typeface="Times New Roman Regular" panose="02020503050405090304" charset="0"/>
              <a:cs typeface="Times New Roman Regular" panose="02020503050405090304" charset="0"/>
            </a:endParaRPr>
          </a:p>
        </p:txBody>
      </p:sp>
      <p:sp>
        <p:nvSpPr>
          <p:cNvPr id="24" name="Shape 22"/>
          <p:cNvSpPr/>
          <p:nvPr/>
        </p:nvSpPr>
        <p:spPr>
          <a:xfrm>
            <a:off x="6583680" y="5010912"/>
            <a:ext cx="82296" cy="82296"/>
          </a:xfrm>
          <a:prstGeom prst="ellipse">
            <a:avLst/>
          </a:prstGeom>
          <a:solidFill>
            <a:srgbClr val="1C7293"/>
          </a:solidFill>
        </p:spPr>
      </p:sp>
      <p:sp>
        <p:nvSpPr>
          <p:cNvPr id="25" name="Text 23"/>
          <p:cNvSpPr/>
          <p:nvPr/>
        </p:nvSpPr>
        <p:spPr>
          <a:xfrm>
            <a:off x="6793992" y="4873752"/>
            <a:ext cx="4389120" cy="457200"/>
          </a:xfrm>
          <a:prstGeom prst="rect">
            <a:avLst/>
          </a:prstGeom>
          <a:noFill/>
        </p:spPr>
        <p:txBody>
          <a:bodyPr wrap="square" rtlCol="0" anchor="t"/>
          <a:lstStyle/>
          <a:p>
            <a:pPr marL="0" indent="0">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Driven by: compliance, latency, legacy investment</a:t>
            </a:r>
            <a:endParaRPr lang="en-US" dirty="0">
              <a:latin typeface="Times New Roman Regular" panose="02020503050405090304" charset="0"/>
              <a:cs typeface="Times New Roman Regular" panose="02020503050405090304" charset="0"/>
            </a:endParaRPr>
          </a:p>
        </p:txBody>
      </p:sp>
      <p:sp>
        <p:nvSpPr>
          <p:cNvPr id="28" name="Text 26"/>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5B74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457200"/>
          </a:xfrm>
          <a:prstGeom prst="rect">
            <a:avLst/>
          </a:prstGeom>
          <a:noFill/>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Reference Architecture</a:t>
            </a:r>
            <a:endParaRPr lang="en-US" sz="3000" dirty="0"/>
          </a:p>
        </p:txBody>
      </p:sp>
      <p:sp>
        <p:nvSpPr>
          <p:cNvPr id="3" name="Text 1"/>
          <p:cNvSpPr/>
          <p:nvPr/>
        </p:nvSpPr>
        <p:spPr>
          <a:xfrm>
            <a:off x="548640" y="850392"/>
            <a:ext cx="8229600" cy="320040"/>
          </a:xfrm>
          <a:prstGeom prst="rect">
            <a:avLst/>
          </a:prstGeom>
          <a:noFill/>
        </p:spPr>
        <p:txBody>
          <a:bodyPr wrap="square" rtlCol="0" anchor="ctr"/>
          <a:lstStyle/>
          <a:p>
            <a:pPr marL="0" indent="0">
              <a:buNone/>
            </a:pPr>
            <a:r>
              <a:rPr lang="en-US" sz="1400" dirty="0">
                <a:solidFill>
                  <a:srgbClr val="5B7480"/>
                </a:solidFill>
                <a:latin typeface="Calibri" pitchFamily="34" charset="0"/>
                <a:ea typeface="Calibri" pitchFamily="34" charset="-122"/>
                <a:cs typeface="Calibri" pitchFamily="34" charset="-120"/>
              </a:rPr>
              <a:t>How workloads, orchestration, and infrastructure layers connect</a:t>
            </a:r>
            <a:endParaRPr lang="en-US" sz="1400" dirty="0"/>
          </a:p>
        </p:txBody>
      </p:sp>
      <p:sp>
        <p:nvSpPr>
          <p:cNvPr id="4" name="Shape 2"/>
          <p:cNvSpPr/>
          <p:nvPr/>
        </p:nvSpPr>
        <p:spPr>
          <a:xfrm>
            <a:off x="822960" y="1417320"/>
            <a:ext cx="10515600" cy="685800"/>
          </a:xfrm>
          <a:prstGeom prst="roundRect">
            <a:avLst>
              <a:gd name="adj" fmla="val 8000"/>
            </a:avLst>
          </a:prstGeom>
          <a:solidFill>
            <a:srgbClr val="21295C"/>
          </a:solidFill>
        </p:spPr>
      </p:sp>
      <p:sp>
        <p:nvSpPr>
          <p:cNvPr id="5" name="Text 3"/>
          <p:cNvSpPr/>
          <p:nvPr/>
        </p:nvSpPr>
        <p:spPr>
          <a:xfrm>
            <a:off x="822960" y="1417320"/>
            <a:ext cx="10515600" cy="685800"/>
          </a:xfrm>
          <a:prstGeom prst="rect">
            <a:avLst/>
          </a:prstGeom>
          <a:noFill/>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Enterprise Applications &amp; Workloads</a:t>
            </a:r>
            <a:endParaRPr lang="en-US" sz="1500" dirty="0"/>
          </a:p>
        </p:txBody>
      </p:sp>
      <p:sp>
        <p:nvSpPr>
          <p:cNvPr id="6" name="Shape 4"/>
          <p:cNvSpPr/>
          <p:nvPr/>
        </p:nvSpPr>
        <p:spPr>
          <a:xfrm>
            <a:off x="6080760" y="2103120"/>
            <a:ext cx="9144" cy="320040"/>
          </a:xfrm>
          <a:prstGeom prst="line">
            <a:avLst/>
          </a:prstGeom>
          <a:noFill/>
          <a:ln w="25400">
            <a:solidFill>
              <a:srgbClr val="1C7293"/>
            </a:solidFill>
            <a:prstDash val="solid"/>
          </a:ln>
        </p:spPr>
      </p:sp>
      <p:sp>
        <p:nvSpPr>
          <p:cNvPr id="7" name="Shape 5"/>
          <p:cNvSpPr/>
          <p:nvPr/>
        </p:nvSpPr>
        <p:spPr>
          <a:xfrm>
            <a:off x="822960" y="2423160"/>
            <a:ext cx="10515600" cy="868680"/>
          </a:xfrm>
          <a:prstGeom prst="roundRect">
            <a:avLst>
              <a:gd name="adj" fmla="val 6316"/>
            </a:avLst>
          </a:prstGeom>
          <a:solidFill>
            <a:srgbClr val="065A82"/>
          </a:solidFill>
        </p:spPr>
      </p:sp>
      <p:sp>
        <p:nvSpPr>
          <p:cNvPr id="8" name="Text 6"/>
          <p:cNvSpPr/>
          <p:nvPr/>
        </p:nvSpPr>
        <p:spPr>
          <a:xfrm>
            <a:off x="1097280" y="2487168"/>
            <a:ext cx="9966960" cy="365760"/>
          </a:xfrm>
          <a:prstGeom prst="rect">
            <a:avLst/>
          </a:prstGeom>
          <a:noFill/>
        </p:spPr>
        <p:txBody>
          <a:bodyPr wrap="square" rtlCol="0" anchor="b"/>
          <a:lstStyle/>
          <a:p>
            <a:pPr marL="0" indent="0" algn="l">
              <a:buNone/>
            </a:pPr>
            <a:r>
              <a:rPr lang="en-US" sz="1600" b="1" dirty="0">
                <a:solidFill>
                  <a:srgbClr val="FFFFFF"/>
                </a:solidFill>
                <a:latin typeface="Cambria" pitchFamily="34" charset="0"/>
                <a:ea typeface="Cambria" pitchFamily="34" charset="-122"/>
                <a:cs typeface="Cambria" pitchFamily="34" charset="-120"/>
              </a:rPr>
              <a:t>Cloud Management Platform</a:t>
            </a:r>
            <a:endParaRPr lang="en-US" sz="1600" dirty="0"/>
          </a:p>
        </p:txBody>
      </p:sp>
      <p:sp>
        <p:nvSpPr>
          <p:cNvPr id="9" name="Text 7"/>
          <p:cNvSpPr/>
          <p:nvPr/>
        </p:nvSpPr>
        <p:spPr>
          <a:xfrm>
            <a:off x="1097280" y="2852928"/>
            <a:ext cx="9966960" cy="365760"/>
          </a:xfrm>
          <a:prstGeom prst="rect">
            <a:avLst/>
          </a:prstGeom>
          <a:noFill/>
        </p:spPr>
        <p:txBody>
          <a:bodyPr wrap="square" rtlCol="0" anchor="t"/>
          <a:lstStyle/>
          <a:p>
            <a:pPr marL="0" indent="0" algn="l">
              <a:buNone/>
            </a:pPr>
            <a:r>
              <a:rPr lang="en-US" sz="1400" dirty="0">
                <a:solidFill>
                  <a:srgbClr val="CFE8EF"/>
                </a:solidFill>
                <a:latin typeface="Times New Roman Regular" panose="02020503050405090304" charset="0"/>
                <a:ea typeface="Calibri" pitchFamily="34" charset="-122"/>
                <a:cs typeface="Times New Roman Regular" panose="02020503050405090304" charset="0"/>
              </a:rPr>
              <a:t>Orchestration (Kubernetes/Terraform)   •   Identity &amp; Access   •   Security &amp; Compliance   •   Cost Governance (FinOps)</a:t>
            </a:r>
            <a:endParaRPr lang="en-US" sz="1400" dirty="0">
              <a:latin typeface="Times New Roman Regular" panose="02020503050405090304" charset="0"/>
              <a:cs typeface="Times New Roman Regular" panose="02020503050405090304" charset="0"/>
            </a:endParaRPr>
          </a:p>
        </p:txBody>
      </p:sp>
      <p:sp>
        <p:nvSpPr>
          <p:cNvPr id="10" name="Shape 8"/>
          <p:cNvSpPr/>
          <p:nvPr/>
        </p:nvSpPr>
        <p:spPr>
          <a:xfrm>
            <a:off x="2116836" y="3291840"/>
            <a:ext cx="9144" cy="868680"/>
          </a:xfrm>
          <a:prstGeom prst="line">
            <a:avLst/>
          </a:prstGeom>
          <a:noFill/>
          <a:ln w="19050">
            <a:solidFill>
              <a:srgbClr val="B7C6CE"/>
            </a:solidFill>
            <a:prstDash val="dash"/>
          </a:ln>
        </p:spPr>
      </p:sp>
      <p:sp>
        <p:nvSpPr>
          <p:cNvPr id="11" name="Shape 9"/>
          <p:cNvSpPr/>
          <p:nvPr/>
        </p:nvSpPr>
        <p:spPr>
          <a:xfrm>
            <a:off x="2075688" y="4119372"/>
            <a:ext cx="82296" cy="82296"/>
          </a:xfrm>
          <a:prstGeom prst="ellipse">
            <a:avLst/>
          </a:prstGeom>
          <a:solidFill>
            <a:srgbClr val="4FD3C4"/>
          </a:solidFill>
        </p:spPr>
      </p:sp>
      <p:sp>
        <p:nvSpPr>
          <p:cNvPr id="12" name="Shape 10"/>
          <p:cNvSpPr/>
          <p:nvPr/>
        </p:nvSpPr>
        <p:spPr>
          <a:xfrm>
            <a:off x="905256" y="4160520"/>
            <a:ext cx="2423160" cy="1417320"/>
          </a:xfrm>
          <a:prstGeom prst="roundRect">
            <a:avLst>
              <a:gd name="adj" fmla="val 4516"/>
            </a:avLst>
          </a:prstGeom>
          <a:solidFill>
            <a:srgbClr val="FFFFFF"/>
          </a:solidFill>
          <a:ln w="19050">
            <a:solidFill>
              <a:srgbClr val="21295C"/>
            </a:solidFill>
            <a:prstDash val="solid"/>
          </a:ln>
          <a:effectLst>
            <a:outerShdw blurRad="101600" dist="25400" dir="5400000" algn="bl" rotWithShape="0">
              <a:srgbClr val="9AAAB4">
                <a:alpha val="22000"/>
              </a:srgbClr>
            </a:outerShdw>
          </a:effectLst>
        </p:spPr>
      </p:sp>
      <p:sp>
        <p:nvSpPr>
          <p:cNvPr id="13" name="Shape 11"/>
          <p:cNvSpPr/>
          <p:nvPr/>
        </p:nvSpPr>
        <p:spPr>
          <a:xfrm>
            <a:off x="1069848" y="4325112"/>
            <a:ext cx="2093976" cy="457200"/>
          </a:xfrm>
          <a:prstGeom prst="roundRect">
            <a:avLst>
              <a:gd name="adj" fmla="val 50000"/>
            </a:avLst>
          </a:prstGeom>
          <a:solidFill>
            <a:srgbClr val="21295C"/>
          </a:solidFill>
        </p:spPr>
      </p:sp>
      <p:sp>
        <p:nvSpPr>
          <p:cNvPr id="14" name="Text 12"/>
          <p:cNvSpPr/>
          <p:nvPr/>
        </p:nvSpPr>
        <p:spPr>
          <a:xfrm>
            <a:off x="1069848" y="4325112"/>
            <a:ext cx="2093976" cy="457200"/>
          </a:xfrm>
          <a:prstGeom prst="rect">
            <a:avLst/>
          </a:prstGeom>
          <a:noFill/>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Private Cloud /</a:t>
            </a:r>
            <a:endParaRPr lang="en-US" sz="1200" dirty="0"/>
          </a:p>
        </p:txBody>
      </p:sp>
      <p:sp>
        <p:nvSpPr>
          <p:cNvPr id="15" name="Text 13"/>
          <p:cNvSpPr/>
          <p:nvPr/>
        </p:nvSpPr>
        <p:spPr>
          <a:xfrm>
            <a:off x="905256" y="4782312"/>
            <a:ext cx="2423160" cy="274320"/>
          </a:xfrm>
          <a:prstGeom prst="rect">
            <a:avLst/>
          </a:prstGeom>
          <a:noFill/>
        </p:spPr>
        <p:txBody>
          <a:bodyPr wrap="square" rtlCol="0" anchor="ctr"/>
          <a:lstStyle/>
          <a:p>
            <a:pPr marL="0" indent="0" algn="ctr">
              <a:buNone/>
            </a:pPr>
            <a:r>
              <a:rPr lang="en-US" sz="1200" b="1" dirty="0">
                <a:solidFill>
                  <a:srgbClr val="1F2A33"/>
                </a:solidFill>
                <a:latin typeface="Calibri" pitchFamily="34" charset="0"/>
                <a:ea typeface="Calibri" pitchFamily="34" charset="-122"/>
                <a:cs typeface="Calibri" pitchFamily="34" charset="-120"/>
              </a:rPr>
              <a:t>On-Premises</a:t>
            </a:r>
            <a:endParaRPr lang="en-US" sz="1200" dirty="0"/>
          </a:p>
        </p:txBody>
      </p:sp>
      <p:sp>
        <p:nvSpPr>
          <p:cNvPr id="16" name="Text 14"/>
          <p:cNvSpPr/>
          <p:nvPr/>
        </p:nvSpPr>
        <p:spPr>
          <a:xfrm>
            <a:off x="1014984" y="5074920"/>
            <a:ext cx="2203704" cy="457200"/>
          </a:xfrm>
          <a:prstGeom prst="rect">
            <a:avLst/>
          </a:prstGeom>
          <a:noFill/>
        </p:spPr>
        <p:txBody>
          <a:bodyPr wrap="square" rtlCol="0" anchor="ctr"/>
          <a:lstStyle/>
          <a:p>
            <a:pPr marL="0" indent="0" algn="ctr">
              <a:lnSpc>
                <a:spcPts val="1300"/>
              </a:lnSpc>
              <a:buNone/>
            </a:pPr>
            <a:r>
              <a:rPr lang="en-US" sz="1600" dirty="0">
                <a:solidFill>
                  <a:srgbClr val="5B7480"/>
                </a:solidFill>
                <a:latin typeface="Times New Roman Regular" panose="02020503050405090304" charset="0"/>
                <a:ea typeface="Calibri" pitchFamily="34" charset="-122"/>
                <a:cs typeface="Times New Roman Regular" panose="02020503050405090304" charset="0"/>
              </a:rPr>
              <a:t>Sensitive data, legacy systems</a:t>
            </a:r>
            <a:endParaRPr lang="en-US" sz="1600" dirty="0">
              <a:latin typeface="Times New Roman Regular" panose="02020503050405090304" charset="0"/>
              <a:cs typeface="Times New Roman Regular" panose="02020503050405090304" charset="0"/>
            </a:endParaRPr>
          </a:p>
        </p:txBody>
      </p:sp>
      <p:sp>
        <p:nvSpPr>
          <p:cNvPr id="17" name="Shape 15"/>
          <p:cNvSpPr/>
          <p:nvPr/>
        </p:nvSpPr>
        <p:spPr>
          <a:xfrm>
            <a:off x="4759452" y="3291840"/>
            <a:ext cx="9144" cy="868680"/>
          </a:xfrm>
          <a:prstGeom prst="line">
            <a:avLst/>
          </a:prstGeom>
          <a:noFill/>
          <a:ln w="19050">
            <a:solidFill>
              <a:srgbClr val="B7C6CE"/>
            </a:solidFill>
            <a:prstDash val="dash"/>
          </a:ln>
        </p:spPr>
      </p:sp>
      <p:sp>
        <p:nvSpPr>
          <p:cNvPr id="18" name="Shape 16"/>
          <p:cNvSpPr/>
          <p:nvPr/>
        </p:nvSpPr>
        <p:spPr>
          <a:xfrm>
            <a:off x="4718304" y="4119372"/>
            <a:ext cx="82296" cy="82296"/>
          </a:xfrm>
          <a:prstGeom prst="ellipse">
            <a:avLst/>
          </a:prstGeom>
          <a:solidFill>
            <a:srgbClr val="4FD3C4"/>
          </a:solidFill>
        </p:spPr>
      </p:sp>
      <p:sp>
        <p:nvSpPr>
          <p:cNvPr id="19" name="Shape 17"/>
          <p:cNvSpPr/>
          <p:nvPr/>
        </p:nvSpPr>
        <p:spPr>
          <a:xfrm>
            <a:off x="3547872" y="4160520"/>
            <a:ext cx="2423160" cy="1417320"/>
          </a:xfrm>
          <a:prstGeom prst="roundRect">
            <a:avLst>
              <a:gd name="adj" fmla="val 4516"/>
            </a:avLst>
          </a:prstGeom>
          <a:solidFill>
            <a:srgbClr val="FFFFFF"/>
          </a:solidFill>
          <a:ln w="19050">
            <a:solidFill>
              <a:srgbClr val="1C7293"/>
            </a:solidFill>
            <a:prstDash val="solid"/>
          </a:ln>
          <a:effectLst>
            <a:outerShdw blurRad="101600" dist="25400" dir="5400000" algn="bl" rotWithShape="0">
              <a:srgbClr val="9AAAB4">
                <a:alpha val="22000"/>
              </a:srgbClr>
            </a:outerShdw>
          </a:effectLst>
        </p:spPr>
      </p:sp>
      <p:sp>
        <p:nvSpPr>
          <p:cNvPr id="20" name="Shape 18"/>
          <p:cNvSpPr/>
          <p:nvPr/>
        </p:nvSpPr>
        <p:spPr>
          <a:xfrm>
            <a:off x="3712464" y="4325112"/>
            <a:ext cx="2093976" cy="457200"/>
          </a:xfrm>
          <a:prstGeom prst="roundRect">
            <a:avLst>
              <a:gd name="adj" fmla="val 50000"/>
            </a:avLst>
          </a:prstGeom>
          <a:solidFill>
            <a:srgbClr val="1C7293"/>
          </a:solidFill>
        </p:spPr>
      </p:sp>
      <p:sp>
        <p:nvSpPr>
          <p:cNvPr id="21" name="Text 19"/>
          <p:cNvSpPr/>
          <p:nvPr/>
        </p:nvSpPr>
        <p:spPr>
          <a:xfrm>
            <a:off x="3712464" y="4325112"/>
            <a:ext cx="2093976" cy="457200"/>
          </a:xfrm>
          <a:prstGeom prst="rect">
            <a:avLst/>
          </a:prstGeom>
          <a:noFill/>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Public Cloud A</a:t>
            </a:r>
            <a:endParaRPr lang="en-US" sz="1200" dirty="0"/>
          </a:p>
        </p:txBody>
      </p:sp>
      <p:sp>
        <p:nvSpPr>
          <p:cNvPr id="22" name="Text 20"/>
          <p:cNvSpPr/>
          <p:nvPr/>
        </p:nvSpPr>
        <p:spPr>
          <a:xfrm>
            <a:off x="3547872" y="4782312"/>
            <a:ext cx="2423160" cy="274320"/>
          </a:xfrm>
          <a:prstGeom prst="rect">
            <a:avLst/>
          </a:prstGeom>
          <a:noFill/>
        </p:spPr>
        <p:txBody>
          <a:bodyPr wrap="square" rtlCol="0" anchor="ctr"/>
          <a:lstStyle/>
          <a:p>
            <a:pPr marL="0" indent="0" algn="ctr">
              <a:buNone/>
            </a:pPr>
            <a:r>
              <a:rPr lang="en-US" sz="1200" b="1" dirty="0">
                <a:solidFill>
                  <a:srgbClr val="1F2A33"/>
                </a:solidFill>
                <a:latin typeface="Calibri" pitchFamily="34" charset="0"/>
                <a:ea typeface="Calibri" pitchFamily="34" charset="-122"/>
                <a:cs typeface="Calibri" pitchFamily="34" charset="-120"/>
              </a:rPr>
              <a:t>(AWS)</a:t>
            </a:r>
            <a:endParaRPr lang="en-US" sz="1200" dirty="0"/>
          </a:p>
        </p:txBody>
      </p:sp>
      <p:sp>
        <p:nvSpPr>
          <p:cNvPr id="23" name="Text 21"/>
          <p:cNvSpPr/>
          <p:nvPr/>
        </p:nvSpPr>
        <p:spPr>
          <a:xfrm>
            <a:off x="3657600" y="5074920"/>
            <a:ext cx="2203704" cy="457200"/>
          </a:xfrm>
          <a:prstGeom prst="rect">
            <a:avLst/>
          </a:prstGeom>
          <a:noFill/>
        </p:spPr>
        <p:txBody>
          <a:bodyPr wrap="square" rtlCol="0" anchor="ctr"/>
          <a:lstStyle/>
          <a:p>
            <a:pPr marL="0" indent="0" algn="ctr">
              <a:lnSpc>
                <a:spcPts val="1300"/>
              </a:lnSpc>
              <a:buNone/>
            </a:pPr>
            <a:r>
              <a:rPr lang="en-US" sz="1600" dirty="0">
                <a:solidFill>
                  <a:srgbClr val="5B7480"/>
                </a:solidFill>
                <a:latin typeface="Times New Roman Regular" panose="02020503050405090304" charset="0"/>
                <a:ea typeface="Calibri" pitchFamily="34" charset="-122"/>
                <a:cs typeface="Times New Roman Regular" panose="02020503050405090304" charset="0"/>
              </a:rPr>
              <a:t>Elastic compute, storage</a:t>
            </a:r>
            <a:endParaRPr lang="en-US" sz="1600" dirty="0">
              <a:latin typeface="Times New Roman Regular" panose="02020503050405090304" charset="0"/>
              <a:cs typeface="Times New Roman Regular" panose="02020503050405090304" charset="0"/>
            </a:endParaRPr>
          </a:p>
        </p:txBody>
      </p:sp>
      <p:sp>
        <p:nvSpPr>
          <p:cNvPr id="24" name="Shape 22"/>
          <p:cNvSpPr/>
          <p:nvPr/>
        </p:nvSpPr>
        <p:spPr>
          <a:xfrm>
            <a:off x="7402068" y="3291840"/>
            <a:ext cx="9144" cy="868680"/>
          </a:xfrm>
          <a:prstGeom prst="line">
            <a:avLst/>
          </a:prstGeom>
          <a:noFill/>
          <a:ln w="19050">
            <a:solidFill>
              <a:srgbClr val="B7C6CE"/>
            </a:solidFill>
            <a:prstDash val="dash"/>
          </a:ln>
        </p:spPr>
      </p:sp>
      <p:sp>
        <p:nvSpPr>
          <p:cNvPr id="25" name="Shape 23"/>
          <p:cNvSpPr/>
          <p:nvPr/>
        </p:nvSpPr>
        <p:spPr>
          <a:xfrm>
            <a:off x="7360920" y="4119372"/>
            <a:ext cx="82296" cy="82296"/>
          </a:xfrm>
          <a:prstGeom prst="ellipse">
            <a:avLst/>
          </a:prstGeom>
          <a:solidFill>
            <a:srgbClr val="4FD3C4"/>
          </a:solidFill>
        </p:spPr>
      </p:sp>
      <p:sp>
        <p:nvSpPr>
          <p:cNvPr id="26" name="Shape 24"/>
          <p:cNvSpPr/>
          <p:nvPr/>
        </p:nvSpPr>
        <p:spPr>
          <a:xfrm>
            <a:off x="6190488" y="4160520"/>
            <a:ext cx="2423160" cy="1417320"/>
          </a:xfrm>
          <a:prstGeom prst="roundRect">
            <a:avLst>
              <a:gd name="adj" fmla="val 4516"/>
            </a:avLst>
          </a:prstGeom>
          <a:solidFill>
            <a:srgbClr val="FFFFFF"/>
          </a:solidFill>
          <a:ln w="19050">
            <a:solidFill>
              <a:srgbClr val="1C7293"/>
            </a:solidFill>
            <a:prstDash val="solid"/>
          </a:ln>
          <a:effectLst>
            <a:outerShdw blurRad="101600" dist="25400" dir="5400000" algn="bl" rotWithShape="0">
              <a:srgbClr val="9AAAB4">
                <a:alpha val="22000"/>
              </a:srgbClr>
            </a:outerShdw>
          </a:effectLst>
        </p:spPr>
      </p:sp>
      <p:sp>
        <p:nvSpPr>
          <p:cNvPr id="27" name="Shape 25"/>
          <p:cNvSpPr/>
          <p:nvPr/>
        </p:nvSpPr>
        <p:spPr>
          <a:xfrm>
            <a:off x="6355080" y="4325112"/>
            <a:ext cx="2093976" cy="457200"/>
          </a:xfrm>
          <a:prstGeom prst="roundRect">
            <a:avLst>
              <a:gd name="adj" fmla="val 50000"/>
            </a:avLst>
          </a:prstGeom>
          <a:solidFill>
            <a:srgbClr val="1C7293"/>
          </a:solidFill>
        </p:spPr>
      </p:sp>
      <p:sp>
        <p:nvSpPr>
          <p:cNvPr id="28" name="Text 26"/>
          <p:cNvSpPr/>
          <p:nvPr/>
        </p:nvSpPr>
        <p:spPr>
          <a:xfrm>
            <a:off x="6355080" y="4325112"/>
            <a:ext cx="2093976" cy="457200"/>
          </a:xfrm>
          <a:prstGeom prst="rect">
            <a:avLst/>
          </a:prstGeom>
          <a:noFill/>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Public Cloud B</a:t>
            </a:r>
            <a:endParaRPr lang="en-US" sz="1200" dirty="0"/>
          </a:p>
        </p:txBody>
      </p:sp>
      <p:sp>
        <p:nvSpPr>
          <p:cNvPr id="29" name="Text 27"/>
          <p:cNvSpPr/>
          <p:nvPr/>
        </p:nvSpPr>
        <p:spPr>
          <a:xfrm>
            <a:off x="6190488" y="4782312"/>
            <a:ext cx="2423160" cy="274320"/>
          </a:xfrm>
          <a:prstGeom prst="rect">
            <a:avLst/>
          </a:prstGeom>
          <a:noFill/>
        </p:spPr>
        <p:txBody>
          <a:bodyPr wrap="square" rtlCol="0" anchor="ctr"/>
          <a:lstStyle/>
          <a:p>
            <a:pPr marL="0" indent="0" algn="ctr">
              <a:buNone/>
            </a:pPr>
            <a:r>
              <a:rPr lang="en-US" sz="1200" b="1" dirty="0">
                <a:solidFill>
                  <a:srgbClr val="1F2A33"/>
                </a:solidFill>
                <a:latin typeface="Calibri" pitchFamily="34" charset="0"/>
                <a:ea typeface="Calibri" pitchFamily="34" charset="-122"/>
                <a:cs typeface="Calibri" pitchFamily="34" charset="-120"/>
              </a:rPr>
              <a:t>(Azure)</a:t>
            </a:r>
            <a:endParaRPr lang="en-US" sz="1200" dirty="0"/>
          </a:p>
        </p:txBody>
      </p:sp>
      <p:sp>
        <p:nvSpPr>
          <p:cNvPr id="30" name="Text 28"/>
          <p:cNvSpPr/>
          <p:nvPr/>
        </p:nvSpPr>
        <p:spPr>
          <a:xfrm>
            <a:off x="6300216" y="5074920"/>
            <a:ext cx="2203704" cy="457200"/>
          </a:xfrm>
          <a:prstGeom prst="rect">
            <a:avLst/>
          </a:prstGeom>
          <a:noFill/>
        </p:spPr>
        <p:txBody>
          <a:bodyPr wrap="square" rtlCol="0" anchor="ctr"/>
          <a:lstStyle/>
          <a:p>
            <a:pPr marL="0" indent="0" algn="ctr">
              <a:lnSpc>
                <a:spcPts val="1300"/>
              </a:lnSpc>
              <a:buNone/>
            </a:pPr>
            <a:r>
              <a:rPr lang="en-US" sz="1600" dirty="0">
                <a:solidFill>
                  <a:srgbClr val="5B7480"/>
                </a:solidFill>
                <a:latin typeface="Times New Roman Regular" panose="02020503050405090304" charset="0"/>
                <a:ea typeface="Calibri" pitchFamily="34" charset="-122"/>
                <a:cs typeface="Times New Roman Regular" panose="02020503050405090304" charset="0"/>
              </a:rPr>
              <a:t>Enterprise apps, identity</a:t>
            </a:r>
            <a:endParaRPr lang="en-US" sz="1600" dirty="0">
              <a:latin typeface="Times New Roman Regular" panose="02020503050405090304" charset="0"/>
              <a:cs typeface="Times New Roman Regular" panose="02020503050405090304" charset="0"/>
            </a:endParaRPr>
          </a:p>
        </p:txBody>
      </p:sp>
      <p:sp>
        <p:nvSpPr>
          <p:cNvPr id="31" name="Shape 29"/>
          <p:cNvSpPr/>
          <p:nvPr/>
        </p:nvSpPr>
        <p:spPr>
          <a:xfrm>
            <a:off x="10044684" y="3291840"/>
            <a:ext cx="9144" cy="868680"/>
          </a:xfrm>
          <a:prstGeom prst="line">
            <a:avLst/>
          </a:prstGeom>
          <a:noFill/>
          <a:ln w="19050">
            <a:solidFill>
              <a:srgbClr val="B7C6CE"/>
            </a:solidFill>
            <a:prstDash val="dash"/>
          </a:ln>
        </p:spPr>
      </p:sp>
      <p:sp>
        <p:nvSpPr>
          <p:cNvPr id="32" name="Shape 30"/>
          <p:cNvSpPr/>
          <p:nvPr/>
        </p:nvSpPr>
        <p:spPr>
          <a:xfrm>
            <a:off x="10003536" y="4119372"/>
            <a:ext cx="82296" cy="82296"/>
          </a:xfrm>
          <a:prstGeom prst="ellipse">
            <a:avLst/>
          </a:prstGeom>
          <a:solidFill>
            <a:srgbClr val="4FD3C4"/>
          </a:solidFill>
        </p:spPr>
      </p:sp>
      <p:sp>
        <p:nvSpPr>
          <p:cNvPr id="33" name="Shape 31"/>
          <p:cNvSpPr/>
          <p:nvPr/>
        </p:nvSpPr>
        <p:spPr>
          <a:xfrm>
            <a:off x="8833104" y="4160520"/>
            <a:ext cx="2423160" cy="1417320"/>
          </a:xfrm>
          <a:prstGeom prst="roundRect">
            <a:avLst>
              <a:gd name="adj" fmla="val 4516"/>
            </a:avLst>
          </a:prstGeom>
          <a:solidFill>
            <a:srgbClr val="FFFFFF"/>
          </a:solidFill>
          <a:ln w="19050">
            <a:solidFill>
              <a:srgbClr val="1C7293"/>
            </a:solidFill>
            <a:prstDash val="solid"/>
          </a:ln>
          <a:effectLst>
            <a:outerShdw blurRad="101600" dist="25400" dir="5400000" algn="bl" rotWithShape="0">
              <a:srgbClr val="9AAAB4">
                <a:alpha val="22000"/>
              </a:srgbClr>
            </a:outerShdw>
          </a:effectLst>
        </p:spPr>
      </p:sp>
      <p:sp>
        <p:nvSpPr>
          <p:cNvPr id="34" name="Shape 32"/>
          <p:cNvSpPr/>
          <p:nvPr/>
        </p:nvSpPr>
        <p:spPr>
          <a:xfrm>
            <a:off x="8997696" y="4325112"/>
            <a:ext cx="2093976" cy="457200"/>
          </a:xfrm>
          <a:prstGeom prst="roundRect">
            <a:avLst>
              <a:gd name="adj" fmla="val 50000"/>
            </a:avLst>
          </a:prstGeom>
          <a:solidFill>
            <a:srgbClr val="1C7293"/>
          </a:solidFill>
        </p:spPr>
      </p:sp>
      <p:sp>
        <p:nvSpPr>
          <p:cNvPr id="35" name="Text 33"/>
          <p:cNvSpPr/>
          <p:nvPr/>
        </p:nvSpPr>
        <p:spPr>
          <a:xfrm>
            <a:off x="8997696" y="4325112"/>
            <a:ext cx="2093976" cy="457200"/>
          </a:xfrm>
          <a:prstGeom prst="rect">
            <a:avLst/>
          </a:prstGeom>
          <a:noFill/>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Public Cloud C</a:t>
            </a:r>
            <a:endParaRPr lang="en-US" sz="1200" dirty="0"/>
          </a:p>
        </p:txBody>
      </p:sp>
      <p:sp>
        <p:nvSpPr>
          <p:cNvPr id="36" name="Text 34"/>
          <p:cNvSpPr/>
          <p:nvPr/>
        </p:nvSpPr>
        <p:spPr>
          <a:xfrm>
            <a:off x="8833104" y="4782312"/>
            <a:ext cx="2423160" cy="274320"/>
          </a:xfrm>
          <a:prstGeom prst="rect">
            <a:avLst/>
          </a:prstGeom>
          <a:noFill/>
        </p:spPr>
        <p:txBody>
          <a:bodyPr wrap="square" rtlCol="0" anchor="ctr"/>
          <a:lstStyle/>
          <a:p>
            <a:pPr marL="0" indent="0" algn="ctr">
              <a:buNone/>
            </a:pPr>
            <a:r>
              <a:rPr lang="en-US" sz="1200" b="1" dirty="0">
                <a:solidFill>
                  <a:srgbClr val="1F2A33"/>
                </a:solidFill>
                <a:latin typeface="Calibri" pitchFamily="34" charset="0"/>
                <a:ea typeface="Calibri" pitchFamily="34" charset="-122"/>
                <a:cs typeface="Calibri" pitchFamily="34" charset="-120"/>
              </a:rPr>
              <a:t>(GCP)</a:t>
            </a:r>
            <a:endParaRPr lang="en-US" sz="1200" dirty="0"/>
          </a:p>
        </p:txBody>
      </p:sp>
      <p:sp>
        <p:nvSpPr>
          <p:cNvPr id="37" name="Text 35"/>
          <p:cNvSpPr/>
          <p:nvPr/>
        </p:nvSpPr>
        <p:spPr>
          <a:xfrm>
            <a:off x="8942832" y="5074920"/>
            <a:ext cx="2203704" cy="457200"/>
          </a:xfrm>
          <a:prstGeom prst="rect">
            <a:avLst/>
          </a:prstGeom>
          <a:noFill/>
        </p:spPr>
        <p:txBody>
          <a:bodyPr wrap="square" rtlCol="0" anchor="ctr"/>
          <a:lstStyle/>
          <a:p>
            <a:pPr marL="0" indent="0" algn="ctr">
              <a:lnSpc>
                <a:spcPts val="1300"/>
              </a:lnSpc>
              <a:buNone/>
            </a:pPr>
            <a:r>
              <a:rPr lang="en-US" sz="1600" dirty="0">
                <a:solidFill>
                  <a:srgbClr val="5B7480"/>
                </a:solidFill>
                <a:latin typeface="Times New Roman Regular" panose="02020503050405090304" charset="0"/>
                <a:ea typeface="Calibri" pitchFamily="34" charset="-122"/>
                <a:cs typeface="Times New Roman Regular" panose="02020503050405090304" charset="0"/>
              </a:rPr>
              <a:t>Data &amp; AI/ML workloads</a:t>
            </a:r>
            <a:endParaRPr lang="en-US" sz="1600" dirty="0">
              <a:latin typeface="Times New Roman Regular" panose="02020503050405090304" charset="0"/>
              <a:cs typeface="Times New Roman Regular" panose="02020503050405090304" charset="0"/>
            </a:endParaRPr>
          </a:p>
        </p:txBody>
      </p:sp>
      <p:sp>
        <p:nvSpPr>
          <p:cNvPr id="40" name="Text 38"/>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5B74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457200"/>
          </a:xfrm>
          <a:prstGeom prst="rect">
            <a:avLst/>
          </a:prstGeom>
          <a:noFill/>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Why Enterprises Do This</a:t>
            </a:r>
            <a:endParaRPr lang="en-US" sz="3000" dirty="0"/>
          </a:p>
        </p:txBody>
      </p:sp>
      <p:sp>
        <p:nvSpPr>
          <p:cNvPr id="3" name="Text 1"/>
          <p:cNvSpPr/>
          <p:nvPr/>
        </p:nvSpPr>
        <p:spPr>
          <a:xfrm>
            <a:off x="548640" y="896112"/>
            <a:ext cx="8229600" cy="320040"/>
          </a:xfrm>
          <a:prstGeom prst="rect">
            <a:avLst/>
          </a:prstGeom>
          <a:noFill/>
        </p:spPr>
        <p:txBody>
          <a:bodyPr wrap="square" rtlCol="0" anchor="ctr"/>
          <a:lstStyle/>
          <a:p>
            <a:pPr marL="0" indent="0">
              <a:buNone/>
            </a:pPr>
            <a:r>
              <a:rPr lang="en-US" sz="1400" dirty="0">
                <a:solidFill>
                  <a:srgbClr val="5B7480"/>
                </a:solidFill>
                <a:latin typeface="Calibri" pitchFamily="34" charset="0"/>
                <a:ea typeface="Calibri" pitchFamily="34" charset="-122"/>
                <a:cs typeface="Calibri" pitchFamily="34" charset="-120"/>
              </a:rPr>
              <a:t>Business benefits driving multi-cloud and hybrid adoption</a:t>
            </a:r>
            <a:endParaRPr lang="en-US" sz="1400" dirty="0"/>
          </a:p>
        </p:txBody>
      </p:sp>
      <p:sp>
        <p:nvSpPr>
          <p:cNvPr id="4" name="Shape 2"/>
          <p:cNvSpPr/>
          <p:nvPr/>
        </p:nvSpPr>
        <p:spPr>
          <a:xfrm>
            <a:off x="548640" y="1463040"/>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5" name="Shape 3"/>
          <p:cNvSpPr/>
          <p:nvPr/>
        </p:nvSpPr>
        <p:spPr>
          <a:xfrm>
            <a:off x="804672" y="1719072"/>
            <a:ext cx="502920" cy="502920"/>
          </a:xfrm>
          <a:prstGeom prst="ellipse">
            <a:avLst/>
          </a:prstGeom>
          <a:solidFill>
            <a:srgbClr val="065A82"/>
          </a:solidFill>
        </p:spPr>
      </p:sp>
      <p:sp>
        <p:nvSpPr>
          <p:cNvPr id="6" name="Text 4"/>
          <p:cNvSpPr/>
          <p:nvPr/>
        </p:nvSpPr>
        <p:spPr>
          <a:xfrm>
            <a:off x="804672" y="1719072"/>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R</a:t>
            </a:r>
            <a:endParaRPr lang="en-US" sz="1430" dirty="0"/>
          </a:p>
        </p:txBody>
      </p:sp>
      <p:sp>
        <p:nvSpPr>
          <p:cNvPr id="7" name="Text 5"/>
          <p:cNvSpPr/>
          <p:nvPr/>
        </p:nvSpPr>
        <p:spPr>
          <a:xfrm>
            <a:off x="804672" y="2331720"/>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Resilience &amp; Uptime</a:t>
            </a:r>
            <a:endParaRPr lang="en-US" sz="1450" dirty="0"/>
          </a:p>
        </p:txBody>
      </p:sp>
      <p:sp>
        <p:nvSpPr>
          <p:cNvPr id="8" name="Text 6"/>
          <p:cNvSpPr/>
          <p:nvPr/>
        </p:nvSpPr>
        <p:spPr>
          <a:xfrm>
            <a:off x="804672" y="2697480"/>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No single point of failure — if one provider has an outage, workloads keep running elsewhere.</a:t>
            </a:r>
            <a:endParaRPr lang="en-US" sz="1600" dirty="0">
              <a:latin typeface="Times New Roman Regular" panose="02020503050405090304" charset="0"/>
              <a:cs typeface="Times New Roman Regular" panose="02020503050405090304" charset="0"/>
            </a:endParaRPr>
          </a:p>
        </p:txBody>
      </p:sp>
      <p:sp>
        <p:nvSpPr>
          <p:cNvPr id="9" name="Shape 7"/>
          <p:cNvSpPr/>
          <p:nvPr/>
        </p:nvSpPr>
        <p:spPr>
          <a:xfrm>
            <a:off x="4233672" y="1463040"/>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10" name="Shape 8"/>
          <p:cNvSpPr/>
          <p:nvPr/>
        </p:nvSpPr>
        <p:spPr>
          <a:xfrm>
            <a:off x="4489704" y="1719072"/>
            <a:ext cx="502920" cy="502920"/>
          </a:xfrm>
          <a:prstGeom prst="ellipse">
            <a:avLst/>
          </a:prstGeom>
          <a:solidFill>
            <a:srgbClr val="065A82"/>
          </a:solidFill>
        </p:spPr>
      </p:sp>
      <p:sp>
        <p:nvSpPr>
          <p:cNvPr id="11" name="Text 9"/>
          <p:cNvSpPr/>
          <p:nvPr/>
        </p:nvSpPr>
        <p:spPr>
          <a:xfrm>
            <a:off x="4489704" y="1719072"/>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12" name="Text 10"/>
          <p:cNvSpPr/>
          <p:nvPr/>
        </p:nvSpPr>
        <p:spPr>
          <a:xfrm>
            <a:off x="4489704" y="2331720"/>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Cost Optimization</a:t>
            </a:r>
            <a:endParaRPr lang="en-US" sz="1450" dirty="0"/>
          </a:p>
        </p:txBody>
      </p:sp>
      <p:sp>
        <p:nvSpPr>
          <p:cNvPr id="13" name="Text 11"/>
          <p:cNvSpPr/>
          <p:nvPr/>
        </p:nvSpPr>
        <p:spPr>
          <a:xfrm>
            <a:off x="4489704" y="2697480"/>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Workloads placed on whichever provider offers the best price/performance; negotiating leverage across vendors.</a:t>
            </a:r>
            <a:endParaRPr lang="en-US" sz="1600" dirty="0">
              <a:latin typeface="Times New Roman Regular" panose="02020503050405090304" charset="0"/>
              <a:cs typeface="Times New Roman Regular" panose="02020503050405090304" charset="0"/>
            </a:endParaRPr>
          </a:p>
        </p:txBody>
      </p:sp>
      <p:sp>
        <p:nvSpPr>
          <p:cNvPr id="14" name="Shape 12"/>
          <p:cNvSpPr/>
          <p:nvPr/>
        </p:nvSpPr>
        <p:spPr>
          <a:xfrm>
            <a:off x="7918704" y="1463040"/>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15" name="Shape 13"/>
          <p:cNvSpPr/>
          <p:nvPr/>
        </p:nvSpPr>
        <p:spPr>
          <a:xfrm>
            <a:off x="8174736" y="1719072"/>
            <a:ext cx="502920" cy="502920"/>
          </a:xfrm>
          <a:prstGeom prst="ellipse">
            <a:avLst/>
          </a:prstGeom>
          <a:solidFill>
            <a:srgbClr val="065A82"/>
          </a:solidFill>
        </p:spPr>
      </p:sp>
      <p:sp>
        <p:nvSpPr>
          <p:cNvPr id="16" name="Text 14"/>
          <p:cNvSpPr/>
          <p:nvPr/>
        </p:nvSpPr>
        <p:spPr>
          <a:xfrm>
            <a:off x="8174736" y="1719072"/>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17" name="Text 15"/>
          <p:cNvSpPr/>
          <p:nvPr/>
        </p:nvSpPr>
        <p:spPr>
          <a:xfrm>
            <a:off x="8174736" y="2331720"/>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Avoiding Lock-In</a:t>
            </a:r>
            <a:endParaRPr lang="en-US" sz="1450" dirty="0"/>
          </a:p>
        </p:txBody>
      </p:sp>
      <p:sp>
        <p:nvSpPr>
          <p:cNvPr id="18" name="Text 16"/>
          <p:cNvSpPr/>
          <p:nvPr/>
        </p:nvSpPr>
        <p:spPr>
          <a:xfrm>
            <a:off x="8174736" y="2697480"/>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Independence from any single vendor's pricing, roadmap, or terms of service.</a:t>
            </a:r>
            <a:endParaRPr lang="en-US" sz="1600" dirty="0">
              <a:latin typeface="Times New Roman Regular" panose="02020503050405090304" charset="0"/>
              <a:cs typeface="Times New Roman Regular" panose="02020503050405090304" charset="0"/>
            </a:endParaRPr>
          </a:p>
        </p:txBody>
      </p:sp>
      <p:sp>
        <p:nvSpPr>
          <p:cNvPr id="19" name="Shape 17"/>
          <p:cNvSpPr/>
          <p:nvPr/>
        </p:nvSpPr>
        <p:spPr>
          <a:xfrm>
            <a:off x="548640" y="3867912"/>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20" name="Shape 18"/>
          <p:cNvSpPr/>
          <p:nvPr/>
        </p:nvSpPr>
        <p:spPr>
          <a:xfrm>
            <a:off x="804672" y="4123944"/>
            <a:ext cx="502920" cy="502920"/>
          </a:xfrm>
          <a:prstGeom prst="ellipse">
            <a:avLst/>
          </a:prstGeom>
          <a:solidFill>
            <a:srgbClr val="065A82"/>
          </a:solidFill>
        </p:spPr>
      </p:sp>
      <p:sp>
        <p:nvSpPr>
          <p:cNvPr id="21" name="Text 19"/>
          <p:cNvSpPr/>
          <p:nvPr/>
        </p:nvSpPr>
        <p:spPr>
          <a:xfrm>
            <a:off x="804672" y="4123944"/>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22" name="Text 20"/>
          <p:cNvSpPr/>
          <p:nvPr/>
        </p:nvSpPr>
        <p:spPr>
          <a:xfrm>
            <a:off x="804672" y="4736592"/>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Compliance &amp; Data Residency</a:t>
            </a:r>
            <a:endParaRPr lang="en-US" sz="1450" dirty="0"/>
          </a:p>
        </p:txBody>
      </p:sp>
      <p:sp>
        <p:nvSpPr>
          <p:cNvPr id="23" name="Text 21"/>
          <p:cNvSpPr/>
          <p:nvPr/>
        </p:nvSpPr>
        <p:spPr>
          <a:xfrm>
            <a:off x="804672" y="5102352"/>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Sensitive data kept on private infrastructure or in-region to satisfy regulation (e.g., RBI, GDPR).</a:t>
            </a:r>
            <a:endParaRPr lang="en-US" sz="1600" dirty="0">
              <a:latin typeface="Times New Roman Regular" panose="02020503050405090304" charset="0"/>
              <a:cs typeface="Times New Roman Regular" panose="02020503050405090304" charset="0"/>
            </a:endParaRPr>
          </a:p>
        </p:txBody>
      </p:sp>
      <p:sp>
        <p:nvSpPr>
          <p:cNvPr id="24" name="Shape 22"/>
          <p:cNvSpPr/>
          <p:nvPr/>
        </p:nvSpPr>
        <p:spPr>
          <a:xfrm>
            <a:off x="4233672" y="3867912"/>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25" name="Shape 23"/>
          <p:cNvSpPr/>
          <p:nvPr/>
        </p:nvSpPr>
        <p:spPr>
          <a:xfrm>
            <a:off x="4489704" y="4123944"/>
            <a:ext cx="502920" cy="502920"/>
          </a:xfrm>
          <a:prstGeom prst="ellipse">
            <a:avLst/>
          </a:prstGeom>
          <a:solidFill>
            <a:srgbClr val="065A82"/>
          </a:solidFill>
        </p:spPr>
      </p:sp>
      <p:sp>
        <p:nvSpPr>
          <p:cNvPr id="26" name="Text 24"/>
          <p:cNvSpPr/>
          <p:nvPr/>
        </p:nvSpPr>
        <p:spPr>
          <a:xfrm>
            <a:off x="4489704" y="4123944"/>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27" name="Text 25"/>
          <p:cNvSpPr/>
          <p:nvPr/>
        </p:nvSpPr>
        <p:spPr>
          <a:xfrm>
            <a:off x="4489704" y="4736592"/>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Best-of-Breed Services</a:t>
            </a:r>
            <a:endParaRPr lang="en-US" sz="1450" dirty="0"/>
          </a:p>
        </p:txBody>
      </p:sp>
      <p:sp>
        <p:nvSpPr>
          <p:cNvPr id="28" name="Text 26"/>
          <p:cNvSpPr/>
          <p:nvPr/>
        </p:nvSpPr>
        <p:spPr>
          <a:xfrm>
            <a:off x="4489704" y="5102352"/>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Using each provider's strongest offering — e.g., one cloud for AI/ML, another for enterprise apps.</a:t>
            </a:r>
            <a:endParaRPr lang="en-US" sz="1600" dirty="0">
              <a:latin typeface="Times New Roman Regular" panose="02020503050405090304" charset="0"/>
              <a:cs typeface="Times New Roman Regular" panose="02020503050405090304" charset="0"/>
            </a:endParaRPr>
          </a:p>
        </p:txBody>
      </p:sp>
      <p:sp>
        <p:nvSpPr>
          <p:cNvPr id="29" name="Shape 27"/>
          <p:cNvSpPr/>
          <p:nvPr/>
        </p:nvSpPr>
        <p:spPr>
          <a:xfrm>
            <a:off x="7918704" y="3867912"/>
            <a:ext cx="3429000" cy="2148840"/>
          </a:xfrm>
          <a:prstGeom prst="roundRect">
            <a:avLst>
              <a:gd name="adj" fmla="val 3404"/>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30" name="Shape 28"/>
          <p:cNvSpPr/>
          <p:nvPr/>
        </p:nvSpPr>
        <p:spPr>
          <a:xfrm>
            <a:off x="8174736" y="4123944"/>
            <a:ext cx="502920" cy="502920"/>
          </a:xfrm>
          <a:prstGeom prst="ellipse">
            <a:avLst/>
          </a:prstGeom>
          <a:solidFill>
            <a:srgbClr val="065A82"/>
          </a:solidFill>
        </p:spPr>
      </p:sp>
      <p:sp>
        <p:nvSpPr>
          <p:cNvPr id="31" name="Text 29"/>
          <p:cNvSpPr/>
          <p:nvPr/>
        </p:nvSpPr>
        <p:spPr>
          <a:xfrm>
            <a:off x="8174736" y="4123944"/>
            <a:ext cx="502920" cy="502920"/>
          </a:xfrm>
          <a:prstGeom prst="rect">
            <a:avLst/>
          </a:prstGeom>
          <a:noFill/>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32" name="Text 30"/>
          <p:cNvSpPr/>
          <p:nvPr/>
        </p:nvSpPr>
        <p:spPr>
          <a:xfrm>
            <a:off x="8174736" y="4736592"/>
            <a:ext cx="2916936" cy="365760"/>
          </a:xfrm>
          <a:prstGeom prst="rect">
            <a:avLst/>
          </a:prstGeom>
          <a:noFill/>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Legacy Integration</a:t>
            </a:r>
            <a:endParaRPr lang="en-US" sz="1450" dirty="0"/>
          </a:p>
        </p:txBody>
      </p:sp>
      <p:sp>
        <p:nvSpPr>
          <p:cNvPr id="33" name="Text 31"/>
          <p:cNvSpPr/>
          <p:nvPr/>
        </p:nvSpPr>
        <p:spPr>
          <a:xfrm>
            <a:off x="8174736" y="5102352"/>
            <a:ext cx="2916936" cy="822960"/>
          </a:xfrm>
          <a:prstGeom prst="rect">
            <a:avLst/>
          </a:prstGeom>
          <a:noFill/>
        </p:spPr>
        <p:txBody>
          <a:bodyPr wrap="square" rtlCol="0" anchor="ctr"/>
          <a:lstStyle/>
          <a:p>
            <a:pPr marL="0" indent="0" algn="just">
              <a:lnSpc>
                <a:spcPts val="1500"/>
              </a:lnSpc>
              <a:buNone/>
            </a:pPr>
            <a:r>
              <a:rPr lang="en-US" sz="1600" dirty="0">
                <a:solidFill>
                  <a:srgbClr val="1F2A33"/>
                </a:solidFill>
                <a:latin typeface="Times New Roman Regular" panose="02020503050405090304" charset="0"/>
                <a:ea typeface="Calibri" pitchFamily="34" charset="-122"/>
                <a:cs typeface="Times New Roman Regular" panose="02020503050405090304" charset="0"/>
              </a:rPr>
              <a:t>Existing on-prem investments stay productive while new workloads move to public cloud gradually.</a:t>
            </a:r>
            <a:endParaRPr lang="en-US" sz="1600" dirty="0">
              <a:latin typeface="Times New Roman Regular" panose="02020503050405090304" charset="0"/>
              <a:cs typeface="Times New Roman Regular" panose="02020503050405090304" charset="0"/>
            </a:endParaRPr>
          </a:p>
        </p:txBody>
      </p:sp>
      <p:sp>
        <p:nvSpPr>
          <p:cNvPr id="35" name="Text 33"/>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5B74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457200"/>
          </a:xfrm>
          <a:prstGeom prst="rect">
            <a:avLst/>
          </a:prstGeom>
          <a:noFill/>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Trade-Offs</a:t>
            </a:r>
            <a:endParaRPr lang="en-US" sz="3000" dirty="0"/>
          </a:p>
        </p:txBody>
      </p:sp>
      <p:sp>
        <p:nvSpPr>
          <p:cNvPr id="3" name="Text 1"/>
          <p:cNvSpPr/>
          <p:nvPr/>
        </p:nvSpPr>
        <p:spPr>
          <a:xfrm>
            <a:off x="548640" y="896112"/>
            <a:ext cx="8229600" cy="320040"/>
          </a:xfrm>
          <a:prstGeom prst="rect">
            <a:avLst/>
          </a:prstGeom>
          <a:noFill/>
        </p:spPr>
        <p:txBody>
          <a:bodyPr wrap="square" rtlCol="0" anchor="ctr"/>
          <a:lstStyle/>
          <a:p>
            <a:pPr marL="0" indent="0">
              <a:buNone/>
            </a:pPr>
            <a:r>
              <a:rPr lang="en-US" sz="1400" dirty="0">
                <a:solidFill>
                  <a:srgbClr val="9FB6C4"/>
                </a:solidFill>
                <a:latin typeface="Calibri" pitchFamily="34" charset="0"/>
                <a:ea typeface="Calibri" pitchFamily="34" charset="-122"/>
                <a:cs typeface="Calibri" pitchFamily="34" charset="-120"/>
              </a:rPr>
              <a:t>Operational challenges that come with distributed environments</a:t>
            </a:r>
            <a:endParaRPr lang="en-US" sz="1400" dirty="0"/>
          </a:p>
        </p:txBody>
      </p:sp>
      <p:sp>
        <p:nvSpPr>
          <p:cNvPr id="4" name="Shape 2"/>
          <p:cNvSpPr/>
          <p:nvPr/>
        </p:nvSpPr>
        <p:spPr>
          <a:xfrm>
            <a:off x="548640" y="1463040"/>
            <a:ext cx="5257800" cy="1417320"/>
          </a:xfrm>
          <a:prstGeom prst="roundRect">
            <a:avLst>
              <a:gd name="adj" fmla="val 4516"/>
            </a:avLst>
          </a:prstGeom>
          <a:solidFill>
            <a:srgbClr val="16294A"/>
          </a:solidFill>
          <a:ln w="12700">
            <a:solidFill>
              <a:srgbClr val="24406B"/>
            </a:solidFill>
            <a:prstDash val="solid"/>
          </a:ln>
        </p:spPr>
      </p:sp>
      <p:sp>
        <p:nvSpPr>
          <p:cNvPr id="5" name="Shape 3"/>
          <p:cNvSpPr/>
          <p:nvPr/>
        </p:nvSpPr>
        <p:spPr>
          <a:xfrm>
            <a:off x="749808" y="1664208"/>
            <a:ext cx="384048" cy="384048"/>
          </a:xfrm>
          <a:prstGeom prst="roundRect">
            <a:avLst>
              <a:gd name="adj" fmla="val 50000"/>
            </a:avLst>
          </a:prstGeom>
          <a:solidFill>
            <a:srgbClr val="4FD3C4"/>
          </a:solidFill>
        </p:spPr>
      </p:sp>
      <p:sp>
        <p:nvSpPr>
          <p:cNvPr id="6" name="Text 4"/>
          <p:cNvSpPr/>
          <p:nvPr/>
        </p:nvSpPr>
        <p:spPr>
          <a:xfrm>
            <a:off x="749808" y="166420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160934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Operational Complexity</a:t>
            </a:r>
            <a:endParaRPr lang="en-US" sz="1400" dirty="0"/>
          </a:p>
        </p:txBody>
      </p:sp>
      <p:sp>
        <p:nvSpPr>
          <p:cNvPr id="8" name="Text 6"/>
          <p:cNvSpPr/>
          <p:nvPr/>
        </p:nvSpPr>
        <p:spPr>
          <a:xfrm>
            <a:off x="1280160" y="197510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Different consoles, APIs, and tools per provider raise the skill and tooling burden on IT teams.</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Managing many clouds is difficult.</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9" name="Shape 7"/>
          <p:cNvSpPr/>
          <p:nvPr/>
        </p:nvSpPr>
        <p:spPr>
          <a:xfrm>
            <a:off x="6172200" y="1463040"/>
            <a:ext cx="5257800" cy="1417320"/>
          </a:xfrm>
          <a:prstGeom prst="roundRect">
            <a:avLst>
              <a:gd name="adj" fmla="val 4516"/>
            </a:avLst>
          </a:prstGeom>
          <a:solidFill>
            <a:srgbClr val="16294A"/>
          </a:solidFill>
          <a:ln w="12700">
            <a:solidFill>
              <a:srgbClr val="24406B"/>
            </a:solidFill>
            <a:prstDash val="solid"/>
          </a:ln>
        </p:spPr>
      </p:sp>
      <p:sp>
        <p:nvSpPr>
          <p:cNvPr id="10" name="Shape 8"/>
          <p:cNvSpPr/>
          <p:nvPr/>
        </p:nvSpPr>
        <p:spPr>
          <a:xfrm>
            <a:off x="6373368" y="1664208"/>
            <a:ext cx="384048" cy="384048"/>
          </a:xfrm>
          <a:prstGeom prst="roundRect">
            <a:avLst>
              <a:gd name="adj" fmla="val 50000"/>
            </a:avLst>
          </a:prstGeom>
          <a:solidFill>
            <a:srgbClr val="4FD3C4"/>
          </a:solidFill>
        </p:spPr>
      </p:sp>
      <p:sp>
        <p:nvSpPr>
          <p:cNvPr id="11" name="Text 9"/>
          <p:cNvSpPr/>
          <p:nvPr/>
        </p:nvSpPr>
        <p:spPr>
          <a:xfrm>
            <a:off x="6373368" y="166420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03720" y="160934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Security &amp; Governance</a:t>
            </a:r>
            <a:endParaRPr lang="en-US" sz="1400" dirty="0"/>
          </a:p>
        </p:txBody>
      </p:sp>
      <p:sp>
        <p:nvSpPr>
          <p:cNvPr id="13" name="Text 11"/>
          <p:cNvSpPr/>
          <p:nvPr/>
        </p:nvSpPr>
        <p:spPr>
          <a:xfrm>
            <a:off x="6903720" y="197510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Consistent identity, encryption, and policy enforcement is harder across heterogeneous environments.</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Security rules should be the same everywhere.</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14" name="Shape 12"/>
          <p:cNvSpPr/>
          <p:nvPr/>
        </p:nvSpPr>
        <p:spPr>
          <a:xfrm>
            <a:off x="548640" y="3108960"/>
            <a:ext cx="5257800" cy="1417320"/>
          </a:xfrm>
          <a:prstGeom prst="roundRect">
            <a:avLst>
              <a:gd name="adj" fmla="val 4516"/>
            </a:avLst>
          </a:prstGeom>
          <a:solidFill>
            <a:srgbClr val="16294A"/>
          </a:solidFill>
          <a:ln w="12700">
            <a:solidFill>
              <a:srgbClr val="24406B"/>
            </a:solidFill>
            <a:prstDash val="solid"/>
          </a:ln>
        </p:spPr>
      </p:sp>
      <p:sp>
        <p:nvSpPr>
          <p:cNvPr id="15" name="Shape 13"/>
          <p:cNvSpPr/>
          <p:nvPr/>
        </p:nvSpPr>
        <p:spPr>
          <a:xfrm>
            <a:off x="749808" y="3310128"/>
            <a:ext cx="384048" cy="384048"/>
          </a:xfrm>
          <a:prstGeom prst="roundRect">
            <a:avLst>
              <a:gd name="adj" fmla="val 50000"/>
            </a:avLst>
          </a:prstGeom>
          <a:solidFill>
            <a:srgbClr val="4FD3C4"/>
          </a:solidFill>
        </p:spPr>
      </p:sp>
      <p:sp>
        <p:nvSpPr>
          <p:cNvPr id="16" name="Text 14"/>
          <p:cNvSpPr/>
          <p:nvPr/>
        </p:nvSpPr>
        <p:spPr>
          <a:xfrm>
            <a:off x="749808" y="331012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25526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Integration &amp; Latency</a:t>
            </a:r>
            <a:endParaRPr lang="en-US" sz="1400" dirty="0"/>
          </a:p>
        </p:txBody>
      </p:sp>
      <p:sp>
        <p:nvSpPr>
          <p:cNvPr id="18" name="Text 16"/>
          <p:cNvSpPr/>
          <p:nvPr/>
        </p:nvSpPr>
        <p:spPr>
          <a:xfrm>
            <a:off x="1280160" y="362102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Moving data between providers or sites adds network cost, sync delays, and consistency risk.</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Moving data between clouds takes time.Experts who know AWS, Azure and GCP are fewer.</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19" name="Shape 17"/>
          <p:cNvSpPr/>
          <p:nvPr/>
        </p:nvSpPr>
        <p:spPr>
          <a:xfrm>
            <a:off x="6172200" y="3108960"/>
            <a:ext cx="5257800" cy="1417320"/>
          </a:xfrm>
          <a:prstGeom prst="roundRect">
            <a:avLst>
              <a:gd name="adj" fmla="val 4516"/>
            </a:avLst>
          </a:prstGeom>
          <a:solidFill>
            <a:srgbClr val="16294A"/>
          </a:solidFill>
          <a:ln w="12700">
            <a:solidFill>
              <a:srgbClr val="24406B"/>
            </a:solidFill>
            <a:prstDash val="solid"/>
          </a:ln>
        </p:spPr>
      </p:sp>
      <p:sp>
        <p:nvSpPr>
          <p:cNvPr id="20" name="Shape 18"/>
          <p:cNvSpPr/>
          <p:nvPr/>
        </p:nvSpPr>
        <p:spPr>
          <a:xfrm>
            <a:off x="6373368" y="3310128"/>
            <a:ext cx="384048" cy="384048"/>
          </a:xfrm>
          <a:prstGeom prst="roundRect">
            <a:avLst>
              <a:gd name="adj" fmla="val 50000"/>
            </a:avLst>
          </a:prstGeom>
          <a:solidFill>
            <a:srgbClr val="4FD3C4"/>
          </a:solidFill>
        </p:spPr>
      </p:sp>
      <p:sp>
        <p:nvSpPr>
          <p:cNvPr id="21" name="Text 19"/>
          <p:cNvSpPr/>
          <p:nvPr/>
        </p:nvSpPr>
        <p:spPr>
          <a:xfrm>
            <a:off x="6373368" y="331012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03720" y="325526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Cost Visibility</a:t>
            </a:r>
            <a:endParaRPr lang="en-US" sz="1400" dirty="0"/>
          </a:p>
        </p:txBody>
      </p:sp>
      <p:sp>
        <p:nvSpPr>
          <p:cNvPr id="23" name="Text 21"/>
          <p:cNvSpPr/>
          <p:nvPr/>
        </p:nvSpPr>
        <p:spPr>
          <a:xfrm>
            <a:off x="6903720" y="362102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Multiple billing models make it easy to overspend without centralized FinOps tracking.</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Different companies send different bills. Hard to track spending.</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24" name="Shape 22"/>
          <p:cNvSpPr/>
          <p:nvPr/>
        </p:nvSpPr>
        <p:spPr>
          <a:xfrm>
            <a:off x="548640" y="4754880"/>
            <a:ext cx="5257800" cy="1417320"/>
          </a:xfrm>
          <a:prstGeom prst="roundRect">
            <a:avLst>
              <a:gd name="adj" fmla="val 4516"/>
            </a:avLst>
          </a:prstGeom>
          <a:solidFill>
            <a:srgbClr val="16294A"/>
          </a:solidFill>
          <a:ln w="12700">
            <a:solidFill>
              <a:srgbClr val="24406B"/>
            </a:solidFill>
            <a:prstDash val="solid"/>
          </a:ln>
        </p:spPr>
      </p:sp>
      <p:sp>
        <p:nvSpPr>
          <p:cNvPr id="25" name="Shape 23"/>
          <p:cNvSpPr/>
          <p:nvPr/>
        </p:nvSpPr>
        <p:spPr>
          <a:xfrm>
            <a:off x="749808" y="4956048"/>
            <a:ext cx="384048" cy="384048"/>
          </a:xfrm>
          <a:prstGeom prst="roundRect">
            <a:avLst>
              <a:gd name="adj" fmla="val 50000"/>
            </a:avLst>
          </a:prstGeom>
          <a:solidFill>
            <a:srgbClr val="4FD3C4"/>
          </a:solidFill>
        </p:spPr>
      </p:sp>
      <p:sp>
        <p:nvSpPr>
          <p:cNvPr id="26" name="Text 24"/>
          <p:cNvSpPr/>
          <p:nvPr/>
        </p:nvSpPr>
        <p:spPr>
          <a:xfrm>
            <a:off x="749808" y="495604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280160" y="490118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Skills Gap</a:t>
            </a:r>
            <a:endParaRPr lang="en-US" sz="1400" dirty="0"/>
          </a:p>
        </p:txBody>
      </p:sp>
      <p:sp>
        <p:nvSpPr>
          <p:cNvPr id="28" name="Text 26"/>
          <p:cNvSpPr/>
          <p:nvPr/>
        </p:nvSpPr>
        <p:spPr>
          <a:xfrm>
            <a:off x="1280160" y="526694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Teams need cross-platform expertise (AWS + Azure + GCP + on-prem) that is scarce and costly to hire.</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Experts who know AWS, Azure and GCP are fewer.</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29" name="Shape 27"/>
          <p:cNvSpPr/>
          <p:nvPr/>
        </p:nvSpPr>
        <p:spPr>
          <a:xfrm>
            <a:off x="6172200" y="4754880"/>
            <a:ext cx="5257800" cy="1417320"/>
          </a:xfrm>
          <a:prstGeom prst="roundRect">
            <a:avLst>
              <a:gd name="adj" fmla="val 4516"/>
            </a:avLst>
          </a:prstGeom>
          <a:solidFill>
            <a:srgbClr val="16294A"/>
          </a:solidFill>
          <a:ln w="12700">
            <a:solidFill>
              <a:srgbClr val="24406B"/>
            </a:solidFill>
            <a:prstDash val="solid"/>
          </a:ln>
        </p:spPr>
      </p:sp>
      <p:sp>
        <p:nvSpPr>
          <p:cNvPr id="30" name="Shape 28"/>
          <p:cNvSpPr/>
          <p:nvPr/>
        </p:nvSpPr>
        <p:spPr>
          <a:xfrm>
            <a:off x="6373368" y="4956048"/>
            <a:ext cx="384048" cy="384048"/>
          </a:xfrm>
          <a:prstGeom prst="roundRect">
            <a:avLst>
              <a:gd name="adj" fmla="val 50000"/>
            </a:avLst>
          </a:prstGeom>
          <a:solidFill>
            <a:srgbClr val="4FD3C4"/>
          </a:solidFill>
        </p:spPr>
      </p:sp>
      <p:sp>
        <p:nvSpPr>
          <p:cNvPr id="31" name="Text 29"/>
          <p:cNvSpPr/>
          <p:nvPr/>
        </p:nvSpPr>
        <p:spPr>
          <a:xfrm>
            <a:off x="6373368" y="4956048"/>
            <a:ext cx="384048" cy="384048"/>
          </a:xfrm>
          <a:prstGeom prst="rect">
            <a:avLst/>
          </a:prstGeom>
          <a:noFill/>
        </p:spPr>
        <p:txBody>
          <a:bodyPr wrap="square" rtlCol="0" anchor="ctr"/>
          <a:lstStyle/>
          <a:p>
            <a:pPr marL="0" indent="0" algn="ctr">
              <a:buNone/>
            </a:pPr>
            <a:r>
              <a:rPr lang="en-US" sz="1500" b="1" dirty="0">
                <a:solidFill>
                  <a:srgbClr val="0B1F3A"/>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6903720" y="4901184"/>
            <a:ext cx="4343400" cy="365760"/>
          </a:xfrm>
          <a:prstGeom prst="rect">
            <a:avLst/>
          </a:prstGeom>
          <a:noFill/>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Interoperability</a:t>
            </a:r>
            <a:endParaRPr lang="en-US" sz="1400" dirty="0"/>
          </a:p>
        </p:txBody>
      </p:sp>
      <p:sp>
        <p:nvSpPr>
          <p:cNvPr id="33" name="Text 31"/>
          <p:cNvSpPr/>
          <p:nvPr/>
        </p:nvSpPr>
        <p:spPr>
          <a:xfrm>
            <a:off x="6903720" y="5266944"/>
            <a:ext cx="4343400" cy="822960"/>
          </a:xfrm>
          <a:prstGeom prst="rect">
            <a:avLst/>
          </a:prstGeom>
          <a:noFill/>
        </p:spPr>
        <p:txBody>
          <a:bodyPr wrap="square" rtlCol="0" anchor="ctr"/>
          <a:lstStyle/>
          <a:p>
            <a:pPr marL="0" indent="0">
              <a:lnSpc>
                <a:spcPts val="1450"/>
              </a:lnSpc>
              <a:buNone/>
            </a:pPr>
            <a:r>
              <a:rPr lang="en-US" sz="1400" dirty="0">
                <a:solidFill>
                  <a:srgbClr val="B9CBD6"/>
                </a:solidFill>
                <a:latin typeface="Times New Roman Regular" panose="02020503050405090304" charset="0"/>
                <a:ea typeface="Calibri" pitchFamily="34" charset="-122"/>
                <a:cs typeface="Times New Roman Regular" panose="02020503050405090304" charset="0"/>
              </a:rPr>
              <a:t>Proprietary services don't always port cleanly between clouds, limiting true workload portability.</a:t>
            </a:r>
            <a:r>
              <a:rPr lang="en-US" altLang="en-US" sz="1400" dirty="0">
                <a:solidFill>
                  <a:srgbClr val="B9CBD6"/>
                </a:solidFill>
                <a:latin typeface="Times New Roman Regular" panose="02020503050405090304" charset="0"/>
                <a:ea typeface="Calibri" pitchFamily="34" charset="-122"/>
                <a:cs typeface="Times New Roman Regular" panose="02020503050405090304" charset="0"/>
              </a:rPr>
              <a:t>Some cloud services don't work easily with other clouds.</a:t>
            </a:r>
            <a:endParaRPr lang="en-US" altLang="en-US" sz="1400" dirty="0">
              <a:solidFill>
                <a:srgbClr val="B9CBD6"/>
              </a:solidFill>
              <a:latin typeface="Times New Roman Regular" panose="02020503050405090304" charset="0"/>
              <a:ea typeface="Calibri" pitchFamily="34" charset="-122"/>
              <a:cs typeface="Times New Roman Regular" panose="02020503050405090304" charset="0"/>
            </a:endParaRPr>
          </a:p>
        </p:txBody>
      </p:sp>
      <p:sp>
        <p:nvSpPr>
          <p:cNvPr id="35" name="Text 33"/>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7B93A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457200"/>
          </a:xfrm>
          <a:prstGeom prst="rect">
            <a:avLst/>
          </a:prstGeom>
          <a:noFill/>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Industry Relevance</a:t>
            </a:r>
            <a:endParaRPr lang="en-US" sz="3000" dirty="0"/>
          </a:p>
        </p:txBody>
      </p:sp>
      <p:sp>
        <p:nvSpPr>
          <p:cNvPr id="3" name="Text 1"/>
          <p:cNvSpPr/>
          <p:nvPr/>
        </p:nvSpPr>
        <p:spPr>
          <a:xfrm>
            <a:off x="548640" y="896112"/>
            <a:ext cx="8229600" cy="320040"/>
          </a:xfrm>
          <a:prstGeom prst="rect">
            <a:avLst/>
          </a:prstGeom>
          <a:noFill/>
        </p:spPr>
        <p:txBody>
          <a:bodyPr wrap="square" rtlCol="0" anchor="ctr"/>
          <a:lstStyle/>
          <a:p>
            <a:pPr marL="0" indent="0">
              <a:buNone/>
            </a:pPr>
            <a:r>
              <a:rPr lang="en-US" sz="1400" dirty="0">
                <a:solidFill>
                  <a:srgbClr val="9FB6C4"/>
                </a:solidFill>
                <a:latin typeface="Calibri" pitchFamily="34" charset="0"/>
                <a:ea typeface="Calibri" pitchFamily="34" charset="-122"/>
                <a:cs typeface="Calibri" pitchFamily="34" charset="-120"/>
              </a:rPr>
              <a:t>This isn't niche — it is how enterprise IT runs in 2026</a:t>
            </a:r>
            <a:endParaRPr lang="en-US" sz="1400" dirty="0"/>
          </a:p>
        </p:txBody>
      </p:sp>
      <p:sp>
        <p:nvSpPr>
          <p:cNvPr id="4" name="Shape 2"/>
          <p:cNvSpPr/>
          <p:nvPr/>
        </p:nvSpPr>
        <p:spPr>
          <a:xfrm>
            <a:off x="548640" y="1554480"/>
            <a:ext cx="3429000" cy="2286000"/>
          </a:xfrm>
          <a:prstGeom prst="roundRect">
            <a:avLst>
              <a:gd name="adj" fmla="val 3200"/>
            </a:avLst>
          </a:prstGeom>
          <a:solidFill>
            <a:srgbClr val="16294A"/>
          </a:solidFill>
          <a:ln w="12700">
            <a:solidFill>
              <a:srgbClr val="24406B"/>
            </a:solidFill>
            <a:prstDash val="solid"/>
          </a:ln>
        </p:spPr>
      </p:sp>
      <p:sp>
        <p:nvSpPr>
          <p:cNvPr id="5" name="Text 3"/>
          <p:cNvSpPr/>
          <p:nvPr/>
        </p:nvSpPr>
        <p:spPr>
          <a:xfrm>
            <a:off x="548640" y="1783080"/>
            <a:ext cx="3429000" cy="914400"/>
          </a:xfrm>
          <a:prstGeom prst="rect">
            <a:avLst/>
          </a:prstGeom>
          <a:noFill/>
        </p:spPr>
        <p:txBody>
          <a:bodyPr wrap="square" rtlCol="0" anchor="ctr"/>
          <a:lstStyle/>
          <a:p>
            <a:pPr marL="0" indent="0" algn="ctr">
              <a:buNone/>
            </a:pPr>
            <a:r>
              <a:rPr lang="en-US" sz="4400" b="1" dirty="0">
                <a:solidFill>
                  <a:srgbClr val="4FD3C4"/>
                </a:solidFill>
                <a:latin typeface="Cambria" pitchFamily="34" charset="0"/>
                <a:ea typeface="Cambria" pitchFamily="34" charset="-122"/>
                <a:cs typeface="Cambria" pitchFamily="34" charset="-120"/>
              </a:rPr>
              <a:t>73%</a:t>
            </a:r>
            <a:endParaRPr lang="en-US" sz="4400" dirty="0"/>
          </a:p>
        </p:txBody>
      </p:sp>
      <p:sp>
        <p:nvSpPr>
          <p:cNvPr id="6" name="Text 4"/>
          <p:cNvSpPr/>
          <p:nvPr/>
        </p:nvSpPr>
        <p:spPr>
          <a:xfrm>
            <a:off x="822960" y="2697480"/>
            <a:ext cx="2880360" cy="822960"/>
          </a:xfrm>
          <a:prstGeom prst="rect">
            <a:avLst/>
          </a:prstGeom>
          <a:noFill/>
        </p:spPr>
        <p:txBody>
          <a:bodyPr wrap="square" rtlCol="0" anchor="ctr"/>
          <a:lstStyle/>
          <a:p>
            <a:pPr marL="0" indent="0" algn="ctr">
              <a:lnSpc>
                <a:spcPts val="1600"/>
              </a:lnSpc>
              <a:buNone/>
            </a:pPr>
            <a:r>
              <a:rPr lang="en-US" sz="1600" dirty="0">
                <a:solidFill>
                  <a:srgbClr val="FFFFFF"/>
                </a:solidFill>
                <a:latin typeface="Times New Roman Regular" panose="02020503050405090304" charset="0"/>
                <a:ea typeface="Calibri" pitchFamily="34" charset="-122"/>
                <a:cs typeface="Times New Roman Regular" panose="02020503050405090304" charset="0"/>
              </a:rPr>
              <a:t>of organizations run a hybrid cloud estate</a:t>
            </a:r>
            <a:endParaRPr lang="en-US" sz="1600" dirty="0">
              <a:latin typeface="Times New Roman Regular" panose="02020503050405090304" charset="0"/>
              <a:cs typeface="Times New Roman Regular" panose="02020503050405090304" charset="0"/>
            </a:endParaRPr>
          </a:p>
        </p:txBody>
      </p:sp>
      <p:sp>
        <p:nvSpPr>
          <p:cNvPr id="8" name="Shape 6"/>
          <p:cNvSpPr/>
          <p:nvPr/>
        </p:nvSpPr>
        <p:spPr>
          <a:xfrm>
            <a:off x="4297680" y="1554480"/>
            <a:ext cx="3429000" cy="2286000"/>
          </a:xfrm>
          <a:prstGeom prst="roundRect">
            <a:avLst>
              <a:gd name="adj" fmla="val 3200"/>
            </a:avLst>
          </a:prstGeom>
          <a:solidFill>
            <a:srgbClr val="16294A"/>
          </a:solidFill>
          <a:ln w="12700">
            <a:solidFill>
              <a:srgbClr val="24406B"/>
            </a:solidFill>
            <a:prstDash val="solid"/>
          </a:ln>
        </p:spPr>
      </p:sp>
      <p:sp>
        <p:nvSpPr>
          <p:cNvPr id="9" name="Text 7"/>
          <p:cNvSpPr/>
          <p:nvPr/>
        </p:nvSpPr>
        <p:spPr>
          <a:xfrm>
            <a:off x="4297680" y="1783080"/>
            <a:ext cx="3429000" cy="914400"/>
          </a:xfrm>
          <a:prstGeom prst="rect">
            <a:avLst/>
          </a:prstGeom>
          <a:noFill/>
        </p:spPr>
        <p:txBody>
          <a:bodyPr wrap="square" rtlCol="0" anchor="ctr"/>
          <a:lstStyle/>
          <a:p>
            <a:pPr marL="0" indent="0" algn="ctr">
              <a:buNone/>
            </a:pPr>
            <a:r>
              <a:rPr lang="en-US" sz="4400" b="1" dirty="0">
                <a:solidFill>
                  <a:srgbClr val="4FD3C4"/>
                </a:solidFill>
                <a:latin typeface="Cambria" pitchFamily="34" charset="0"/>
                <a:ea typeface="Cambria" pitchFamily="34" charset="-122"/>
                <a:cs typeface="Cambria" pitchFamily="34" charset="-120"/>
              </a:rPr>
              <a:t>33%</a:t>
            </a:r>
            <a:endParaRPr lang="en-US" sz="4400" dirty="0"/>
          </a:p>
        </p:txBody>
      </p:sp>
      <p:sp>
        <p:nvSpPr>
          <p:cNvPr id="10" name="Text 8"/>
          <p:cNvSpPr/>
          <p:nvPr/>
        </p:nvSpPr>
        <p:spPr>
          <a:xfrm>
            <a:off x="4572000" y="2697480"/>
            <a:ext cx="2880360" cy="822960"/>
          </a:xfrm>
          <a:prstGeom prst="rect">
            <a:avLst/>
          </a:prstGeom>
          <a:noFill/>
        </p:spPr>
        <p:txBody>
          <a:bodyPr wrap="square" rtlCol="0" anchor="ctr"/>
          <a:lstStyle/>
          <a:p>
            <a:pPr marL="0" indent="0" algn="ctr">
              <a:lnSpc>
                <a:spcPts val="1600"/>
              </a:lnSpc>
              <a:buNone/>
            </a:pPr>
            <a:r>
              <a:rPr lang="en-US" sz="1600" dirty="0">
                <a:solidFill>
                  <a:srgbClr val="FFFFFF"/>
                </a:solidFill>
                <a:latin typeface="Times New Roman Regular" panose="02020503050405090304" charset="0"/>
                <a:ea typeface="Calibri" pitchFamily="34" charset="-122"/>
                <a:cs typeface="Times New Roman Regular" panose="02020503050405090304" charset="0"/>
              </a:rPr>
              <a:t>of hybrid adopters combine multiple public AND multiple private clouds</a:t>
            </a:r>
            <a:endParaRPr lang="en-US" sz="1600" dirty="0">
              <a:latin typeface="Times New Roman Regular" panose="02020503050405090304" charset="0"/>
              <a:cs typeface="Times New Roman Regular" panose="02020503050405090304" charset="0"/>
            </a:endParaRPr>
          </a:p>
        </p:txBody>
      </p:sp>
      <p:sp>
        <p:nvSpPr>
          <p:cNvPr id="12" name="Shape 10"/>
          <p:cNvSpPr/>
          <p:nvPr/>
        </p:nvSpPr>
        <p:spPr>
          <a:xfrm>
            <a:off x="8046720" y="1554480"/>
            <a:ext cx="3429000" cy="2286000"/>
          </a:xfrm>
          <a:prstGeom prst="roundRect">
            <a:avLst>
              <a:gd name="adj" fmla="val 3200"/>
            </a:avLst>
          </a:prstGeom>
          <a:solidFill>
            <a:srgbClr val="16294A"/>
          </a:solidFill>
          <a:ln w="12700">
            <a:solidFill>
              <a:srgbClr val="24406B"/>
            </a:solidFill>
            <a:prstDash val="solid"/>
          </a:ln>
        </p:spPr>
      </p:sp>
      <p:sp>
        <p:nvSpPr>
          <p:cNvPr id="13" name="Text 11"/>
          <p:cNvSpPr/>
          <p:nvPr/>
        </p:nvSpPr>
        <p:spPr>
          <a:xfrm>
            <a:off x="8046720" y="1783080"/>
            <a:ext cx="3429000" cy="914400"/>
          </a:xfrm>
          <a:prstGeom prst="rect">
            <a:avLst/>
          </a:prstGeom>
          <a:noFill/>
        </p:spPr>
        <p:txBody>
          <a:bodyPr wrap="square" rtlCol="0" anchor="ctr"/>
          <a:lstStyle/>
          <a:p>
            <a:pPr marL="0" indent="0" algn="ctr">
              <a:buNone/>
            </a:pPr>
            <a:r>
              <a:rPr lang="en-US" sz="3000" b="1" dirty="0">
                <a:solidFill>
                  <a:srgbClr val="4FD3C4"/>
                </a:solidFill>
                <a:latin typeface="Cambria" pitchFamily="34" charset="0"/>
                <a:ea typeface="Cambria" pitchFamily="34" charset="-122"/>
                <a:cs typeface="Cambria" pitchFamily="34" charset="-120"/>
              </a:rPr>
              <a:t>28/21/14%</a:t>
            </a:r>
            <a:endParaRPr lang="en-US" sz="3000" dirty="0"/>
          </a:p>
        </p:txBody>
      </p:sp>
      <p:sp>
        <p:nvSpPr>
          <p:cNvPr id="14" name="Text 12"/>
          <p:cNvSpPr/>
          <p:nvPr/>
        </p:nvSpPr>
        <p:spPr>
          <a:xfrm>
            <a:off x="8321040" y="2697480"/>
            <a:ext cx="2880360" cy="822960"/>
          </a:xfrm>
          <a:prstGeom prst="rect">
            <a:avLst/>
          </a:prstGeom>
          <a:noFill/>
        </p:spPr>
        <p:txBody>
          <a:bodyPr wrap="square" rtlCol="0" anchor="ctr"/>
          <a:lstStyle/>
          <a:p>
            <a:pPr marL="0" indent="0" algn="ctr">
              <a:lnSpc>
                <a:spcPts val="1600"/>
              </a:lnSpc>
              <a:buNone/>
            </a:pPr>
            <a:r>
              <a:rPr lang="en-US" sz="1600" dirty="0">
                <a:solidFill>
                  <a:srgbClr val="FFFFFF"/>
                </a:solidFill>
                <a:latin typeface="Times New Roman Regular" panose="02020503050405090304" charset="0"/>
                <a:ea typeface="Calibri" pitchFamily="34" charset="-122"/>
                <a:cs typeface="Times New Roman Regular" panose="02020503050405090304" charset="0"/>
              </a:rPr>
              <a:t>market share split — AWS / Microsoft Azure / Google Cloud</a:t>
            </a:r>
            <a:endParaRPr lang="en-US" sz="1600" dirty="0">
              <a:latin typeface="Times New Roman Regular" panose="02020503050405090304" charset="0"/>
              <a:cs typeface="Times New Roman Regular" panose="02020503050405090304" charset="0"/>
            </a:endParaRPr>
          </a:p>
        </p:txBody>
      </p:sp>
      <p:sp>
        <p:nvSpPr>
          <p:cNvPr id="16" name="Text 14"/>
          <p:cNvSpPr/>
          <p:nvPr/>
        </p:nvSpPr>
        <p:spPr>
          <a:xfrm>
            <a:off x="548640" y="4356735"/>
            <a:ext cx="11064240" cy="1005840"/>
          </a:xfrm>
          <a:prstGeom prst="rect">
            <a:avLst/>
          </a:prstGeom>
          <a:noFill/>
        </p:spPr>
        <p:txBody>
          <a:bodyPr wrap="square" rtlCol="0" anchor="ctr"/>
          <a:lstStyle/>
          <a:p>
            <a:pPr marL="0" indent="0">
              <a:lnSpc>
                <a:spcPts val="2000"/>
              </a:lnSpc>
              <a:buNone/>
            </a:pPr>
            <a:r>
              <a:rPr lang="en-US" sz="2000" dirty="0">
                <a:solidFill>
                  <a:srgbClr val="CFE8EF"/>
                </a:solidFill>
                <a:latin typeface="Times New Roman Regular" panose="02020503050405090304" charset="0"/>
                <a:ea typeface="Calibri" pitchFamily="34" charset="-122"/>
                <a:cs typeface="Times New Roman Regular" panose="02020503050405090304" charset="0"/>
              </a:rPr>
              <a:t>Why it matters: outages, tightening data-protection regulation (e.g., India's DPDP Act), and AI workloads with specialized hardware needs are pushing IT leaders to treat multi-cloud and hybrid architecture as risk management, not just a technology preference.</a:t>
            </a:r>
            <a:endParaRPr lang="en-US" sz="2000" dirty="0">
              <a:latin typeface="Times New Roman Regular" panose="02020503050405090304" charset="0"/>
              <a:cs typeface="Times New Roman Regular" panose="02020503050405090304" charset="0"/>
            </a:endParaRPr>
          </a:p>
        </p:txBody>
      </p:sp>
      <p:sp>
        <p:nvSpPr>
          <p:cNvPr id="19" name="Text 17"/>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7B93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457200"/>
          </a:xfrm>
          <a:prstGeom prst="rect">
            <a:avLst/>
          </a:prstGeom>
          <a:noFill/>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Real-World Use Case</a:t>
            </a:r>
            <a:endParaRPr lang="en-US" sz="3000" dirty="0"/>
          </a:p>
        </p:txBody>
      </p:sp>
      <p:sp>
        <p:nvSpPr>
          <p:cNvPr id="3" name="Text 1"/>
          <p:cNvSpPr/>
          <p:nvPr/>
        </p:nvSpPr>
        <p:spPr>
          <a:xfrm>
            <a:off x="548640" y="896112"/>
            <a:ext cx="8229600" cy="320040"/>
          </a:xfrm>
          <a:prstGeom prst="rect">
            <a:avLst/>
          </a:prstGeom>
          <a:noFill/>
        </p:spPr>
        <p:txBody>
          <a:bodyPr wrap="square" rtlCol="0" anchor="ctr"/>
          <a:lstStyle/>
          <a:p>
            <a:pPr marL="0" indent="0">
              <a:buNone/>
            </a:pPr>
            <a:r>
              <a:rPr lang="en-US" sz="1400" dirty="0">
                <a:solidFill>
                  <a:srgbClr val="5B7480"/>
                </a:solidFill>
                <a:latin typeface="Calibri" pitchFamily="34" charset="0"/>
                <a:ea typeface="Calibri" pitchFamily="34" charset="-122"/>
                <a:cs typeface="Calibri" pitchFamily="34" charset="-120"/>
              </a:rPr>
              <a:t>A large retailer's multi-cloud strategy</a:t>
            </a:r>
            <a:endParaRPr lang="en-US" sz="1400" dirty="0"/>
          </a:p>
        </p:txBody>
      </p:sp>
      <p:sp>
        <p:nvSpPr>
          <p:cNvPr id="4" name="Shape 2"/>
          <p:cNvSpPr/>
          <p:nvPr/>
        </p:nvSpPr>
        <p:spPr>
          <a:xfrm>
            <a:off x="669925" y="1463040"/>
            <a:ext cx="6492240" cy="4480560"/>
          </a:xfrm>
          <a:prstGeom prst="roundRect">
            <a:avLst>
              <a:gd name="adj" fmla="val 1633"/>
            </a:avLst>
          </a:prstGeom>
          <a:solidFill>
            <a:srgbClr val="FFFFFF"/>
          </a:solidFill>
          <a:ln w="12700">
            <a:solidFill>
              <a:srgbClr val="DCE6EA"/>
            </a:solidFill>
            <a:prstDash val="solid"/>
          </a:ln>
          <a:effectLst>
            <a:outerShdw blurRad="88900" dist="25400" dir="5400000" algn="bl" rotWithShape="0">
              <a:srgbClr val="9AAAB4">
                <a:alpha val="20000"/>
              </a:srgbClr>
            </a:outerShdw>
          </a:effectLst>
        </p:spPr>
      </p:sp>
      <p:sp>
        <p:nvSpPr>
          <p:cNvPr id="5" name="Text 3"/>
          <p:cNvSpPr/>
          <p:nvPr/>
        </p:nvSpPr>
        <p:spPr>
          <a:xfrm>
            <a:off x="868680" y="1691640"/>
            <a:ext cx="5943600" cy="411480"/>
          </a:xfrm>
          <a:prstGeom prst="rect">
            <a:avLst/>
          </a:prstGeom>
          <a:noFill/>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Walmart — Multi-Cloud by Design</a:t>
            </a:r>
            <a:endParaRPr lang="en-US" sz="1800" dirty="0"/>
          </a:p>
        </p:txBody>
      </p:sp>
      <p:sp>
        <p:nvSpPr>
          <p:cNvPr id="6" name="Shape 4"/>
          <p:cNvSpPr/>
          <p:nvPr/>
        </p:nvSpPr>
        <p:spPr>
          <a:xfrm>
            <a:off x="868680" y="2322576"/>
            <a:ext cx="82296" cy="82296"/>
          </a:xfrm>
          <a:prstGeom prst="ellipse">
            <a:avLst/>
          </a:prstGeom>
          <a:solidFill>
            <a:srgbClr val="065A82"/>
          </a:solidFill>
        </p:spPr>
      </p:sp>
      <p:sp>
        <p:nvSpPr>
          <p:cNvPr id="7" name="Text 5"/>
          <p:cNvSpPr/>
          <p:nvPr/>
        </p:nvSpPr>
        <p:spPr>
          <a:xfrm>
            <a:off x="1097280" y="2167255"/>
            <a:ext cx="6113145" cy="777240"/>
          </a:xfrm>
          <a:prstGeom prst="rect">
            <a:avLst/>
          </a:prstGeom>
          <a:noFill/>
        </p:spPr>
        <p:txBody>
          <a:bodyPr wrap="square" rtlCol="0" anchor="ctr"/>
          <a:lstStyle/>
          <a:p>
            <a:pPr marL="0" indent="0" algn="just">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One of the world's largest retailers runs its e-commerce and store systems across Microsoft Azure and Google Cloud, deliberately avoiding its primary competitor's cloud platform.</a:t>
            </a:r>
            <a:endParaRPr lang="en-US" dirty="0">
              <a:latin typeface="Times New Roman Regular" panose="02020503050405090304" charset="0"/>
              <a:cs typeface="Times New Roman Regular" panose="02020503050405090304" charset="0"/>
            </a:endParaRPr>
          </a:p>
        </p:txBody>
      </p:sp>
      <p:sp>
        <p:nvSpPr>
          <p:cNvPr id="8" name="Shape 6"/>
          <p:cNvSpPr/>
          <p:nvPr/>
        </p:nvSpPr>
        <p:spPr>
          <a:xfrm>
            <a:off x="868680" y="3255264"/>
            <a:ext cx="82296" cy="82296"/>
          </a:xfrm>
          <a:prstGeom prst="ellipse">
            <a:avLst/>
          </a:prstGeom>
          <a:solidFill>
            <a:srgbClr val="065A82"/>
          </a:solidFill>
        </p:spPr>
      </p:sp>
      <p:sp>
        <p:nvSpPr>
          <p:cNvPr id="9" name="Text 7"/>
          <p:cNvSpPr/>
          <p:nvPr/>
        </p:nvSpPr>
        <p:spPr>
          <a:xfrm>
            <a:off x="1097280" y="3100070"/>
            <a:ext cx="6064885" cy="777240"/>
          </a:xfrm>
          <a:prstGeom prst="rect">
            <a:avLst/>
          </a:prstGeom>
          <a:noFill/>
        </p:spPr>
        <p:txBody>
          <a:bodyPr wrap="square" rtlCol="0" anchor="ctr"/>
          <a:lstStyle/>
          <a:p>
            <a:pPr marL="0" indent="0" algn="just">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Azure handles core enterprise workloads and hybrid integration with in-store systems; Google Cloud is used for data analytics and machine-learning-driven demand forecasting.</a:t>
            </a:r>
            <a:endParaRPr lang="en-US" dirty="0">
              <a:latin typeface="Times New Roman Regular" panose="02020503050405090304" charset="0"/>
              <a:cs typeface="Times New Roman Regular" panose="02020503050405090304" charset="0"/>
            </a:endParaRPr>
          </a:p>
        </p:txBody>
      </p:sp>
      <p:sp>
        <p:nvSpPr>
          <p:cNvPr id="10" name="Shape 8"/>
          <p:cNvSpPr/>
          <p:nvPr/>
        </p:nvSpPr>
        <p:spPr>
          <a:xfrm>
            <a:off x="868680" y="4187952"/>
            <a:ext cx="82296" cy="82296"/>
          </a:xfrm>
          <a:prstGeom prst="ellipse">
            <a:avLst/>
          </a:prstGeom>
          <a:solidFill>
            <a:srgbClr val="065A82"/>
          </a:solidFill>
        </p:spPr>
      </p:sp>
      <p:sp>
        <p:nvSpPr>
          <p:cNvPr id="11" name="Text 9"/>
          <p:cNvSpPr/>
          <p:nvPr/>
        </p:nvSpPr>
        <p:spPr>
          <a:xfrm>
            <a:off x="1097280" y="4032250"/>
            <a:ext cx="6010910" cy="777240"/>
          </a:xfrm>
          <a:prstGeom prst="rect">
            <a:avLst/>
          </a:prstGeom>
          <a:noFill/>
        </p:spPr>
        <p:txBody>
          <a:bodyPr wrap="square" rtlCol="0" anchor="ctr"/>
          <a:lstStyle/>
          <a:p>
            <a:pPr marL="0" indent="0" algn="just">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A private on-premises layer continues to run point-of-sale and inventory systems across thousands of physical stores, integrated with both public clouds.</a:t>
            </a:r>
            <a:endParaRPr lang="en-US" dirty="0">
              <a:latin typeface="Times New Roman Regular" panose="02020503050405090304" charset="0"/>
              <a:cs typeface="Times New Roman Regular" panose="02020503050405090304" charset="0"/>
            </a:endParaRPr>
          </a:p>
        </p:txBody>
      </p:sp>
      <p:sp>
        <p:nvSpPr>
          <p:cNvPr id="12" name="Shape 10"/>
          <p:cNvSpPr/>
          <p:nvPr/>
        </p:nvSpPr>
        <p:spPr>
          <a:xfrm>
            <a:off x="868680" y="5120640"/>
            <a:ext cx="82296" cy="82296"/>
          </a:xfrm>
          <a:prstGeom prst="ellipse">
            <a:avLst/>
          </a:prstGeom>
          <a:solidFill>
            <a:srgbClr val="065A82"/>
          </a:solidFill>
        </p:spPr>
      </p:sp>
      <p:sp>
        <p:nvSpPr>
          <p:cNvPr id="13" name="Text 11"/>
          <p:cNvSpPr/>
          <p:nvPr/>
        </p:nvSpPr>
        <p:spPr>
          <a:xfrm>
            <a:off x="1097280" y="4965065"/>
            <a:ext cx="6089015" cy="777240"/>
          </a:xfrm>
          <a:prstGeom prst="rect">
            <a:avLst/>
          </a:prstGeom>
          <a:noFill/>
        </p:spPr>
        <p:txBody>
          <a:bodyPr wrap="square" rtlCol="0" anchor="ctr"/>
          <a:lstStyle/>
          <a:p>
            <a:pPr marL="0" indent="0" algn="just">
              <a:lnSpc>
                <a:spcPts val="1600"/>
              </a:lnSpc>
              <a:buNone/>
            </a:pPr>
            <a:r>
              <a:rPr lang="en-US" dirty="0">
                <a:solidFill>
                  <a:srgbClr val="1F2A33"/>
                </a:solidFill>
                <a:latin typeface="Times New Roman Regular" panose="02020503050405090304" charset="0"/>
                <a:ea typeface="Calibri" pitchFamily="34" charset="-122"/>
                <a:cs typeface="Times New Roman Regular" panose="02020503050405090304" charset="0"/>
              </a:rPr>
              <a:t>The split reduces dependence on any single vendor, keeps a strategic distance from a business rival, and lets each workload run on the platform best suited to it.</a:t>
            </a:r>
            <a:endParaRPr lang="en-US" dirty="0">
              <a:latin typeface="Times New Roman Regular" panose="02020503050405090304" charset="0"/>
              <a:cs typeface="Times New Roman Regular" panose="02020503050405090304" charset="0"/>
            </a:endParaRPr>
          </a:p>
        </p:txBody>
      </p:sp>
      <p:sp>
        <p:nvSpPr>
          <p:cNvPr id="14" name="Shape 12"/>
          <p:cNvSpPr/>
          <p:nvPr/>
        </p:nvSpPr>
        <p:spPr>
          <a:xfrm>
            <a:off x="7635240" y="1463040"/>
            <a:ext cx="4297680" cy="4480560"/>
          </a:xfrm>
          <a:prstGeom prst="roundRect">
            <a:avLst>
              <a:gd name="adj" fmla="val 1702"/>
            </a:avLst>
          </a:prstGeom>
          <a:solidFill>
            <a:srgbClr val="0B1F3A"/>
          </a:solidFill>
        </p:spPr>
      </p:sp>
      <p:sp>
        <p:nvSpPr>
          <p:cNvPr id="15" name="Text 13"/>
          <p:cNvSpPr/>
          <p:nvPr/>
        </p:nvSpPr>
        <p:spPr>
          <a:xfrm>
            <a:off x="7635240" y="1645920"/>
            <a:ext cx="3749040" cy="320040"/>
          </a:xfrm>
          <a:prstGeom prst="rect">
            <a:avLst/>
          </a:prstGeom>
          <a:noFill/>
        </p:spPr>
        <p:txBody>
          <a:bodyPr wrap="square" rtlCol="0" anchor="ctr"/>
          <a:lstStyle/>
          <a:p>
            <a:pPr marL="0" indent="0">
              <a:buNone/>
            </a:pPr>
            <a:r>
              <a:rPr lang="en-US" sz="1300" b="1" dirty="0">
                <a:solidFill>
                  <a:srgbClr val="4FD3C4"/>
                </a:solidFill>
                <a:latin typeface="Calibri" pitchFamily="34" charset="0"/>
                <a:ea typeface="Calibri" pitchFamily="34" charset="-122"/>
                <a:cs typeface="Calibri" pitchFamily="34" charset="-120"/>
              </a:rPr>
              <a:t>Workload Split</a:t>
            </a:r>
            <a:endParaRPr lang="en-US" sz="1300" dirty="0"/>
          </a:p>
        </p:txBody>
      </p:sp>
      <p:sp>
        <p:nvSpPr>
          <p:cNvPr id="16" name="Shape 14"/>
          <p:cNvSpPr/>
          <p:nvPr/>
        </p:nvSpPr>
        <p:spPr>
          <a:xfrm>
            <a:off x="7635240" y="2148840"/>
            <a:ext cx="3749040" cy="777240"/>
          </a:xfrm>
          <a:prstGeom prst="roundRect">
            <a:avLst>
              <a:gd name="adj" fmla="val 8235"/>
            </a:avLst>
          </a:prstGeom>
          <a:solidFill>
            <a:srgbClr val="21295C"/>
          </a:solidFill>
        </p:spPr>
      </p:sp>
      <p:sp>
        <p:nvSpPr>
          <p:cNvPr id="17" name="Text 15"/>
          <p:cNvSpPr/>
          <p:nvPr/>
        </p:nvSpPr>
        <p:spPr>
          <a:xfrm>
            <a:off x="7863840" y="2258568"/>
            <a:ext cx="3291840" cy="365760"/>
          </a:xfrm>
          <a:prstGeom prst="rect">
            <a:avLst/>
          </a:prstGeom>
          <a:noFill/>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In-Store Systems</a:t>
            </a:r>
            <a:endParaRPr lang="en-US" sz="1300" dirty="0"/>
          </a:p>
        </p:txBody>
      </p:sp>
      <p:sp>
        <p:nvSpPr>
          <p:cNvPr id="18" name="Text 16"/>
          <p:cNvSpPr/>
          <p:nvPr/>
        </p:nvSpPr>
        <p:spPr>
          <a:xfrm>
            <a:off x="7863840" y="2587752"/>
            <a:ext cx="3291840" cy="292608"/>
          </a:xfrm>
          <a:prstGeom prst="rect">
            <a:avLst/>
          </a:prstGeom>
          <a:noFill/>
        </p:spPr>
        <p:txBody>
          <a:bodyPr wrap="square" rtlCol="0" anchor="ctr"/>
          <a:lstStyle/>
          <a:p>
            <a:pPr marL="0" indent="0">
              <a:buNone/>
            </a:pPr>
            <a:r>
              <a:rPr lang="en-US" sz="1100" dirty="0">
                <a:solidFill>
                  <a:srgbClr val="CFE8EF"/>
                </a:solidFill>
                <a:latin typeface="Calibri" pitchFamily="34" charset="0"/>
                <a:ea typeface="Calibri" pitchFamily="34" charset="-122"/>
                <a:cs typeface="Calibri" pitchFamily="34" charset="-120"/>
              </a:rPr>
              <a:t>On-premises</a:t>
            </a:r>
            <a:endParaRPr lang="en-US" sz="1100" dirty="0"/>
          </a:p>
        </p:txBody>
      </p:sp>
      <p:sp>
        <p:nvSpPr>
          <p:cNvPr id="19" name="Shape 17"/>
          <p:cNvSpPr/>
          <p:nvPr/>
        </p:nvSpPr>
        <p:spPr>
          <a:xfrm>
            <a:off x="7635240" y="3063240"/>
            <a:ext cx="3749040" cy="777240"/>
          </a:xfrm>
          <a:prstGeom prst="roundRect">
            <a:avLst>
              <a:gd name="adj" fmla="val 8235"/>
            </a:avLst>
          </a:prstGeom>
          <a:solidFill>
            <a:srgbClr val="1C7293"/>
          </a:solidFill>
        </p:spPr>
      </p:sp>
      <p:sp>
        <p:nvSpPr>
          <p:cNvPr id="20" name="Text 18"/>
          <p:cNvSpPr/>
          <p:nvPr/>
        </p:nvSpPr>
        <p:spPr>
          <a:xfrm>
            <a:off x="7863840" y="3172968"/>
            <a:ext cx="3291840" cy="365760"/>
          </a:xfrm>
          <a:prstGeom prst="rect">
            <a:avLst/>
          </a:prstGeom>
          <a:noFill/>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Core Enterprise Apps</a:t>
            </a:r>
            <a:endParaRPr lang="en-US" sz="1300" dirty="0"/>
          </a:p>
        </p:txBody>
      </p:sp>
      <p:sp>
        <p:nvSpPr>
          <p:cNvPr id="21" name="Text 19"/>
          <p:cNvSpPr/>
          <p:nvPr/>
        </p:nvSpPr>
        <p:spPr>
          <a:xfrm>
            <a:off x="7863840" y="3502152"/>
            <a:ext cx="3291840" cy="292608"/>
          </a:xfrm>
          <a:prstGeom prst="rect">
            <a:avLst/>
          </a:prstGeom>
          <a:noFill/>
        </p:spPr>
        <p:txBody>
          <a:bodyPr wrap="square" rtlCol="0" anchor="ctr"/>
          <a:lstStyle/>
          <a:p>
            <a:pPr marL="0" indent="0">
              <a:buNone/>
            </a:pPr>
            <a:r>
              <a:rPr lang="en-US" sz="1100" dirty="0">
                <a:solidFill>
                  <a:srgbClr val="CFE8EF"/>
                </a:solidFill>
                <a:latin typeface="Calibri" pitchFamily="34" charset="0"/>
                <a:ea typeface="Calibri" pitchFamily="34" charset="-122"/>
                <a:cs typeface="Calibri" pitchFamily="34" charset="-120"/>
              </a:rPr>
              <a:t>Microsoft Azure</a:t>
            </a:r>
            <a:endParaRPr lang="en-US" sz="1100" dirty="0"/>
          </a:p>
        </p:txBody>
      </p:sp>
      <p:sp>
        <p:nvSpPr>
          <p:cNvPr id="22" name="Shape 20"/>
          <p:cNvSpPr/>
          <p:nvPr/>
        </p:nvSpPr>
        <p:spPr>
          <a:xfrm>
            <a:off x="7635240" y="3977640"/>
            <a:ext cx="3749040" cy="777240"/>
          </a:xfrm>
          <a:prstGeom prst="roundRect">
            <a:avLst>
              <a:gd name="adj" fmla="val 8235"/>
            </a:avLst>
          </a:prstGeom>
          <a:solidFill>
            <a:srgbClr val="065A82"/>
          </a:solidFill>
        </p:spPr>
      </p:sp>
      <p:sp>
        <p:nvSpPr>
          <p:cNvPr id="23" name="Text 21"/>
          <p:cNvSpPr/>
          <p:nvPr/>
        </p:nvSpPr>
        <p:spPr>
          <a:xfrm>
            <a:off x="7863840" y="4087368"/>
            <a:ext cx="3291840" cy="365760"/>
          </a:xfrm>
          <a:prstGeom prst="rect">
            <a:avLst/>
          </a:prstGeom>
          <a:noFill/>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Analytics &amp; ML Forecasting</a:t>
            </a:r>
            <a:endParaRPr lang="en-US" sz="1300" dirty="0"/>
          </a:p>
        </p:txBody>
      </p:sp>
      <p:sp>
        <p:nvSpPr>
          <p:cNvPr id="24" name="Text 22"/>
          <p:cNvSpPr/>
          <p:nvPr/>
        </p:nvSpPr>
        <p:spPr>
          <a:xfrm>
            <a:off x="7863840" y="4416552"/>
            <a:ext cx="3291840" cy="292608"/>
          </a:xfrm>
          <a:prstGeom prst="rect">
            <a:avLst/>
          </a:prstGeom>
          <a:noFill/>
        </p:spPr>
        <p:txBody>
          <a:bodyPr wrap="square" rtlCol="0" anchor="ctr"/>
          <a:lstStyle/>
          <a:p>
            <a:pPr marL="0" indent="0">
              <a:buNone/>
            </a:pPr>
            <a:r>
              <a:rPr lang="en-US" sz="1100" dirty="0">
                <a:solidFill>
                  <a:srgbClr val="CFE8EF"/>
                </a:solidFill>
                <a:latin typeface="Calibri" pitchFamily="34" charset="0"/>
                <a:ea typeface="Calibri" pitchFamily="34" charset="-122"/>
                <a:cs typeface="Calibri" pitchFamily="34" charset="-120"/>
              </a:rPr>
              <a:t>Google Cloud</a:t>
            </a:r>
            <a:endParaRPr lang="en-US" sz="1100" dirty="0"/>
          </a:p>
        </p:txBody>
      </p:sp>
      <p:sp>
        <p:nvSpPr>
          <p:cNvPr id="25" name="Text 23"/>
          <p:cNvSpPr/>
          <p:nvPr/>
        </p:nvSpPr>
        <p:spPr>
          <a:xfrm>
            <a:off x="7635240" y="5074920"/>
            <a:ext cx="3749040" cy="685800"/>
          </a:xfrm>
          <a:prstGeom prst="rect">
            <a:avLst/>
          </a:prstGeom>
          <a:noFill/>
        </p:spPr>
        <p:txBody>
          <a:bodyPr wrap="square" rtlCol="0" anchor="ctr"/>
          <a:lstStyle/>
          <a:p>
            <a:pPr marL="0" indent="0">
              <a:lnSpc>
                <a:spcPts val="1400"/>
              </a:lnSpc>
              <a:buNone/>
            </a:pPr>
            <a:r>
              <a:rPr lang="en-US" sz="1050" i="1" dirty="0">
                <a:solidFill>
                  <a:srgbClr val="9FB6C4"/>
                </a:solidFill>
                <a:latin typeface="Calibri" pitchFamily="34" charset="0"/>
                <a:ea typeface="Calibri" pitchFamily="34" charset="-122"/>
                <a:cs typeface="Calibri" pitchFamily="34" charset="-120"/>
              </a:rPr>
              <a:t>Result: resilient operations, vendor independence, and each workload matched to the platform's strength.</a:t>
            </a:r>
            <a:endParaRPr lang="en-US" sz="1050" dirty="0"/>
          </a:p>
        </p:txBody>
      </p:sp>
      <p:sp>
        <p:nvSpPr>
          <p:cNvPr id="27" name="Text 25"/>
          <p:cNvSpPr/>
          <p:nvPr/>
        </p:nvSpPr>
        <p:spPr>
          <a:xfrm>
            <a:off x="11338560" y="6528816"/>
            <a:ext cx="457200" cy="274320"/>
          </a:xfrm>
          <a:prstGeom prst="rect">
            <a:avLst/>
          </a:prstGeom>
          <a:noFill/>
        </p:spPr>
        <p:txBody>
          <a:bodyPr wrap="square" rtlCol="0" anchor="ctr"/>
          <a:lstStyle/>
          <a:p>
            <a:pPr marL="0" indent="0" algn="r">
              <a:buNone/>
            </a:pPr>
            <a:r>
              <a:rPr lang="en-US" sz="1000" dirty="0">
                <a:solidFill>
                  <a:srgbClr val="5B74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12" name="Text 10"/>
          <p:cNvSpPr/>
          <p:nvPr/>
        </p:nvSpPr>
        <p:spPr>
          <a:xfrm>
            <a:off x="640080" y="685800"/>
            <a:ext cx="7315200" cy="548640"/>
          </a:xfrm>
          <a:prstGeom prst="rect">
            <a:avLst/>
          </a:prstGeom>
          <a:noFill/>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13" name="Text 11"/>
          <p:cNvSpPr/>
          <p:nvPr/>
        </p:nvSpPr>
        <p:spPr>
          <a:xfrm>
            <a:off x="640080" y="1417320"/>
            <a:ext cx="10515600" cy="1005840"/>
          </a:xfrm>
          <a:prstGeom prst="rect">
            <a:avLst/>
          </a:prstGeom>
          <a:noFill/>
        </p:spPr>
        <p:txBody>
          <a:bodyPr wrap="square" rtlCol="0" anchor="ctr"/>
          <a:lstStyle/>
          <a:p>
            <a:pPr marL="0" indent="0">
              <a:lnSpc>
                <a:spcPts val="2200"/>
              </a:lnSpc>
              <a:buNone/>
            </a:pPr>
            <a:r>
              <a:rPr lang="en-US" sz="2000" dirty="0">
                <a:solidFill>
                  <a:srgbClr val="CFE8EF"/>
                </a:solidFill>
                <a:latin typeface="Times New Roman Regular" panose="02020503050405090304" charset="0"/>
                <a:ea typeface="Calibri" pitchFamily="34" charset="-122"/>
                <a:cs typeface="Times New Roman Regular" panose="02020503050405090304" charset="0"/>
              </a:rPr>
              <a:t>Multi-cloud and hybrid cloud are no longer advanced options — they are the default architecture for enterprise IT. The strategy trades simplicity for resilience, compliance, and vendor leverage, at the cost of real operational and security complexity.</a:t>
            </a:r>
            <a:endParaRPr lang="en-US" sz="2000" dirty="0">
              <a:latin typeface="Times New Roman Regular" panose="02020503050405090304" charset="0"/>
              <a:cs typeface="Times New Roman Regular" panose="02020503050405090304" charset="0"/>
            </a:endParaRPr>
          </a:p>
        </p:txBody>
      </p:sp>
      <p:sp>
        <p:nvSpPr>
          <p:cNvPr id="17" name="Text 15"/>
          <p:cNvSpPr/>
          <p:nvPr/>
        </p:nvSpPr>
        <p:spPr>
          <a:xfrm>
            <a:off x="2924175" y="3768725"/>
            <a:ext cx="7252970" cy="1279525"/>
          </a:xfrm>
          <a:prstGeom prst="rect">
            <a:avLst/>
          </a:prstGeom>
          <a:noFill/>
        </p:spPr>
        <p:txBody>
          <a:bodyPr wrap="square" rtlCol="0" anchor="ctr"/>
          <a:lstStyle/>
          <a:p>
            <a:pPr marL="0" indent="0">
              <a:buNone/>
            </a:pPr>
            <a:r>
              <a:rPr lang="en-US" sz="8800" b="1" dirty="0">
                <a:solidFill>
                  <a:srgbClr val="FFFFFF"/>
                </a:solidFill>
                <a:latin typeface="Cambria" pitchFamily="34" charset="0"/>
                <a:ea typeface="Cambria" pitchFamily="34" charset="-122"/>
                <a:cs typeface="Cambria" pitchFamily="34" charset="-120"/>
              </a:rPr>
              <a:t>Thank you</a:t>
            </a:r>
            <a:endParaRPr lang="en-US" sz="8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WhatsApp Image 2026-07-23 at 10.04.37"/>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4848</Words>
  <Application>WPS Presentation</Application>
  <PresentationFormat>On-screen Show (16:9)</PresentationFormat>
  <Paragraphs>212</Paragraphs>
  <Slides>9</Slides>
  <Notes>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9</vt:i4>
      </vt:variant>
    </vt:vector>
  </HeadingPairs>
  <TitlesOfParts>
    <vt:vector size="27" baseType="lpstr">
      <vt:lpstr>Arial</vt:lpstr>
      <vt:lpstr>SimSun</vt:lpstr>
      <vt:lpstr>Wingdings</vt:lpstr>
      <vt:lpstr>Cambria</vt:lpstr>
      <vt:lpstr>苹方-简</vt:lpstr>
      <vt:lpstr>Cambria</vt:lpstr>
      <vt:lpstr>Cambria</vt:lpstr>
      <vt:lpstr>Times New Roman Regular</vt:lpstr>
      <vt:lpstr>Calibri</vt:lpstr>
      <vt:lpstr>Calibri</vt:lpstr>
      <vt:lpstr>Calibri</vt:lpstr>
      <vt:lpstr>Helvetica Neue</vt:lpstr>
      <vt:lpstr>Microsoft YaHei</vt:lpstr>
      <vt:lpstr>汉仪旗黑</vt:lpstr>
      <vt:lpstr>Arial Unicode MS</vt:lpstr>
      <vt:lpstr>宋体-简</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DIVYA K</cp:lastModifiedBy>
  <cp:revision>7</cp:revision>
  <dcterms:created xsi:type="dcterms:W3CDTF">2026-07-23T04:38:22Z</dcterms:created>
  <dcterms:modified xsi:type="dcterms:W3CDTF">2026-07-23T04:38:22Z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12C5CB5DA99BBBC62FC9556ADA6F563F_43</vt:lpwstr>
  </property>
</Properties>
</file>