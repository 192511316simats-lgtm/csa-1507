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2541" y="675862"/>
            <a:ext cx="3952875" cy="10687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R="469265" algn="ctr">
              <a:lnSpc>
                <a:spcPct val="100000"/>
              </a:lnSpc>
              <a:spcBef>
                <a:spcPts val="255"/>
              </a:spcBef>
            </a:pPr>
            <a:r>
              <a:rPr sz="1500" b="1" spc="-20" dirty="0">
                <a:latin typeface="Times New Roman" panose="02020503050405090304"/>
                <a:cs typeface="Times New Roman" panose="02020503050405090304"/>
              </a:rPr>
              <a:t>SIMATS</a:t>
            </a:r>
            <a:r>
              <a:rPr sz="15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00" b="1" spc="-10" dirty="0">
                <a:latin typeface="Times New Roman" panose="02020503050405090304"/>
                <a:cs typeface="Times New Roman" panose="02020503050405090304"/>
              </a:rPr>
              <a:t>ENGINEERING</a:t>
            </a: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R="472440" algn="ctr">
              <a:lnSpc>
                <a:spcPct val="100000"/>
              </a:lnSpc>
              <a:spcBef>
                <a:spcPts val="12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2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TOOL</a:t>
            </a:r>
            <a:r>
              <a:rPr sz="1200" b="1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1:</a:t>
            </a:r>
            <a:r>
              <a:rPr sz="1200" b="1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Analytical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Problem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Solving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57175" marR="5080" indent="3175">
              <a:lnSpc>
                <a:spcPct val="111000"/>
              </a:lnSpc>
              <a:tabLst>
                <a:tab pos="1816100" algn="l"/>
                <a:tab pos="3356610" algn="l"/>
              </a:tabLst>
            </a:pPr>
            <a:r>
              <a:rPr sz="1150" dirty="0">
                <a:latin typeface="Trebuchet MS" panose="020B0603020202020204"/>
                <a:cs typeface="Trebuchet MS" panose="020B0603020202020204"/>
              </a:rPr>
              <a:t>Cloud</a:t>
            </a:r>
            <a:r>
              <a:rPr sz="115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10" dirty="0">
                <a:latin typeface="Trebuchet MS" panose="020B0603020202020204"/>
                <a:cs typeface="Trebuchet MS" panose="020B0603020202020204"/>
              </a:rPr>
              <a:t>Computing</a:t>
            </a:r>
            <a:r>
              <a:rPr sz="115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25" dirty="0">
                <a:latin typeface="Trebuchet MS" panose="020B0603020202020204"/>
                <a:cs typeface="Trebuchet MS" panose="020B0603020202020204"/>
              </a:rPr>
              <a:t>and</a:t>
            </a:r>
            <a:r>
              <a:rPr sz="115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1150" b="1" spc="10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z="1150" b="1" spc="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b="1" spc="-20" dirty="0">
                <a:latin typeface="Trebuchet MS" panose="020B0603020202020204"/>
                <a:cs typeface="Trebuchet MS" panose="020B0603020202020204"/>
              </a:rPr>
              <a:t>CODE:</a:t>
            </a:r>
            <a:r>
              <a:rPr sz="1150" b="1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1150" spc="-10" dirty="0">
                <a:latin typeface="Trebuchet MS" panose="020B0603020202020204"/>
                <a:cs typeface="Trebuchet MS" panose="020B0603020202020204"/>
              </a:rPr>
              <a:t>CSA1507 </a:t>
            </a:r>
            <a:r>
              <a:rPr sz="1150" spc="-20" dirty="0">
                <a:latin typeface="Trebuchet MS" panose="020B0603020202020204"/>
                <a:cs typeface="Trebuchet MS" panose="020B0603020202020204"/>
              </a:rPr>
              <a:t>Big</a:t>
            </a:r>
            <a:r>
              <a:rPr sz="1150" spc="-114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dirty="0">
                <a:latin typeface="Trebuchet MS" panose="020B0603020202020204"/>
                <a:cs typeface="Trebuchet MS" panose="020B0603020202020204"/>
              </a:rPr>
              <a:t>Data</a:t>
            </a:r>
            <a:r>
              <a:rPr sz="1150" spc="-1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spc="-10" dirty="0">
                <a:latin typeface="Trebuchet MS" panose="020B0603020202020204"/>
                <a:cs typeface="Trebuchet MS" panose="020B0603020202020204"/>
              </a:rPr>
              <a:t>Analytics</a:t>
            </a:r>
            <a:endParaRPr sz="11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417" y="1349756"/>
            <a:ext cx="107251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10" dirty="0">
                <a:latin typeface="Trebuchet MS" panose="020B0603020202020204"/>
                <a:cs typeface="Trebuchet MS" panose="020B0603020202020204"/>
              </a:rPr>
              <a:t>COURSE</a:t>
            </a:r>
            <a:r>
              <a:rPr sz="1150" b="1" spc="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50" b="1" spc="-10" dirty="0">
                <a:latin typeface="Trebuchet MS" panose="020B0603020202020204"/>
                <a:cs typeface="Trebuchet MS" panose="020B0603020202020204"/>
              </a:rPr>
              <a:t>NAME:</a:t>
            </a:r>
            <a:endParaRPr sz="11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892" y="2460878"/>
            <a:ext cx="6226810" cy="133413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dirty="0">
                <a:latin typeface="Times New Roman" panose="02020503050405090304"/>
                <a:cs typeface="Times New Roman" panose="02020503050405090304"/>
              </a:rPr>
              <a:t>OUTCOME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10" dirty="0">
                <a:latin typeface="Times New Roman" panose="02020503050405090304"/>
                <a:cs typeface="Times New Roman" panose="02020503050405090304"/>
              </a:rPr>
              <a:t>COVERED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22225">
              <a:lnSpc>
                <a:spcPct val="100000"/>
              </a:lnSpc>
              <a:spcBef>
                <a:spcPts val="155"/>
              </a:spcBef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CO2: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Analyze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 architectures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00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identify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00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issues</a:t>
            </a:r>
            <a:r>
              <a:rPr sz="1000" i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000" i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00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i="1" spc="-10" dirty="0">
                <a:latin typeface="Times New Roman" panose="02020503050405090304"/>
                <a:cs typeface="Times New Roman" panose="02020503050405090304"/>
              </a:rPr>
              <a:t>environments.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(BL3)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0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Tool</a:t>
            </a:r>
            <a:r>
              <a:rPr sz="10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Weightage: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40%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22225">
              <a:lnSpc>
                <a:spcPct val="100000"/>
              </a:lnSpc>
              <a:tabLst>
                <a:tab pos="5269230" algn="l"/>
              </a:tabLst>
            </a:pPr>
            <a:r>
              <a:rPr sz="1100" dirty="0">
                <a:latin typeface="Trebuchet MS" panose="020B0603020202020204"/>
                <a:cs typeface="Trebuchet MS" panose="020B0603020202020204"/>
              </a:rPr>
              <a:t>Dave's</a:t>
            </a:r>
            <a:r>
              <a:rPr sz="11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50" dirty="0">
                <a:latin typeface="Trebuchet MS" panose="020B0603020202020204"/>
                <a:cs typeface="Trebuchet MS" panose="020B0603020202020204"/>
              </a:rPr>
              <a:t>Taxonomy:</a:t>
            </a:r>
            <a:r>
              <a:rPr sz="1100" spc="-4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10" dirty="0">
                <a:latin typeface="Trebuchet MS" panose="020B0603020202020204"/>
                <a:cs typeface="Trebuchet MS" panose="020B0603020202020204"/>
              </a:rPr>
              <a:t>Manipulation</a:t>
            </a:r>
            <a:r>
              <a:rPr sz="11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50" dirty="0">
                <a:latin typeface="Trebuchet MS" panose="020B0603020202020204"/>
                <a:cs typeface="Trebuchet MS" panose="020B0603020202020204"/>
              </a:rPr>
              <a:t>(Level</a:t>
            </a:r>
            <a:r>
              <a:rPr sz="1100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5" dirty="0">
                <a:latin typeface="Trebuchet MS" panose="020B0603020202020204"/>
                <a:cs typeface="Trebuchet MS" panose="020B0603020202020204"/>
              </a:rPr>
              <a:t>2)</a:t>
            </a:r>
            <a:r>
              <a:rPr sz="1100" dirty="0">
                <a:latin typeface="Trebuchet MS" panose="020B0603020202020204"/>
                <a:cs typeface="Trebuchet MS" panose="020B0603020202020204"/>
              </a:rPr>
              <a:t>	</a:t>
            </a:r>
            <a:r>
              <a:rPr sz="1100" b="1" spc="-60" dirty="0">
                <a:latin typeface="Trebuchet MS" panose="020B0603020202020204"/>
                <a:cs typeface="Trebuchet MS" panose="020B0603020202020204"/>
              </a:rPr>
              <a:t>Total</a:t>
            </a:r>
            <a:r>
              <a:rPr sz="1100" b="1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b="1" spc="-10" dirty="0">
                <a:latin typeface="Trebuchet MS" panose="020B0603020202020204"/>
                <a:cs typeface="Trebuchet MS" panose="020B0603020202020204"/>
              </a:rPr>
              <a:t>Marks:</a:t>
            </a:r>
            <a:r>
              <a:rPr sz="1100" b="1" spc="-7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b="1" spc="-25" dirty="0">
                <a:latin typeface="Trebuchet MS" panose="020B0603020202020204"/>
                <a:cs typeface="Trebuchet MS" panose="020B0603020202020204"/>
              </a:rPr>
              <a:t>20</a:t>
            </a:r>
            <a:endParaRPr sz="1100">
              <a:latin typeface="Trebuchet MS" panose="020B0603020202020204"/>
              <a:cs typeface="Trebuchet MS" panose="020B0603020202020204"/>
            </a:endParaRPr>
          </a:p>
          <a:p>
            <a:pPr marL="82550">
              <a:lnSpc>
                <a:spcPct val="100000"/>
              </a:lnSpc>
              <a:spcBef>
                <a:spcPts val="130"/>
              </a:spcBef>
            </a:pPr>
            <a:r>
              <a:rPr sz="1100" spc="-10" dirty="0">
                <a:latin typeface="Trebuchet MS" panose="020B0603020202020204"/>
                <a:cs typeface="Trebuchet MS" panose="020B0603020202020204"/>
              </a:rPr>
              <a:t>Question</a:t>
            </a:r>
            <a:r>
              <a:rPr sz="11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20" dirty="0">
                <a:latin typeface="Trebuchet MS" panose="020B0603020202020204"/>
                <a:cs typeface="Trebuchet MS" panose="020B0603020202020204"/>
              </a:rPr>
              <a:t>Count:</a:t>
            </a:r>
            <a:r>
              <a:rPr sz="1100" spc="-4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1100" spc="-50" dirty="0">
                <a:latin typeface="Trebuchet MS" panose="020B0603020202020204"/>
                <a:cs typeface="Trebuchet MS" panose="020B0603020202020204"/>
              </a:rPr>
              <a:t>5</a:t>
            </a:r>
            <a:endParaRPr sz="11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892" y="4360545"/>
            <a:ext cx="6146800" cy="9899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0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10" dirty="0">
                <a:latin typeface="Times New Roman" panose="02020503050405090304"/>
                <a:cs typeface="Times New Roman" panose="02020503050405090304"/>
              </a:rPr>
              <a:t>Conduct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9050" marR="5080" indent="-6350">
              <a:lnSpc>
                <a:spcPts val="1180"/>
              </a:lnSpc>
              <a:spcBef>
                <a:spcPts val="205"/>
              </a:spcBef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0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en-US" sz="1000" spc="204" dirty="0">
                <a:latin typeface="Times New Roman" panose="02020503050405090304"/>
                <a:cs typeface="Times New Roman" panose="02020503050405090304"/>
              </a:rPr>
              <a:t>K.DIVYA</a:t>
            </a:r>
            <a:r>
              <a:rPr sz="10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(1925</a:t>
            </a:r>
            <a:r>
              <a:rPr lang="en-US" altLang="en-US" sz="1000" dirty="0">
                <a:latin typeface="Times New Roman" panose="02020503050405090304"/>
                <a:cs typeface="Times New Roman" panose="02020503050405090304"/>
              </a:rPr>
              <a:t>11316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)</a:t>
            </a:r>
            <a:r>
              <a:rPr sz="10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(Name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Reg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No)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certify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submission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my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original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work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have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adhered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specified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assessment.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9050" marR="989330" indent="-635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understand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violation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0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academic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integrity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rules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will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result</a:t>
            </a:r>
            <a:r>
              <a:rPr sz="10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disciplinary</a:t>
            </a:r>
            <a:r>
              <a:rPr sz="10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action.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spc="-10" dirty="0">
                <a:latin typeface="Times New Roman" panose="02020503050405090304"/>
                <a:cs typeface="Times New Roman" panose="02020503050405090304"/>
              </a:rPr>
              <a:t>Signature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0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0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dirty="0">
                <a:latin typeface="Times New Roman" panose="02020503050405090304"/>
                <a:cs typeface="Times New Roman" panose="02020503050405090304"/>
              </a:rPr>
              <a:t>student:</a:t>
            </a:r>
            <a:r>
              <a:rPr sz="10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" sz="1000" spc="-5" dirty="0">
                <a:latin typeface="Times New Roman" panose="02020503050405090304"/>
                <a:cs typeface="Times New Roman" panose="02020503050405090304"/>
              </a:rPr>
              <a:t>K.DIVYA</a:t>
            </a:r>
            <a:endParaRPr sz="10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Times New Roman" panose="02020503050405090304"/>
                <a:cs typeface="Times New Roman" panose="02020503050405090304"/>
              </a:rPr>
              <a:t>Analytical</a:t>
            </a:r>
            <a:r>
              <a:rPr sz="10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10" dirty="0">
                <a:latin typeface="Times New Roman" panose="02020503050405090304"/>
                <a:cs typeface="Times New Roman" panose="02020503050405090304"/>
              </a:rPr>
              <a:t>Problem </a:t>
            </a:r>
            <a:r>
              <a:rPr sz="1000" b="1" dirty="0">
                <a:latin typeface="Times New Roman" panose="02020503050405090304"/>
                <a:cs typeface="Times New Roman" panose="02020503050405090304"/>
              </a:rPr>
              <a:t>Solving</a:t>
            </a:r>
            <a:r>
              <a:rPr sz="10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10" dirty="0">
                <a:latin typeface="Times New Roman" panose="02020503050405090304"/>
                <a:cs typeface="Times New Roman" panose="02020503050405090304"/>
              </a:rPr>
              <a:t>Rubric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9292" y="5776848"/>
          <a:ext cx="6267450" cy="3908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685"/>
                <a:gridCol w="1007110"/>
                <a:gridCol w="1035684"/>
                <a:gridCol w="1035685"/>
                <a:gridCol w="1036319"/>
                <a:gridCol w="1036320"/>
              </a:tblGrid>
              <a:tr h="34607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Criteria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Weightage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b="1" spc="-40" dirty="0">
                          <a:latin typeface="Trebuchet MS" panose="020B0603020202020204"/>
                          <a:cs typeface="Trebuchet MS" panose="020B0603020202020204"/>
                        </a:rPr>
                        <a:t>Level</a:t>
                      </a:r>
                      <a:r>
                        <a:rPr sz="1000" b="1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65" dirty="0">
                          <a:latin typeface="Trebuchet MS" panose="020B0603020202020204"/>
                          <a:cs typeface="Trebuchet MS" panose="020B0603020202020204"/>
                        </a:rPr>
                        <a:t>4</a:t>
                      </a:r>
                      <a:r>
                        <a:rPr sz="1000" b="1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50" dirty="0">
                          <a:latin typeface="Trebuchet MS" panose="020B0603020202020204"/>
                          <a:cs typeface="Trebuchet MS" panose="020B0603020202020204"/>
                        </a:rPr>
                        <a:t>-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Exemplary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b="1" spc="-40" dirty="0">
                          <a:latin typeface="Trebuchet MS" panose="020B0603020202020204"/>
                          <a:cs typeface="Trebuchet MS" panose="020B0603020202020204"/>
                        </a:rPr>
                        <a:t>Level</a:t>
                      </a:r>
                      <a:r>
                        <a:rPr sz="1000" b="1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65" dirty="0">
                          <a:latin typeface="Trebuchet MS" panose="020B0603020202020204"/>
                          <a:cs typeface="Trebuchet MS" panose="020B0603020202020204"/>
                        </a:rPr>
                        <a:t>3</a:t>
                      </a:r>
                      <a:r>
                        <a:rPr sz="1000" b="1" spc="-8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40" dirty="0">
                          <a:latin typeface="Trebuchet MS" panose="020B0603020202020204"/>
                          <a:cs typeface="Trebuchet MS" panose="020B0603020202020204"/>
                        </a:rPr>
                        <a:t>–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Proficient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b="1" spc="-40" dirty="0">
                          <a:latin typeface="Trebuchet MS" panose="020B0603020202020204"/>
                          <a:cs typeface="Trebuchet MS" panose="020B0603020202020204"/>
                        </a:rPr>
                        <a:t>Level</a:t>
                      </a:r>
                      <a:r>
                        <a:rPr sz="1000" b="1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65" dirty="0">
                          <a:latin typeface="Trebuchet MS" panose="020B0603020202020204"/>
                          <a:cs typeface="Trebuchet MS" panose="020B0603020202020204"/>
                        </a:rPr>
                        <a:t>2</a:t>
                      </a:r>
                      <a:r>
                        <a:rPr sz="1000" b="1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50" dirty="0">
                          <a:latin typeface="Trebuchet MS" panose="020B0603020202020204"/>
                          <a:cs typeface="Trebuchet MS" panose="020B0603020202020204"/>
                        </a:rPr>
                        <a:t>-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Developing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b="1" spc="-40" dirty="0">
                          <a:latin typeface="Trebuchet MS" panose="020B0603020202020204"/>
                          <a:cs typeface="Trebuchet MS" panose="020B0603020202020204"/>
                        </a:rPr>
                        <a:t>Level</a:t>
                      </a:r>
                      <a:r>
                        <a:rPr sz="1000" b="1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65" dirty="0">
                          <a:latin typeface="Trebuchet MS" panose="020B0603020202020204"/>
                          <a:cs typeface="Trebuchet MS" panose="020B0603020202020204"/>
                        </a:rPr>
                        <a:t>1</a:t>
                      </a:r>
                      <a:r>
                        <a:rPr sz="1000" b="1" spc="-8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b="1" spc="-50" dirty="0">
                          <a:latin typeface="Trebuchet MS" panose="020B0603020202020204"/>
                          <a:cs typeface="Trebuchet MS" panose="020B0603020202020204"/>
                        </a:rPr>
                        <a:t>-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b="1" spc="-10" dirty="0">
                          <a:latin typeface="Trebuchet MS" panose="020B0603020202020204"/>
                          <a:cs typeface="Trebuchet MS" panose="020B0603020202020204"/>
                        </a:rPr>
                        <a:t>Beginning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Problem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Interpretation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40" dirty="0">
                          <a:latin typeface="Trebuchet MS" panose="020B0603020202020204"/>
                          <a:cs typeface="Trebuchet MS" panose="020B0603020202020204"/>
                        </a:rPr>
                        <a:t>20%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40" dirty="0">
                          <a:latin typeface="Trebuchet MS" panose="020B0603020202020204"/>
                          <a:cs typeface="Trebuchet MS" panose="020B0603020202020204"/>
                        </a:rPr>
                        <a:t>Interprets</a:t>
                      </a:r>
                      <a:r>
                        <a:rPr sz="1000" spc="-3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all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technical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226060">
                        <a:lnSpc>
                          <a:spcPct val="108000"/>
                        </a:lnSpc>
                        <a:spcBef>
                          <a:spcPts val="25"/>
                        </a:spcBef>
                      </a:pP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requirements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accurately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40" dirty="0">
                          <a:latin typeface="Trebuchet MS" panose="020B0603020202020204"/>
                          <a:cs typeface="Trebuchet MS" panose="020B0603020202020204"/>
                        </a:rPr>
                        <a:t>Interprets</a:t>
                      </a:r>
                      <a:r>
                        <a:rPr sz="1000" spc="-5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most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226060">
                        <a:lnSpc>
                          <a:spcPct val="110000"/>
                        </a:lnSpc>
                      </a:pP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requirements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correctly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Partial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interpretation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Misinterprets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35" dirty="0">
                          <a:latin typeface="Trebuchet MS" panose="020B0603020202020204"/>
                          <a:cs typeface="Trebuchet MS" panose="020B0603020202020204"/>
                        </a:rPr>
                        <a:t>the</a:t>
                      </a:r>
                      <a:r>
                        <a:rPr sz="1000" spc="-10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problem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455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Analytical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Reasoning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40" dirty="0">
                          <a:latin typeface="Trebuchet MS" panose="020B0603020202020204"/>
                          <a:cs typeface="Trebuchet MS" panose="020B0603020202020204"/>
                        </a:rPr>
                        <a:t>25%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Strong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167640">
                        <a:lnSpc>
                          <a:spcPct val="108000"/>
                        </a:lnSpc>
                        <a:spcBef>
                          <a:spcPts val="25"/>
                        </a:spcBef>
                      </a:pP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reasoning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with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clear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313690">
                        <a:lnSpc>
                          <a:spcPct val="110000"/>
                        </a:lnSpc>
                      </a:pP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causeeffect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analysis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Trebuchet MS" panose="020B0603020202020204"/>
                          <a:cs typeface="Trebuchet MS" panose="020B0603020202020204"/>
                        </a:rPr>
                        <a:t>Good</a:t>
                      </a:r>
                      <a:r>
                        <a:rPr sz="1000" spc="-8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reasoning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with</a:t>
                      </a:r>
                      <a:r>
                        <a:rPr sz="1000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minor</a:t>
                      </a:r>
                      <a:r>
                        <a:rPr sz="1000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gaps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Trebuchet MS" panose="020B0603020202020204"/>
                          <a:cs typeface="Trebuchet MS" panose="020B0603020202020204"/>
                        </a:rPr>
                        <a:t>Basic</a:t>
                      </a: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analysis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only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Weak</a:t>
                      </a:r>
                      <a:r>
                        <a:rPr sz="1000" spc="-11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or</a:t>
                      </a:r>
                      <a:r>
                        <a:rPr sz="1000" spc="-10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no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analysis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Method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Selection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40" dirty="0">
                          <a:latin typeface="Trebuchet MS" panose="020B0603020202020204"/>
                          <a:cs typeface="Trebuchet MS" panose="020B0603020202020204"/>
                        </a:rPr>
                        <a:t>20%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10" dirty="0">
                          <a:latin typeface="Trebuchet MS" panose="020B0603020202020204"/>
                          <a:cs typeface="Trebuchet MS" panose="020B0603020202020204"/>
                        </a:rPr>
                        <a:t>Chooses</a:t>
                      </a:r>
                      <a:r>
                        <a:rPr sz="1000" spc="4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highly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255905">
                        <a:lnSpc>
                          <a:spcPct val="11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appropriate </a:t>
                      </a:r>
                      <a:r>
                        <a:rPr sz="1000" spc="-40" dirty="0">
                          <a:latin typeface="Trebuchet MS" panose="020B0603020202020204"/>
                          <a:cs typeface="Trebuchet MS" panose="020B0603020202020204"/>
                        </a:rPr>
                        <a:t>virtualization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and</a:t>
                      </a:r>
                      <a:r>
                        <a:rPr sz="1000" spc="-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security concepts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10" dirty="0">
                          <a:latin typeface="Trebuchet MS" panose="020B0603020202020204"/>
                          <a:cs typeface="Trebuchet MS" panose="020B0603020202020204"/>
                        </a:rPr>
                        <a:t>Chooses</a:t>
                      </a:r>
                      <a:r>
                        <a:rPr sz="1000" spc="4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mostly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448310">
                        <a:lnSpc>
                          <a:spcPct val="11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suitable concepts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Partially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suitable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concepts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Inappropriate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approach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Solution</a:t>
                      </a:r>
                      <a:r>
                        <a:rPr sz="1000" spc="-10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Quality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40" dirty="0">
                          <a:latin typeface="Trebuchet MS" panose="020B0603020202020204"/>
                          <a:cs typeface="Trebuchet MS" panose="020B0603020202020204"/>
                        </a:rPr>
                        <a:t>20%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Provides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292735">
                        <a:lnSpc>
                          <a:spcPct val="108000"/>
                        </a:lnSpc>
                        <a:spcBef>
                          <a:spcPts val="25"/>
                        </a:spcBef>
                      </a:pP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feasible</a:t>
                      </a:r>
                      <a:r>
                        <a:rPr sz="1000" spc="-5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and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technically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latin typeface="Trebuchet MS" panose="020B0603020202020204"/>
                          <a:cs typeface="Trebuchet MS" panose="020B0603020202020204"/>
                        </a:rPr>
                        <a:t>sound</a:t>
                      </a: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solution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Reasonable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259715">
                        <a:lnSpc>
                          <a:spcPct val="108000"/>
                        </a:lnSpc>
                        <a:spcBef>
                          <a:spcPts val="25"/>
                        </a:spcBef>
                      </a:pP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solution</a:t>
                      </a: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45" dirty="0">
                          <a:latin typeface="Trebuchet MS" panose="020B0603020202020204"/>
                          <a:cs typeface="Trebuchet MS" panose="020B0603020202020204"/>
                        </a:rPr>
                        <a:t>with </a:t>
                      </a:r>
                      <a:r>
                        <a:rPr sz="1000" spc="-20" dirty="0">
                          <a:latin typeface="Trebuchet MS" panose="020B0603020202020204"/>
                          <a:cs typeface="Trebuchet MS" panose="020B0603020202020204"/>
                        </a:rPr>
                        <a:t>minor</a:t>
                      </a:r>
                      <a:r>
                        <a:rPr sz="1000" spc="-9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issues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dirty="0">
                          <a:latin typeface="Trebuchet MS" panose="020B0603020202020204"/>
                          <a:cs typeface="Trebuchet MS" panose="020B0603020202020204"/>
                        </a:rPr>
                        <a:t>Basic</a:t>
                      </a: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solution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latin typeface="Trebuchet MS" panose="020B0603020202020204"/>
                          <a:cs typeface="Trebuchet MS" panose="020B0603020202020204"/>
                        </a:rPr>
                        <a:t>with</a:t>
                      </a:r>
                      <a:r>
                        <a:rPr sz="1000" spc="-7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limitations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Unclear</a:t>
                      </a:r>
                      <a:r>
                        <a:rPr sz="1000" spc="-6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or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00" spc="-35" dirty="0">
                          <a:latin typeface="Trebuchet MS" panose="020B0603020202020204"/>
                          <a:cs typeface="Trebuchet MS" panose="020B0603020202020204"/>
                        </a:rPr>
                        <a:t>invalid</a:t>
                      </a:r>
                      <a:r>
                        <a:rPr sz="1000" spc="-6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solution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Presentation</a:t>
                      </a:r>
                      <a:r>
                        <a:rPr sz="1000" spc="-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of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Analysis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40" dirty="0">
                          <a:latin typeface="Trebuchet MS" panose="020B0603020202020204"/>
                          <a:cs typeface="Trebuchet MS" panose="020B0603020202020204"/>
                        </a:rPr>
                        <a:t>15%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35" dirty="0">
                          <a:latin typeface="Trebuchet MS" panose="020B0603020202020204"/>
                          <a:cs typeface="Trebuchet MS" panose="020B0603020202020204"/>
                        </a:rPr>
                        <a:t>Well-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structured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 marR="129540">
                        <a:lnSpc>
                          <a:spcPts val="1330"/>
                        </a:lnSpc>
                        <a:spcBef>
                          <a:spcPts val="35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and</a:t>
                      </a:r>
                      <a:r>
                        <a:rPr sz="1000" spc="-10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technically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precise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40" dirty="0">
                          <a:latin typeface="Trebuchet MS" panose="020B0603020202020204"/>
                          <a:cs typeface="Trebuchet MS" panose="020B0603020202020204"/>
                        </a:rPr>
                        <a:t>Generally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clear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Somewhat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unclear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000" spc="-40" dirty="0">
                          <a:latin typeface="Trebuchet MS" panose="020B0603020202020204"/>
                          <a:cs typeface="Trebuchet MS" panose="020B0603020202020204"/>
                        </a:rPr>
                        <a:t>Difficult</a:t>
                      </a:r>
                      <a:r>
                        <a:rPr sz="1000" spc="-30" dirty="0">
                          <a:latin typeface="Trebuchet MS" panose="020B0603020202020204"/>
                          <a:cs typeface="Trebuchet MS" panose="020B0603020202020204"/>
                        </a:rPr>
                        <a:t> </a:t>
                      </a:r>
                      <a:r>
                        <a:rPr sz="1000" spc="-25" dirty="0">
                          <a:latin typeface="Trebuchet MS" panose="020B0603020202020204"/>
                          <a:cs typeface="Trebuchet MS" panose="020B0603020202020204"/>
                        </a:rPr>
                        <a:t>to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10" dirty="0">
                          <a:latin typeface="Trebuchet MS" panose="020B0603020202020204"/>
                          <a:cs typeface="Trebuchet MS" panose="020B0603020202020204"/>
                        </a:rPr>
                        <a:t>follow</a:t>
                      </a:r>
                      <a:endParaRPr sz="1000">
                        <a:latin typeface="Trebuchet MS" panose="020B0603020202020204"/>
                        <a:cs typeface="Trebuchet MS" panose="020B060302020202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67384" y="2293747"/>
            <a:ext cx="6226810" cy="8890"/>
          </a:xfrm>
          <a:custGeom>
            <a:avLst/>
            <a:gdLst/>
            <a:ahLst/>
            <a:cxnLst/>
            <a:rect l="l" t="t" r="r" b="b"/>
            <a:pathLst>
              <a:path w="6226809" h="8889">
                <a:moveTo>
                  <a:pt x="6226810" y="0"/>
                </a:moveTo>
                <a:lnTo>
                  <a:pt x="0" y="0"/>
                </a:lnTo>
                <a:lnTo>
                  <a:pt x="0" y="8889"/>
                </a:lnTo>
                <a:lnTo>
                  <a:pt x="6226810" y="8889"/>
                </a:lnTo>
                <a:lnTo>
                  <a:pt x="622681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7384" y="4344415"/>
            <a:ext cx="6226810" cy="8890"/>
          </a:xfrm>
          <a:custGeom>
            <a:avLst/>
            <a:gdLst/>
            <a:ahLst/>
            <a:cxnLst/>
            <a:rect l="l" t="t" r="r" b="b"/>
            <a:pathLst>
              <a:path w="6226809" h="8889">
                <a:moveTo>
                  <a:pt x="6226810" y="0"/>
                </a:moveTo>
                <a:lnTo>
                  <a:pt x="0" y="0"/>
                </a:lnTo>
                <a:lnTo>
                  <a:pt x="0" y="8889"/>
                </a:lnTo>
                <a:lnTo>
                  <a:pt x="6226810" y="8889"/>
                </a:lnTo>
                <a:lnTo>
                  <a:pt x="622681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2659" y="889381"/>
            <a:ext cx="12547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latin typeface="Times New Roman" panose="02020503050405090304"/>
                <a:cs typeface="Times New Roman" panose="02020503050405090304"/>
              </a:rPr>
              <a:t>Total </a:t>
            </a:r>
            <a:r>
              <a:rPr sz="1000" b="1" dirty="0">
                <a:latin typeface="Times New Roman" panose="02020503050405090304"/>
                <a:cs typeface="Times New Roman" panose="02020503050405090304"/>
              </a:rPr>
              <a:t>Marks</a:t>
            </a:r>
            <a:r>
              <a:rPr sz="1000" b="1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000" b="1" spc="-10" dirty="0">
                <a:latin typeface="Times New Roman" panose="02020503050405090304"/>
                <a:cs typeface="Times New Roman" panose="02020503050405090304"/>
              </a:rPr>
              <a:t>Awarded:</a:t>
            </a:r>
            <a:endParaRPr sz="1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892" y="1677034"/>
            <a:ext cx="6230620" cy="802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5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00" b="1" spc="-1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500" b="1" spc="-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500" b="1" spc="-10" dirty="0">
                <a:latin typeface="Times New Roman" panose="02020503050405090304"/>
                <a:cs typeface="Times New Roman" panose="02020503050405090304"/>
              </a:rPr>
              <a:t>Assignment</a:t>
            </a: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19050" marR="193040" indent="-6350">
              <a:lnSpc>
                <a:spcPts val="1430"/>
              </a:lnSpc>
              <a:spcBef>
                <a:spcPts val="12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Q1.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capable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supporting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banking application.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5715" algn="just">
              <a:lnSpc>
                <a:spcPct val="119000"/>
              </a:lnSpc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requires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consistency,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even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downtime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penalties,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trust.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well-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designed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1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therefore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able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withstand</a:t>
            </a:r>
            <a:r>
              <a:rPr sz="1200" spc="1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failure,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site-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level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disasters,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outages,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meeting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Objective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(RTO)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Recovery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Point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(RPO)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targets.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5"/>
              </a:spcBef>
              <a:buFont typeface="Times New Roman" panose="02020503050405090304"/>
              <a:buAutoNum type="arabicPeriod"/>
              <a:tabLst>
                <a:tab pos="1270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​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Region,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Multi-Availability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Zone</a:t>
            </a:r>
            <a:r>
              <a:rPr sz="1200" b="1" u="sng" spc="-8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Architecture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5080" lvl="1" indent="-180975" algn="just">
              <a:lnSpc>
                <a:spcPct val="118000"/>
              </a:lnSpc>
              <a:spcBef>
                <a:spcPts val="300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(Active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Site):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Hosts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production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workload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servers,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processing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engines,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spread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multiple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Zones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(AZs)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survive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rack-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AZ-level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failures.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8255" lvl="1" indent="-180975" algn="just">
              <a:lnSpc>
                <a:spcPct val="118000"/>
              </a:lnSpc>
              <a:spcBef>
                <a:spcPts val="57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Secondary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(Standby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Site):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geographically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distant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avoid correlated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disasters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floods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power-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grid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kept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warm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standby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mode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synchronization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site.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12065" lvl="1" indent="-180975" algn="just">
              <a:lnSpc>
                <a:spcPct val="118000"/>
              </a:lnSpc>
              <a:spcBef>
                <a:spcPts val="59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 Balancer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DNS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Failover: Continuously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 of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redirects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customer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22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becomes unavailable.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285"/>
              </a:spcBef>
              <a:buFont typeface="Times New Roman" panose="02020503050405090304"/>
              <a:buAutoNum type="arabicPeriod"/>
              <a:tabLst>
                <a:tab pos="127000" algn="l"/>
              </a:tabLst>
            </a:pP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​Core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Components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12700" algn="just">
              <a:lnSpc>
                <a:spcPct val="118000"/>
              </a:lnSpc>
              <a:spcBef>
                <a:spcPts val="30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Compute:</a:t>
            </a:r>
            <a:r>
              <a:rPr sz="1200" spc="3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4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virtual</a:t>
            </a:r>
            <a:r>
              <a:rPr sz="1200" spc="4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machine</a:t>
            </a:r>
            <a:r>
              <a:rPr sz="1200" spc="3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4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4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clusters</a:t>
            </a:r>
            <a:r>
              <a:rPr sz="1200" spc="409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4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Kubernetes)</a:t>
            </a:r>
            <a:r>
              <a:rPr sz="1200" spc="4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4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deployed identically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 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quickly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failover.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12700" algn="just">
              <a:lnSpc>
                <a:spcPct val="118000"/>
              </a:lnSpc>
              <a:spcBef>
                <a:spcPts val="82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Database: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clustered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uses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synchronous</a:t>
            </a:r>
            <a:r>
              <a:rPr sz="1200" spc="25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2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asynchronous</a:t>
            </a:r>
            <a:r>
              <a:rPr sz="1200" spc="2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2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regions,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copy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date</a:t>
            </a:r>
            <a:r>
              <a:rPr sz="1200" spc="2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ready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quick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promotion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primary.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7620" algn="just">
              <a:lnSpc>
                <a:spcPct val="116000"/>
              </a:lnSpc>
              <a:spcBef>
                <a:spcPts val="87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Storage: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cross-region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ensures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logs,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statements,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exist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safely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12065" algn="just">
              <a:lnSpc>
                <a:spcPct val="118000"/>
              </a:lnSpc>
              <a:spcBef>
                <a:spcPts val="825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Networking: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VPN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dedicated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interconnect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links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load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automatic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redirection.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8890" algn="just">
              <a:lnSpc>
                <a:spcPct val="118000"/>
              </a:lnSpc>
              <a:spcBef>
                <a:spcPts val="85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Security: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End-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(in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transit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rest),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module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(HSM)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key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strict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(IAM)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financial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across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sites.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384" y="2602357"/>
            <a:ext cx="6226810" cy="8890"/>
          </a:xfrm>
          <a:custGeom>
            <a:avLst/>
            <a:gdLst/>
            <a:ahLst/>
            <a:cxnLst/>
            <a:rect l="l" t="t" r="r" b="b"/>
            <a:pathLst>
              <a:path w="6226809" h="8889">
                <a:moveTo>
                  <a:pt x="6226810" y="0"/>
                </a:moveTo>
                <a:lnTo>
                  <a:pt x="0" y="0"/>
                </a:lnTo>
                <a:lnTo>
                  <a:pt x="0" y="8890"/>
                </a:lnTo>
                <a:lnTo>
                  <a:pt x="6226810" y="8890"/>
                </a:lnTo>
                <a:lnTo>
                  <a:pt x="6226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892" y="669036"/>
            <a:ext cx="6232525" cy="887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8255" algn="just">
              <a:lnSpc>
                <a:spcPct val="118000"/>
              </a:lnSpc>
              <a:spcBef>
                <a:spcPts val="100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Monitoring: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Centralized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logging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health-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detect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early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automated failover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workflows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manual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intervention.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0"/>
              </a:spcBef>
              <a:buFont typeface="Times New Roman" panose="02020503050405090304"/>
              <a:buAutoNum type="arabicPeriod" startAt="3"/>
              <a:tabLst>
                <a:tab pos="127000" algn="l"/>
              </a:tabLst>
            </a:pP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​Disaster</a:t>
            </a:r>
            <a:r>
              <a:rPr sz="1200" b="1" u="sng" spc="-7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Strategy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7620" algn="just">
              <a:lnSpc>
                <a:spcPct val="116000"/>
              </a:lnSpc>
              <a:spcBef>
                <a:spcPts val="32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system,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Active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Passive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(warm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standby)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preferred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over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cold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cannot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tolerate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times.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7620" lvl="1" indent="-180975" algn="just">
              <a:lnSpc>
                <a:spcPct val="118000"/>
              </a:lnSpc>
              <a:spcBef>
                <a:spcPts val="600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Active:</a:t>
            </a:r>
            <a:r>
              <a:rPr sz="1200" spc="3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3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</a:t>
            </a:r>
            <a:r>
              <a:rPr sz="1200" spc="3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spc="3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3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simultaneously</a:t>
            </a:r>
            <a:r>
              <a:rPr sz="1200" spc="3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3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real-time</a:t>
            </a:r>
            <a:r>
              <a:rPr sz="1200" spc="3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bidirectional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replication,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giving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lowest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possible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higher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complexity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suited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core-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7620" lvl="1" indent="-180975" algn="just">
              <a:lnSpc>
                <a:spcPct val="118000"/>
              </a:lnSpc>
              <a:spcBef>
                <a:spcPts val="575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Passive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(Warm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Standby):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runs 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smaller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fully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functional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stays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updated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promoted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</a:t>
            </a:r>
            <a:r>
              <a:rPr sz="1200" spc="1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practical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workloads.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0"/>
              </a:spcBef>
              <a:buFont typeface="Times New Roman" panose="02020503050405090304"/>
              <a:buAutoNum type="arabicPeriod" startAt="4"/>
              <a:tabLst>
                <a:tab pos="1270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​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RTO/RPO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u="sng" spc="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Compliance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5080" algn="just">
              <a:lnSpc>
                <a:spcPct val="118000"/>
              </a:lnSpc>
              <a:spcBef>
                <a:spcPts val="30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should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target</a:t>
            </a:r>
            <a:r>
              <a:rPr sz="1200" spc="3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spc="3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measured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4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</a:t>
            </a:r>
            <a:r>
              <a:rPr sz="1200" spc="3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RPO</a:t>
            </a:r>
            <a:r>
              <a:rPr sz="1200" spc="3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3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3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zero</a:t>
            </a:r>
            <a:r>
              <a:rPr sz="1200" spc="3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through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nearsynchronous replication, so that no committed transaction is lost. Automated, health-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check-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triggered failover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removes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 dependency on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manual action,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 regular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drills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immutable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help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regulatory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business-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requirements.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9525" algn="just">
              <a:lnSpc>
                <a:spcPct val="119000"/>
              </a:lnSpc>
              <a:spcBef>
                <a:spcPts val="29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resilient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redundancy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geographically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separated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kept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near-real-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synchronization,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traffic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routing,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controls.</a:t>
            </a:r>
            <a:r>
              <a:rPr sz="1200" spc="1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layered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0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</a:t>
            </a:r>
            <a:r>
              <a:rPr sz="1200" spc="2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continue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disaster.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Q2.</a:t>
            </a:r>
            <a:r>
              <a:rPr sz="1200" b="1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Analyze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role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replication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availability.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945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10795" algn="just">
              <a:lnSpc>
                <a:spcPct val="118000"/>
              </a:lnSpc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means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remains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accessible,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accurate,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recoverable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presence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human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disaster.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two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foundational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pillars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strategy.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Although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related,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purposes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complement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another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 complete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 plan.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0"/>
              </a:spcBef>
              <a:buFont typeface="Times New Roman" panose="02020503050405090304"/>
              <a:buAutoNum type="arabicPeriod"/>
              <a:tabLst>
                <a:tab pos="1270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​Role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Backup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10795" algn="just">
              <a:lnSpc>
                <a:spcPct val="117000"/>
              </a:lnSpc>
              <a:spcBef>
                <a:spcPts val="32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periodic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copy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stored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separately,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often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location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tier,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so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previous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known-good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after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accidental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deletion.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10160" lvl="1" indent="-180975" algn="just">
              <a:lnSpc>
                <a:spcPct val="118000"/>
              </a:lnSpc>
              <a:spcBef>
                <a:spcPts val="87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Protection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loss: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Guards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accidental</a:t>
            </a:r>
            <a:r>
              <a:rPr sz="1200" spc="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deletion,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ransomware,</a:t>
            </a:r>
            <a:r>
              <a:rPr sz="1200" spc="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bugs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alone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cannot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fix,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would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as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well.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15240" lvl="1" indent="-180975" algn="just">
              <a:lnSpc>
                <a:spcPct val="116000"/>
              </a:lnSpc>
              <a:spcBef>
                <a:spcPts val="630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Point-in-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1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recovery: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1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restoration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specific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earlier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state,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example</a:t>
            </a:r>
            <a:r>
              <a:rPr sz="1200" spc="1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erroneous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batch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processed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important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requirements.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7384" y="6460871"/>
            <a:ext cx="6226810" cy="8890"/>
          </a:xfrm>
          <a:custGeom>
            <a:avLst/>
            <a:gdLst/>
            <a:ahLst/>
            <a:cxnLst/>
            <a:rect l="l" t="t" r="r" b="b"/>
            <a:pathLst>
              <a:path w="6226809" h="8889">
                <a:moveTo>
                  <a:pt x="6226810" y="0"/>
                </a:moveTo>
                <a:lnTo>
                  <a:pt x="0" y="0"/>
                </a:lnTo>
                <a:lnTo>
                  <a:pt x="0" y="8889"/>
                </a:lnTo>
                <a:lnTo>
                  <a:pt x="6226810" y="8889"/>
                </a:lnTo>
                <a:lnTo>
                  <a:pt x="62268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892" y="669036"/>
            <a:ext cx="6228080" cy="436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10795" indent="-180975" algn="just">
              <a:lnSpc>
                <a:spcPct val="118000"/>
              </a:lnSpc>
              <a:spcBef>
                <a:spcPts val="100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Types: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Full,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incremental, and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differential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speed,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scheduled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long-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term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retention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needs.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5080" indent="-180975" algn="just">
              <a:lnSpc>
                <a:spcPct val="118000"/>
              </a:lnSpc>
              <a:spcBef>
                <a:spcPts val="570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Off-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storage: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separate</a:t>
            </a:r>
            <a:r>
              <a:rPr sz="1200" spc="2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2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cold-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2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tier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disasters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affect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entire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center.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5"/>
              </a:spcBef>
              <a:buFont typeface="Times New Roman" panose="02020503050405090304"/>
              <a:buAutoNum type="arabicPeriod" startAt="2"/>
              <a:tabLst>
                <a:tab pos="1270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​Role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Replication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5080" algn="just">
              <a:lnSpc>
                <a:spcPct val="116000"/>
              </a:lnSpc>
              <a:spcBef>
                <a:spcPts val="325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copies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either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synchronously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asynchronously,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secondary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identical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time.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10795" lvl="1" indent="-180975" algn="just">
              <a:lnSpc>
                <a:spcPct val="118000"/>
              </a:lnSpc>
              <a:spcBef>
                <a:spcPts val="57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High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failover: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fails,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promoted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almost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instantly,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minimizing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downtime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helping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targets.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6985" lvl="1" indent="-180975" algn="just">
              <a:lnSpc>
                <a:spcPct val="118000"/>
              </a:lnSpc>
              <a:spcBef>
                <a:spcPts val="580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distribution: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replicas</a:t>
            </a:r>
            <a:r>
              <a:rPr sz="1200" spc="3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3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read-heavy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3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3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</a:t>
            </a:r>
            <a:r>
              <a:rPr sz="1200" spc="3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inquiries,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improving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while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writes.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5715" lvl="1" indent="-180975" algn="just">
              <a:lnSpc>
                <a:spcPct val="118000"/>
              </a:lnSpc>
              <a:spcBef>
                <a:spcPts val="570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Synchronous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replication: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Confirms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write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sites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 acknowledging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guaranteeing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zero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</a:t>
            </a:r>
            <a:r>
              <a:rPr sz="1200" spc="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(RPO</a:t>
            </a:r>
            <a:r>
              <a:rPr sz="1200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zero)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suited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ledgers,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though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some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latency.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8890" lvl="1" indent="-180975" algn="just">
              <a:lnSpc>
                <a:spcPct val="116000"/>
              </a:lnSpc>
              <a:spcBef>
                <a:spcPts val="625"/>
              </a:spcBef>
              <a:buChar char="•"/>
              <a:tabLst>
                <a:tab pos="377825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Asynchronous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replication: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Offers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better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distances,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small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possible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lag,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suitable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geographically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distant.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0" indent="-127000" algn="just">
              <a:lnSpc>
                <a:spcPct val="100000"/>
              </a:lnSpc>
              <a:spcBef>
                <a:spcPts val="1315"/>
              </a:spcBef>
              <a:buFont typeface="Times New Roman" panose="02020503050405090304"/>
              <a:buAutoNum type="arabicPeriod" startAt="3"/>
              <a:tabLst>
                <a:tab pos="1270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​Backup</a:t>
            </a:r>
            <a:r>
              <a:rPr sz="1200" b="1" u="sng" spc="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b="1" u="sng" spc="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Compared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9292" y="5033898"/>
          <a:ext cx="6267450" cy="2625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1845"/>
                <a:gridCol w="2061845"/>
                <a:gridCol w="2062480"/>
              </a:tblGrid>
              <a:tr h="35877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Aspect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Backup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b="1" spc="-10" dirty="0">
                          <a:latin typeface="Times New Roman" panose="02020503050405090304"/>
                          <a:cs typeface="Times New Roman" panose="02020503050405090304"/>
                        </a:rPr>
                        <a:t>Replication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Purpose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39725">
                        <a:lnSpc>
                          <a:spcPct val="104000"/>
                        </a:lnSpc>
                        <a:spcBef>
                          <a:spcPts val="61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Recovery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from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data loss</a:t>
                      </a:r>
                      <a:r>
                        <a:rPr sz="12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or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corruption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07975">
                        <a:lnSpc>
                          <a:spcPct val="104000"/>
                        </a:lnSpc>
                        <a:spcBef>
                          <a:spcPts val="61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Continuous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availability 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and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fast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failover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Frequency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Periodic</a:t>
                      </a:r>
                      <a:r>
                        <a:rPr sz="1200" spc="-7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(scheduled)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Continuous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near</a:t>
                      </a:r>
                      <a:r>
                        <a:rPr sz="1200" spc="-2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real-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time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Protects</a:t>
                      </a:r>
                      <a:r>
                        <a:rPr sz="1200" spc="-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against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20090">
                        <a:lnSpc>
                          <a:spcPct val="104000"/>
                        </a:lnSpc>
                        <a:spcBef>
                          <a:spcPts val="61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Deletion,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corruption, ransomware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04825">
                        <a:lnSpc>
                          <a:spcPct val="104000"/>
                        </a:lnSpc>
                        <a:spcBef>
                          <a:spcPts val="61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Hardware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or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site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failure, outages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81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Recovery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speed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Slower</a:t>
                      </a:r>
                      <a:r>
                        <a:rPr sz="1200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(restore</a:t>
                      </a:r>
                      <a:r>
                        <a:rPr sz="12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process)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Fast</a:t>
                      </a:r>
                      <a:r>
                        <a:rPr sz="12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(near-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instant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 failover)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Storage</a:t>
                      </a:r>
                      <a:r>
                        <a:rPr sz="1200" spc="-6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state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Historical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point-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in-time</a:t>
                      </a:r>
                      <a:r>
                        <a:rPr sz="1200" spc="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10" dirty="0">
                          <a:latin typeface="Times New Roman" panose="02020503050405090304"/>
                          <a:cs typeface="Times New Roman" panose="02020503050405090304"/>
                        </a:rPr>
                        <a:t>copies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Live,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current</a:t>
                      </a:r>
                      <a:r>
                        <a:rPr sz="12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mirror</a:t>
                      </a:r>
                      <a:r>
                        <a:rPr sz="12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dirty="0">
                          <a:latin typeface="Times New Roman" panose="02020503050405090304"/>
                          <a:cs typeface="Times New Roman" panose="02020503050405090304"/>
                        </a:rPr>
                        <a:t>of</a:t>
                      </a:r>
                      <a:r>
                        <a:rPr sz="1200" spc="-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200" spc="-20" dirty="0">
                          <a:latin typeface="Times New Roman" panose="02020503050405090304"/>
                          <a:cs typeface="Times New Roman" panose="02020503050405090304"/>
                        </a:rPr>
                        <a:t>data</a:t>
                      </a:r>
                      <a:endParaRPr sz="12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57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3892" y="7874507"/>
            <a:ext cx="6228080" cy="17602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0" indent="-127000">
              <a:lnSpc>
                <a:spcPct val="100000"/>
              </a:lnSpc>
              <a:spcBef>
                <a:spcPts val="660"/>
              </a:spcBef>
              <a:buFont typeface="Times New Roman" panose="02020503050405090304"/>
              <a:buAutoNum type="arabicPeriod" startAt="4"/>
              <a:tabLst>
                <a:tab pos="1270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​Combined Impact on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u="sng" spc="-75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Availability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5080" lvl="1" indent="-180975">
              <a:lnSpc>
                <a:spcPct val="118000"/>
              </a:lnSpc>
              <a:spcBef>
                <a:spcPts val="30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keeps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responsive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failures</a:t>
            </a:r>
            <a:r>
              <a:rPr sz="1200" spc="1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providing</a:t>
            </a:r>
            <a:r>
              <a:rPr sz="1200" spc="1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standby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copy.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8890" lvl="1" indent="-180975">
              <a:lnSpc>
                <a:spcPct val="118000"/>
              </a:lnSpc>
              <a:spcBef>
                <a:spcPts val="57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restored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correct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state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problem</a:t>
            </a:r>
            <a:r>
              <a:rPr sz="1200" spc="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logical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data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something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alone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cannot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undo.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377825" marR="5715" lvl="1" indent="-180975">
              <a:lnSpc>
                <a:spcPct val="118000"/>
              </a:lnSpc>
              <a:spcBef>
                <a:spcPts val="575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Together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help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spc="18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(through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driven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failover)</a:t>
            </a:r>
            <a:r>
              <a:rPr sz="1200" spc="1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RPO</a:t>
            </a:r>
            <a:r>
              <a:rPr sz="1200" spc="1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(through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frequent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near-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synchronous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replication).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892" y="669036"/>
            <a:ext cx="6226810" cy="192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6985" indent="-180975">
              <a:lnSpc>
                <a:spcPct val="118000"/>
              </a:lnSpc>
              <a:spcBef>
                <a:spcPts val="100"/>
              </a:spcBef>
              <a:buChar char="•"/>
              <a:tabLst>
                <a:tab pos="377825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combination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available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while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also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silent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corruption,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insider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ransomware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attacks.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 panose="02020503050405090304"/>
                <a:cs typeface="Times New Roman" panose="02020503050405090304"/>
              </a:rPr>
              <a:t>Conclusion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22225" marR="5080" algn="just">
              <a:lnSpc>
                <a:spcPct val="119000"/>
              </a:lnSpc>
              <a:spcBef>
                <a:spcPts val="295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2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2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together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form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backbone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2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2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spc="2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2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delivers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speed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continuity,</a:t>
            </a:r>
            <a:r>
              <a:rPr sz="1200" spc="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minimal</a:t>
            </a:r>
            <a:r>
              <a:rPr sz="1200" spc="114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interruption,</a:t>
            </a:r>
            <a:r>
              <a:rPr sz="1200" spc="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while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delivers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resilience 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recoverability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corruption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human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error.</a:t>
            </a:r>
            <a:r>
              <a:rPr sz="1200" spc="-8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9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robust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availability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online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banking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layered,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complementary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manner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relying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on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either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alone.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9158</Words>
  <Application>WPS Presentation</Application>
  <PresentationFormat>On-screen Show (4:3)</PresentationFormat>
  <Paragraphs>212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Trebuchet MS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Un-named</dc:creator>
  <cp:lastModifiedBy>divya.k</cp:lastModifiedBy>
  <cp:revision>2</cp:revision>
  <dcterms:created xsi:type="dcterms:W3CDTF">2026-08-10T04:39:15Z</dcterms:created>
  <dcterms:modified xsi:type="dcterms:W3CDTF">2026-08-10T04:39:15Z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2026-07-31T11:00:00Z</vt:filetime>
  </property>
  <property fmtid="{D5CDD505-2E9C-101B-9397-08002B2CF9AE}" pid="4" name="Creator">
    <vt:lpwstr>Microsoft Word</vt:lpwstr>
  </property>
  <property fmtid="{D5CDD505-2E9C-101B-9397-08002B2CF9AE}" pid="5" name="LastSaved">
    <vt:filetime>2026-08-10T11:00:00Z</vt:filetime>
  </property>
  <property fmtid="{D5CDD505-2E9C-101B-9397-08002B2CF9AE}" pid="6" name="ICV">
    <vt:lpwstr>5FCC47AE699D639A1255796A0A716436_43</vt:lpwstr>
  </property>
  <property fmtid="{D5CDD505-2E9C-101B-9397-08002B2CF9AE}" pid="7" name="KSOProductBuildVer">
    <vt:lpwstr>1033-12.1.26015.26015</vt:lpwstr>
  </property>
</Properties>
</file>